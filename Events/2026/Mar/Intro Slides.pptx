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10287000" cx="18288000"/>
  <p:notesSz cx="6858000" cy="9144000"/>
  <p:embeddedFontLst>
    <p:embeddedFont>
      <p:font typeface="Prompt Medium"/>
      <p:regular r:id="rId14"/>
      <p:bold r:id="rId15"/>
      <p:italic r:id="rId16"/>
      <p:boldItalic r:id="rId17"/>
    </p:embeddedFont>
    <p:embeddedFont>
      <p:font typeface="Cairo"/>
      <p:bold r:id="rId18"/>
    </p:embeddedFont>
    <p:embeddedFont>
      <p:font typeface="Quicksand Medium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1" roundtripDataSignature="AMtx7miOuOQN5loqX5SNXEduNccg5y3lj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QuicksandMedium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romptMedium-bold.fntdata"/><Relationship Id="rId14" Type="http://schemas.openxmlformats.org/officeDocument/2006/relationships/font" Target="fonts/PromptMedium-regular.fntdata"/><Relationship Id="rId17" Type="http://schemas.openxmlformats.org/officeDocument/2006/relationships/font" Target="fonts/PromptMedium-boldItalic.fntdata"/><Relationship Id="rId16" Type="http://schemas.openxmlformats.org/officeDocument/2006/relationships/font" Target="fonts/PromptMedium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QuicksandMedium-regular.fntdata"/><Relationship Id="rId6" Type="http://schemas.openxmlformats.org/officeDocument/2006/relationships/slide" Target="slides/slide1.xml"/><Relationship Id="rId18" Type="http://schemas.openxmlformats.org/officeDocument/2006/relationships/font" Target="fonts/Cair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1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7.png"/><Relationship Id="rId6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hyperlink" Target="http://aisafety.ae" TargetMode="External"/><Relationship Id="rId6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hyperlink" Target="http://drive.google.com/file/d/1zQlse0bGJHACoUpU4rc4BS3vHyunpeWz/view" TargetMode="External"/><Relationship Id="rId5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16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17.png"/><Relationship Id="rId6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1028700" y="1403259"/>
            <a:ext cx="16230190" cy="6612570"/>
            <a:chOff x="0" y="0"/>
            <a:chExt cx="17448065" cy="7108762"/>
          </a:xfrm>
        </p:grpSpPr>
        <p:sp>
          <p:nvSpPr>
            <p:cNvPr id="85" name="Google Shape;85;p1"/>
            <p:cNvSpPr/>
            <p:nvPr/>
          </p:nvSpPr>
          <p:spPr>
            <a:xfrm>
              <a:off x="31750" y="31750"/>
              <a:ext cx="17383324" cy="7045261"/>
            </a:xfrm>
            <a:custGeom>
              <a:rect b="b" l="l" r="r" t="t"/>
              <a:pathLst>
                <a:path extrusionOk="0" h="7045261" w="17383324">
                  <a:moveTo>
                    <a:pt x="17291855" y="7045261"/>
                  </a:moveTo>
                  <a:lnTo>
                    <a:pt x="92710" y="7045261"/>
                  </a:lnTo>
                  <a:cubicBezTo>
                    <a:pt x="41910" y="7045261"/>
                    <a:pt x="0" y="7003352"/>
                    <a:pt x="0" y="6952552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290585" y="0"/>
                  </a:lnTo>
                  <a:cubicBezTo>
                    <a:pt x="17341385" y="0"/>
                    <a:pt x="17383296" y="41910"/>
                    <a:pt x="17383296" y="92710"/>
                  </a:cubicBezTo>
                  <a:lnTo>
                    <a:pt x="17383296" y="6951282"/>
                  </a:lnTo>
                  <a:cubicBezTo>
                    <a:pt x="17384565" y="7003352"/>
                    <a:pt x="17342655" y="7045261"/>
                    <a:pt x="17291855" y="7045261"/>
                  </a:cubicBezTo>
                  <a:close/>
                </a:path>
              </a:pathLst>
            </a:custGeom>
            <a:solidFill>
              <a:srgbClr val="FFFFF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"/>
            <p:cNvSpPr/>
            <p:nvPr/>
          </p:nvSpPr>
          <p:spPr>
            <a:xfrm>
              <a:off x="0" y="0"/>
              <a:ext cx="17448065" cy="7108762"/>
            </a:xfrm>
            <a:custGeom>
              <a:rect b="b" l="l" r="r" t="t"/>
              <a:pathLst>
                <a:path extrusionOk="0" h="7108762" w="17448065">
                  <a:moveTo>
                    <a:pt x="17323605" y="59690"/>
                  </a:moveTo>
                  <a:cubicBezTo>
                    <a:pt x="17359165" y="59690"/>
                    <a:pt x="17388374" y="88900"/>
                    <a:pt x="17388374" y="124460"/>
                  </a:cubicBezTo>
                  <a:lnTo>
                    <a:pt x="17388374" y="6984302"/>
                  </a:lnTo>
                  <a:cubicBezTo>
                    <a:pt x="17388374" y="7019862"/>
                    <a:pt x="17359165" y="7049072"/>
                    <a:pt x="17323605" y="7049072"/>
                  </a:cubicBezTo>
                  <a:lnTo>
                    <a:pt x="124460" y="7049072"/>
                  </a:lnTo>
                  <a:cubicBezTo>
                    <a:pt x="88900" y="7049072"/>
                    <a:pt x="59690" y="7019862"/>
                    <a:pt x="59690" y="698430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323605" y="59690"/>
                  </a:lnTo>
                  <a:moveTo>
                    <a:pt x="17323605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6984302"/>
                  </a:lnTo>
                  <a:cubicBezTo>
                    <a:pt x="0" y="7052882"/>
                    <a:pt x="55880" y="7108762"/>
                    <a:pt x="124460" y="7108762"/>
                  </a:cubicBezTo>
                  <a:lnTo>
                    <a:pt x="17323605" y="7108762"/>
                  </a:lnTo>
                  <a:cubicBezTo>
                    <a:pt x="17392185" y="7108762"/>
                    <a:pt x="17448065" y="7052882"/>
                    <a:pt x="17448065" y="6984302"/>
                  </a:cubicBezTo>
                  <a:lnTo>
                    <a:pt x="17448065" y="124460"/>
                  </a:lnTo>
                  <a:cubicBezTo>
                    <a:pt x="17448065" y="55880"/>
                    <a:pt x="17392185" y="0"/>
                    <a:pt x="17323605" y="0"/>
                  </a:cubicBezTo>
                  <a:close/>
                </a:path>
              </a:pathLst>
            </a:custGeom>
            <a:solidFill>
              <a:srgbClr val="0E17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7" name="Google Shape;87;p1"/>
          <p:cNvGrpSpPr/>
          <p:nvPr/>
        </p:nvGrpSpPr>
        <p:grpSpPr>
          <a:xfrm>
            <a:off x="16444837" y="1656129"/>
            <a:ext cx="496402" cy="485134"/>
            <a:chOff x="0" y="0"/>
            <a:chExt cx="675739" cy="660400"/>
          </a:xfrm>
        </p:grpSpPr>
        <p:sp>
          <p:nvSpPr>
            <p:cNvPr id="88" name="Google Shape;88;p1"/>
            <p:cNvSpPr/>
            <p:nvPr/>
          </p:nvSpPr>
          <p:spPr>
            <a:xfrm>
              <a:off x="31750" y="31750"/>
              <a:ext cx="610997" cy="596900"/>
            </a:xfrm>
            <a:custGeom>
              <a:rect b="b" l="l" r="r" t="t"/>
              <a:pathLst>
                <a:path extrusionOk="0" h="596900" w="610997">
                  <a:moveTo>
                    <a:pt x="519529" y="596900"/>
                  </a:moveTo>
                  <a:lnTo>
                    <a:pt x="92710" y="596900"/>
                  </a:lnTo>
                  <a:cubicBezTo>
                    <a:pt x="41910" y="596900"/>
                    <a:pt x="0" y="554990"/>
                    <a:pt x="0" y="504190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518259" y="0"/>
                  </a:lnTo>
                  <a:cubicBezTo>
                    <a:pt x="569059" y="0"/>
                    <a:pt x="610969" y="41910"/>
                    <a:pt x="610969" y="92710"/>
                  </a:cubicBezTo>
                  <a:lnTo>
                    <a:pt x="610969" y="502920"/>
                  </a:lnTo>
                  <a:cubicBezTo>
                    <a:pt x="612239" y="554990"/>
                    <a:pt x="570329" y="596900"/>
                    <a:pt x="519529" y="596900"/>
                  </a:cubicBezTo>
                  <a:close/>
                </a:path>
              </a:pathLst>
            </a:custGeom>
            <a:solidFill>
              <a:srgbClr val="F6CE1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"/>
            <p:cNvSpPr/>
            <p:nvPr/>
          </p:nvSpPr>
          <p:spPr>
            <a:xfrm>
              <a:off x="0" y="0"/>
              <a:ext cx="675739" cy="660400"/>
            </a:xfrm>
            <a:custGeom>
              <a:rect b="b" l="l" r="r" t="t"/>
              <a:pathLst>
                <a:path extrusionOk="0" h="660400" w="675739">
                  <a:moveTo>
                    <a:pt x="551279" y="59690"/>
                  </a:moveTo>
                  <a:cubicBezTo>
                    <a:pt x="586839" y="59690"/>
                    <a:pt x="616049" y="88900"/>
                    <a:pt x="616049" y="124460"/>
                  </a:cubicBezTo>
                  <a:lnTo>
                    <a:pt x="616049" y="535940"/>
                  </a:lnTo>
                  <a:cubicBezTo>
                    <a:pt x="616049" y="571500"/>
                    <a:pt x="586839" y="600710"/>
                    <a:pt x="551279" y="600710"/>
                  </a:cubicBezTo>
                  <a:lnTo>
                    <a:pt x="124460" y="600710"/>
                  </a:lnTo>
                  <a:cubicBezTo>
                    <a:pt x="88900" y="600710"/>
                    <a:pt x="59690" y="571500"/>
                    <a:pt x="59690" y="535940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551279" y="59690"/>
                  </a:lnTo>
                  <a:moveTo>
                    <a:pt x="55127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535940"/>
                  </a:lnTo>
                  <a:cubicBezTo>
                    <a:pt x="0" y="604520"/>
                    <a:pt x="55880" y="660400"/>
                    <a:pt x="124460" y="660400"/>
                  </a:cubicBezTo>
                  <a:lnTo>
                    <a:pt x="551279" y="660400"/>
                  </a:lnTo>
                  <a:cubicBezTo>
                    <a:pt x="619859" y="660400"/>
                    <a:pt x="675739" y="604520"/>
                    <a:pt x="675739" y="535940"/>
                  </a:cubicBezTo>
                  <a:lnTo>
                    <a:pt x="675739" y="124460"/>
                  </a:lnTo>
                  <a:cubicBezTo>
                    <a:pt x="675739" y="55880"/>
                    <a:pt x="619859" y="0"/>
                    <a:pt x="551279" y="0"/>
                  </a:cubicBezTo>
                  <a:close/>
                </a:path>
              </a:pathLst>
            </a:custGeom>
            <a:solidFill>
              <a:srgbClr val="0E17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0" name="Google Shape;90;p1"/>
          <p:cNvSpPr/>
          <p:nvPr/>
        </p:nvSpPr>
        <p:spPr>
          <a:xfrm>
            <a:off x="16571761" y="1778025"/>
            <a:ext cx="242555" cy="241342"/>
          </a:xfrm>
          <a:custGeom>
            <a:rect b="b" l="l" r="r" t="t"/>
            <a:pathLst>
              <a:path extrusionOk="0" h="241342" w="242555">
                <a:moveTo>
                  <a:pt x="0" y="0"/>
                </a:moveTo>
                <a:lnTo>
                  <a:pt x="242555" y="0"/>
                </a:lnTo>
                <a:lnTo>
                  <a:pt x="242555" y="241343"/>
                </a:lnTo>
                <a:lnTo>
                  <a:pt x="0" y="2413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91" name="Google Shape;91;p1"/>
          <p:cNvGrpSpPr/>
          <p:nvPr/>
        </p:nvGrpSpPr>
        <p:grpSpPr>
          <a:xfrm>
            <a:off x="15847049" y="1656129"/>
            <a:ext cx="496402" cy="485134"/>
            <a:chOff x="0" y="0"/>
            <a:chExt cx="675739" cy="660400"/>
          </a:xfrm>
        </p:grpSpPr>
        <p:sp>
          <p:nvSpPr>
            <p:cNvPr id="92" name="Google Shape;92;p1"/>
            <p:cNvSpPr/>
            <p:nvPr/>
          </p:nvSpPr>
          <p:spPr>
            <a:xfrm>
              <a:off x="31750" y="31750"/>
              <a:ext cx="610997" cy="596900"/>
            </a:xfrm>
            <a:custGeom>
              <a:rect b="b" l="l" r="r" t="t"/>
              <a:pathLst>
                <a:path extrusionOk="0" h="596900" w="610997">
                  <a:moveTo>
                    <a:pt x="519529" y="596900"/>
                  </a:moveTo>
                  <a:lnTo>
                    <a:pt x="92710" y="596900"/>
                  </a:lnTo>
                  <a:cubicBezTo>
                    <a:pt x="41910" y="596900"/>
                    <a:pt x="0" y="554990"/>
                    <a:pt x="0" y="504190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518259" y="0"/>
                  </a:lnTo>
                  <a:cubicBezTo>
                    <a:pt x="569059" y="0"/>
                    <a:pt x="610969" y="41910"/>
                    <a:pt x="610969" y="92710"/>
                  </a:cubicBezTo>
                  <a:lnTo>
                    <a:pt x="610969" y="502920"/>
                  </a:lnTo>
                  <a:cubicBezTo>
                    <a:pt x="612239" y="554990"/>
                    <a:pt x="570329" y="596900"/>
                    <a:pt x="519529" y="596900"/>
                  </a:cubicBezTo>
                  <a:close/>
                </a:path>
              </a:pathLst>
            </a:custGeom>
            <a:solidFill>
              <a:srgbClr val="68A97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"/>
            <p:cNvSpPr/>
            <p:nvPr/>
          </p:nvSpPr>
          <p:spPr>
            <a:xfrm>
              <a:off x="0" y="0"/>
              <a:ext cx="675739" cy="660400"/>
            </a:xfrm>
            <a:custGeom>
              <a:rect b="b" l="l" r="r" t="t"/>
              <a:pathLst>
                <a:path extrusionOk="0" h="660400" w="675739">
                  <a:moveTo>
                    <a:pt x="551279" y="59690"/>
                  </a:moveTo>
                  <a:cubicBezTo>
                    <a:pt x="586839" y="59690"/>
                    <a:pt x="616049" y="88900"/>
                    <a:pt x="616049" y="124460"/>
                  </a:cubicBezTo>
                  <a:lnTo>
                    <a:pt x="616049" y="535940"/>
                  </a:lnTo>
                  <a:cubicBezTo>
                    <a:pt x="616049" y="571500"/>
                    <a:pt x="586839" y="600710"/>
                    <a:pt x="551279" y="600710"/>
                  </a:cubicBezTo>
                  <a:lnTo>
                    <a:pt x="124460" y="600710"/>
                  </a:lnTo>
                  <a:cubicBezTo>
                    <a:pt x="88900" y="600710"/>
                    <a:pt x="59690" y="571500"/>
                    <a:pt x="59690" y="535940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551279" y="59690"/>
                  </a:lnTo>
                  <a:moveTo>
                    <a:pt x="55127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535940"/>
                  </a:lnTo>
                  <a:cubicBezTo>
                    <a:pt x="0" y="604520"/>
                    <a:pt x="55880" y="660400"/>
                    <a:pt x="124460" y="660400"/>
                  </a:cubicBezTo>
                  <a:lnTo>
                    <a:pt x="551279" y="660400"/>
                  </a:lnTo>
                  <a:cubicBezTo>
                    <a:pt x="619859" y="660400"/>
                    <a:pt x="675739" y="604520"/>
                    <a:pt x="675739" y="535940"/>
                  </a:cubicBezTo>
                  <a:lnTo>
                    <a:pt x="675739" y="124460"/>
                  </a:lnTo>
                  <a:cubicBezTo>
                    <a:pt x="675739" y="55880"/>
                    <a:pt x="619859" y="0"/>
                    <a:pt x="551279" y="0"/>
                  </a:cubicBezTo>
                  <a:close/>
                </a:path>
              </a:pathLst>
            </a:custGeom>
            <a:solidFill>
              <a:srgbClr val="0E17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94" name="Google Shape;94;p1"/>
          <p:cNvCxnSpPr/>
          <p:nvPr/>
        </p:nvCxnSpPr>
        <p:spPr>
          <a:xfrm>
            <a:off x="15979823" y="1910517"/>
            <a:ext cx="246614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95" name="Google Shape;95;p1"/>
          <p:cNvGrpSpPr/>
          <p:nvPr/>
        </p:nvGrpSpPr>
        <p:grpSpPr>
          <a:xfrm>
            <a:off x="14897861" y="8714344"/>
            <a:ext cx="1722347" cy="543956"/>
            <a:chOff x="0" y="0"/>
            <a:chExt cx="2662585" cy="840904"/>
          </a:xfrm>
        </p:grpSpPr>
        <p:sp>
          <p:nvSpPr>
            <p:cNvPr id="96" name="Google Shape;96;p1"/>
            <p:cNvSpPr/>
            <p:nvPr/>
          </p:nvSpPr>
          <p:spPr>
            <a:xfrm>
              <a:off x="31750" y="31750"/>
              <a:ext cx="2597843" cy="777404"/>
            </a:xfrm>
            <a:custGeom>
              <a:rect b="b" l="l" r="r" t="t"/>
              <a:pathLst>
                <a:path extrusionOk="0" h="777404" w="2597843">
                  <a:moveTo>
                    <a:pt x="2506375" y="777404"/>
                  </a:moveTo>
                  <a:lnTo>
                    <a:pt x="92710" y="777404"/>
                  </a:lnTo>
                  <a:cubicBezTo>
                    <a:pt x="41910" y="777404"/>
                    <a:pt x="0" y="735494"/>
                    <a:pt x="0" y="684694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2505105" y="0"/>
                  </a:lnTo>
                  <a:cubicBezTo>
                    <a:pt x="2555905" y="0"/>
                    <a:pt x="2597815" y="41910"/>
                    <a:pt x="2597815" y="92710"/>
                  </a:cubicBezTo>
                  <a:lnTo>
                    <a:pt x="2597815" y="683424"/>
                  </a:lnTo>
                  <a:cubicBezTo>
                    <a:pt x="2599085" y="735494"/>
                    <a:pt x="2557175" y="777404"/>
                    <a:pt x="2506375" y="777404"/>
                  </a:cubicBezTo>
                  <a:close/>
                </a:path>
              </a:pathLst>
            </a:custGeom>
            <a:solidFill>
              <a:srgbClr val="F0B7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"/>
            <p:cNvSpPr/>
            <p:nvPr/>
          </p:nvSpPr>
          <p:spPr>
            <a:xfrm>
              <a:off x="0" y="0"/>
              <a:ext cx="2662585" cy="840904"/>
            </a:xfrm>
            <a:custGeom>
              <a:rect b="b" l="l" r="r" t="t"/>
              <a:pathLst>
                <a:path extrusionOk="0" h="840904" w="2662585">
                  <a:moveTo>
                    <a:pt x="2538125" y="59690"/>
                  </a:moveTo>
                  <a:cubicBezTo>
                    <a:pt x="2573685" y="59690"/>
                    <a:pt x="2602895" y="88900"/>
                    <a:pt x="2602895" y="124460"/>
                  </a:cubicBezTo>
                  <a:lnTo>
                    <a:pt x="2602895" y="716444"/>
                  </a:lnTo>
                  <a:cubicBezTo>
                    <a:pt x="2602895" y="752004"/>
                    <a:pt x="2573685" y="781214"/>
                    <a:pt x="2538125" y="781214"/>
                  </a:cubicBezTo>
                  <a:lnTo>
                    <a:pt x="124460" y="781214"/>
                  </a:lnTo>
                  <a:cubicBezTo>
                    <a:pt x="88900" y="781214"/>
                    <a:pt x="59690" y="752004"/>
                    <a:pt x="59690" y="716444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2538125" y="59690"/>
                  </a:lnTo>
                  <a:moveTo>
                    <a:pt x="2538125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716444"/>
                  </a:lnTo>
                  <a:cubicBezTo>
                    <a:pt x="0" y="785024"/>
                    <a:pt x="55880" y="840904"/>
                    <a:pt x="124460" y="840904"/>
                  </a:cubicBezTo>
                  <a:lnTo>
                    <a:pt x="2538125" y="840904"/>
                  </a:lnTo>
                  <a:cubicBezTo>
                    <a:pt x="2606705" y="840904"/>
                    <a:pt x="2662585" y="785024"/>
                    <a:pt x="2662585" y="716444"/>
                  </a:cubicBezTo>
                  <a:lnTo>
                    <a:pt x="2662585" y="124460"/>
                  </a:lnTo>
                  <a:cubicBezTo>
                    <a:pt x="2662585" y="55880"/>
                    <a:pt x="2606705" y="0"/>
                    <a:pt x="2538125" y="0"/>
                  </a:cubicBezTo>
                  <a:close/>
                </a:path>
              </a:pathLst>
            </a:custGeom>
            <a:solidFill>
              <a:srgbClr val="0E17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8" name="Google Shape;98;p1"/>
          <p:cNvGrpSpPr/>
          <p:nvPr/>
        </p:nvGrpSpPr>
        <p:grpSpPr>
          <a:xfrm>
            <a:off x="16702531" y="8714344"/>
            <a:ext cx="556769" cy="543956"/>
            <a:chOff x="0" y="0"/>
            <a:chExt cx="860712" cy="840904"/>
          </a:xfrm>
        </p:grpSpPr>
        <p:sp>
          <p:nvSpPr>
            <p:cNvPr id="99" name="Google Shape;99;p1"/>
            <p:cNvSpPr/>
            <p:nvPr/>
          </p:nvSpPr>
          <p:spPr>
            <a:xfrm>
              <a:off x="31750" y="31750"/>
              <a:ext cx="795970" cy="777404"/>
            </a:xfrm>
            <a:custGeom>
              <a:rect b="b" l="l" r="r" t="t"/>
              <a:pathLst>
                <a:path extrusionOk="0" h="777404" w="795970">
                  <a:moveTo>
                    <a:pt x="704502" y="777404"/>
                  </a:moveTo>
                  <a:lnTo>
                    <a:pt x="92710" y="777404"/>
                  </a:lnTo>
                  <a:cubicBezTo>
                    <a:pt x="41910" y="777404"/>
                    <a:pt x="0" y="735494"/>
                    <a:pt x="0" y="684694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703232" y="0"/>
                  </a:lnTo>
                  <a:cubicBezTo>
                    <a:pt x="754032" y="0"/>
                    <a:pt x="795942" y="41910"/>
                    <a:pt x="795942" y="92710"/>
                  </a:cubicBezTo>
                  <a:lnTo>
                    <a:pt x="795942" y="683424"/>
                  </a:lnTo>
                  <a:cubicBezTo>
                    <a:pt x="797212" y="735494"/>
                    <a:pt x="755302" y="777404"/>
                    <a:pt x="704502" y="777404"/>
                  </a:cubicBezTo>
                  <a:close/>
                </a:path>
              </a:pathLst>
            </a:custGeom>
            <a:solidFill>
              <a:srgbClr val="68A97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"/>
            <p:cNvSpPr/>
            <p:nvPr/>
          </p:nvSpPr>
          <p:spPr>
            <a:xfrm>
              <a:off x="0" y="0"/>
              <a:ext cx="860712" cy="840904"/>
            </a:xfrm>
            <a:custGeom>
              <a:rect b="b" l="l" r="r" t="t"/>
              <a:pathLst>
                <a:path extrusionOk="0" h="840904" w="860712">
                  <a:moveTo>
                    <a:pt x="736252" y="59690"/>
                  </a:moveTo>
                  <a:cubicBezTo>
                    <a:pt x="771812" y="59690"/>
                    <a:pt x="801022" y="88900"/>
                    <a:pt x="801022" y="124460"/>
                  </a:cubicBezTo>
                  <a:lnTo>
                    <a:pt x="801022" y="716444"/>
                  </a:lnTo>
                  <a:cubicBezTo>
                    <a:pt x="801022" y="752004"/>
                    <a:pt x="771812" y="781214"/>
                    <a:pt x="736252" y="781214"/>
                  </a:cubicBezTo>
                  <a:lnTo>
                    <a:pt x="124460" y="781214"/>
                  </a:lnTo>
                  <a:cubicBezTo>
                    <a:pt x="88900" y="781214"/>
                    <a:pt x="59690" y="752004"/>
                    <a:pt x="59690" y="716444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736252" y="59690"/>
                  </a:lnTo>
                  <a:moveTo>
                    <a:pt x="736252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716444"/>
                  </a:lnTo>
                  <a:cubicBezTo>
                    <a:pt x="0" y="785024"/>
                    <a:pt x="55880" y="840904"/>
                    <a:pt x="124460" y="840904"/>
                  </a:cubicBezTo>
                  <a:lnTo>
                    <a:pt x="736252" y="840904"/>
                  </a:lnTo>
                  <a:cubicBezTo>
                    <a:pt x="804832" y="840904"/>
                    <a:pt x="860712" y="785024"/>
                    <a:pt x="860712" y="716444"/>
                  </a:cubicBezTo>
                  <a:lnTo>
                    <a:pt x="860712" y="124460"/>
                  </a:lnTo>
                  <a:cubicBezTo>
                    <a:pt x="860712" y="55880"/>
                    <a:pt x="804832" y="0"/>
                    <a:pt x="736252" y="0"/>
                  </a:cubicBezTo>
                  <a:close/>
                </a:path>
              </a:pathLst>
            </a:custGeom>
            <a:solidFill>
              <a:srgbClr val="0E17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1" name="Google Shape;101;p1"/>
          <p:cNvSpPr/>
          <p:nvPr/>
        </p:nvSpPr>
        <p:spPr>
          <a:xfrm rot="10800000">
            <a:off x="16912480" y="8857973"/>
            <a:ext cx="154661" cy="256699"/>
          </a:xfrm>
          <a:custGeom>
            <a:rect b="b" l="l" r="r" t="t"/>
            <a:pathLst>
              <a:path extrusionOk="0" h="256699" w="154661">
                <a:moveTo>
                  <a:pt x="0" y="0"/>
                </a:moveTo>
                <a:lnTo>
                  <a:pt x="154661" y="0"/>
                </a:lnTo>
                <a:lnTo>
                  <a:pt x="154661" y="256698"/>
                </a:lnTo>
                <a:lnTo>
                  <a:pt x="0" y="2566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2" name="Google Shape;102;p1"/>
          <p:cNvSpPr/>
          <p:nvPr/>
        </p:nvSpPr>
        <p:spPr>
          <a:xfrm>
            <a:off x="1896508" y="2844053"/>
            <a:ext cx="4610420" cy="4114800"/>
          </a:xfrm>
          <a:custGeom>
            <a:rect b="b" l="l" r="r" t="t"/>
            <a:pathLst>
              <a:path extrusionOk="0" h="4114800" w="4610420">
                <a:moveTo>
                  <a:pt x="0" y="0"/>
                </a:moveTo>
                <a:lnTo>
                  <a:pt x="4610421" y="0"/>
                </a:lnTo>
                <a:lnTo>
                  <a:pt x="461042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3" name="Google Shape;103;p1"/>
          <p:cNvSpPr txBox="1"/>
          <p:nvPr/>
        </p:nvSpPr>
        <p:spPr>
          <a:xfrm>
            <a:off x="7516775" y="2583610"/>
            <a:ext cx="8578500" cy="3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37" u="none" cap="none" strike="noStrike">
                <a:solidFill>
                  <a:srgbClr val="0E172C"/>
                </a:solidFill>
                <a:latin typeface="Cairo"/>
                <a:ea typeface="Cairo"/>
                <a:cs typeface="Cairo"/>
                <a:sym typeface="Cairo"/>
              </a:rPr>
              <a:t>Lightning Talks: AI Safety &amp; Women's Digital Rights</a:t>
            </a:r>
            <a:endParaRPr/>
          </a:p>
        </p:txBody>
      </p:sp>
      <p:sp>
        <p:nvSpPr>
          <p:cNvPr id="104" name="Google Shape;104;p1"/>
          <p:cNvSpPr txBox="1"/>
          <p:nvPr/>
        </p:nvSpPr>
        <p:spPr>
          <a:xfrm>
            <a:off x="15271916" y="8839637"/>
            <a:ext cx="974236" cy="3028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E172C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NEXT</a:t>
            </a:r>
            <a:endParaRPr/>
          </a:p>
        </p:txBody>
      </p:sp>
      <p:sp>
        <p:nvSpPr>
          <p:cNvPr id="105" name="Google Shape;105;p1"/>
          <p:cNvSpPr txBox="1"/>
          <p:nvPr/>
        </p:nvSpPr>
        <p:spPr>
          <a:xfrm>
            <a:off x="7516773" y="7105556"/>
            <a:ext cx="5443800" cy="5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23" u="none" cap="none" strike="noStrike">
                <a:solidFill>
                  <a:srgbClr val="0E172C"/>
                </a:solidFill>
                <a:latin typeface="Cairo"/>
                <a:ea typeface="Cairo"/>
                <a:cs typeface="Cairo"/>
                <a:sym typeface="Cairo"/>
              </a:rPr>
              <a:t>WiFi: Coders HQ Guest</a:t>
            </a:r>
            <a:endParaRPr/>
          </a:p>
        </p:txBody>
      </p:sp>
      <p:sp>
        <p:nvSpPr>
          <p:cNvPr id="106" name="Google Shape;106;p1"/>
          <p:cNvSpPr txBox="1"/>
          <p:nvPr/>
        </p:nvSpPr>
        <p:spPr>
          <a:xfrm>
            <a:off x="1506672" y="680846"/>
            <a:ext cx="7177500" cy="4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0E172C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Women In Tech DXB &amp; AI Safety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/>
          <p:cNvSpPr txBox="1"/>
          <p:nvPr/>
        </p:nvSpPr>
        <p:spPr>
          <a:xfrm>
            <a:off x="9050258" y="5044440"/>
            <a:ext cx="187484" cy="188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Prompt Medium"/>
                <a:ea typeface="Prompt Medium"/>
                <a:cs typeface="Prompt Medium"/>
                <a:sym typeface="Prompt Medium"/>
              </a:rPr>
              <a:t>ok</a:t>
            </a:r>
            <a:endParaRPr/>
          </a:p>
        </p:txBody>
      </p:sp>
      <p:grpSp>
        <p:nvGrpSpPr>
          <p:cNvPr id="112" name="Google Shape;112;p2"/>
          <p:cNvGrpSpPr/>
          <p:nvPr/>
        </p:nvGrpSpPr>
        <p:grpSpPr>
          <a:xfrm>
            <a:off x="1028700" y="905676"/>
            <a:ext cx="16230600" cy="8385908"/>
            <a:chOff x="0" y="0"/>
            <a:chExt cx="24197701" cy="12502291"/>
          </a:xfrm>
        </p:grpSpPr>
        <p:sp>
          <p:nvSpPr>
            <p:cNvPr id="113" name="Google Shape;113;p2"/>
            <p:cNvSpPr/>
            <p:nvPr/>
          </p:nvSpPr>
          <p:spPr>
            <a:xfrm>
              <a:off x="31750" y="31750"/>
              <a:ext cx="24132960" cy="12438791"/>
            </a:xfrm>
            <a:custGeom>
              <a:rect b="b" l="l" r="r" t="t"/>
              <a:pathLst>
                <a:path extrusionOk="0" h="12438791" w="24132960">
                  <a:moveTo>
                    <a:pt x="24041491" y="12438791"/>
                  </a:moveTo>
                  <a:lnTo>
                    <a:pt x="92710" y="12438791"/>
                  </a:lnTo>
                  <a:cubicBezTo>
                    <a:pt x="41910" y="12438791"/>
                    <a:pt x="0" y="12396881"/>
                    <a:pt x="0" y="12346081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24040221" y="0"/>
                  </a:lnTo>
                  <a:cubicBezTo>
                    <a:pt x="24091021" y="0"/>
                    <a:pt x="24132932" y="41910"/>
                    <a:pt x="24132932" y="92710"/>
                  </a:cubicBezTo>
                  <a:lnTo>
                    <a:pt x="24132932" y="12344812"/>
                  </a:lnTo>
                  <a:cubicBezTo>
                    <a:pt x="24134201" y="12396881"/>
                    <a:pt x="24092291" y="12438791"/>
                    <a:pt x="24041491" y="12438791"/>
                  </a:cubicBezTo>
                  <a:close/>
                </a:path>
              </a:pathLst>
            </a:custGeom>
            <a:solidFill>
              <a:srgbClr val="FFFFF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0" y="0"/>
              <a:ext cx="24197701" cy="12502291"/>
            </a:xfrm>
            <a:custGeom>
              <a:rect b="b" l="l" r="r" t="t"/>
              <a:pathLst>
                <a:path extrusionOk="0" h="12502291" w="24197701">
                  <a:moveTo>
                    <a:pt x="24073241" y="59690"/>
                  </a:moveTo>
                  <a:cubicBezTo>
                    <a:pt x="24108801" y="59690"/>
                    <a:pt x="24138010" y="88900"/>
                    <a:pt x="24138010" y="124460"/>
                  </a:cubicBezTo>
                  <a:lnTo>
                    <a:pt x="24138010" y="12377831"/>
                  </a:lnTo>
                  <a:cubicBezTo>
                    <a:pt x="24138010" y="12413391"/>
                    <a:pt x="24108801" y="12442601"/>
                    <a:pt x="24073241" y="12442601"/>
                  </a:cubicBezTo>
                  <a:lnTo>
                    <a:pt x="124460" y="12442601"/>
                  </a:lnTo>
                  <a:cubicBezTo>
                    <a:pt x="88900" y="12442601"/>
                    <a:pt x="59690" y="12413391"/>
                    <a:pt x="59690" y="1237783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24073241" y="59690"/>
                  </a:lnTo>
                  <a:moveTo>
                    <a:pt x="2407324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2377831"/>
                  </a:lnTo>
                  <a:cubicBezTo>
                    <a:pt x="0" y="12446412"/>
                    <a:pt x="55880" y="12502291"/>
                    <a:pt x="124460" y="12502291"/>
                  </a:cubicBezTo>
                  <a:lnTo>
                    <a:pt x="24073241" y="12502291"/>
                  </a:lnTo>
                  <a:cubicBezTo>
                    <a:pt x="24141821" y="12502291"/>
                    <a:pt x="24197701" y="12446412"/>
                    <a:pt x="24197701" y="12377831"/>
                  </a:cubicBezTo>
                  <a:lnTo>
                    <a:pt x="24197701" y="124460"/>
                  </a:lnTo>
                  <a:cubicBezTo>
                    <a:pt x="24197701" y="55880"/>
                    <a:pt x="24141821" y="0"/>
                    <a:pt x="24073241" y="0"/>
                  </a:cubicBezTo>
                  <a:close/>
                </a:path>
              </a:pathLst>
            </a:custGeom>
            <a:solidFill>
              <a:srgbClr val="0E17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15" name="Google Shape;115;p2"/>
          <p:cNvCxnSpPr/>
          <p:nvPr/>
        </p:nvCxnSpPr>
        <p:spPr>
          <a:xfrm>
            <a:off x="1639134" y="2879694"/>
            <a:ext cx="15169809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6" name="Google Shape;116;p2"/>
          <p:cNvGrpSpPr/>
          <p:nvPr/>
        </p:nvGrpSpPr>
        <p:grpSpPr>
          <a:xfrm>
            <a:off x="14447504" y="8202221"/>
            <a:ext cx="1722347" cy="543956"/>
            <a:chOff x="0" y="0"/>
            <a:chExt cx="2662585" cy="840904"/>
          </a:xfrm>
        </p:grpSpPr>
        <p:sp>
          <p:nvSpPr>
            <p:cNvPr id="117" name="Google Shape;117;p2"/>
            <p:cNvSpPr/>
            <p:nvPr/>
          </p:nvSpPr>
          <p:spPr>
            <a:xfrm>
              <a:off x="31750" y="31750"/>
              <a:ext cx="2597843" cy="777404"/>
            </a:xfrm>
            <a:custGeom>
              <a:rect b="b" l="l" r="r" t="t"/>
              <a:pathLst>
                <a:path extrusionOk="0" h="777404" w="2597843">
                  <a:moveTo>
                    <a:pt x="2506375" y="777404"/>
                  </a:moveTo>
                  <a:lnTo>
                    <a:pt x="92710" y="777404"/>
                  </a:lnTo>
                  <a:cubicBezTo>
                    <a:pt x="41910" y="777404"/>
                    <a:pt x="0" y="735494"/>
                    <a:pt x="0" y="684694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2505105" y="0"/>
                  </a:lnTo>
                  <a:cubicBezTo>
                    <a:pt x="2555905" y="0"/>
                    <a:pt x="2597815" y="41910"/>
                    <a:pt x="2597815" y="92710"/>
                  </a:cubicBezTo>
                  <a:lnTo>
                    <a:pt x="2597815" y="683424"/>
                  </a:lnTo>
                  <a:cubicBezTo>
                    <a:pt x="2599085" y="735494"/>
                    <a:pt x="2557175" y="777404"/>
                    <a:pt x="2506375" y="777404"/>
                  </a:cubicBezTo>
                  <a:close/>
                </a:path>
              </a:pathLst>
            </a:custGeom>
            <a:solidFill>
              <a:srgbClr val="F0B7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0" y="0"/>
              <a:ext cx="2662585" cy="840904"/>
            </a:xfrm>
            <a:custGeom>
              <a:rect b="b" l="l" r="r" t="t"/>
              <a:pathLst>
                <a:path extrusionOk="0" h="840904" w="2662585">
                  <a:moveTo>
                    <a:pt x="2538125" y="59690"/>
                  </a:moveTo>
                  <a:cubicBezTo>
                    <a:pt x="2573685" y="59690"/>
                    <a:pt x="2602895" y="88900"/>
                    <a:pt x="2602895" y="124460"/>
                  </a:cubicBezTo>
                  <a:lnTo>
                    <a:pt x="2602895" y="716444"/>
                  </a:lnTo>
                  <a:cubicBezTo>
                    <a:pt x="2602895" y="752004"/>
                    <a:pt x="2573685" y="781214"/>
                    <a:pt x="2538125" y="781214"/>
                  </a:cubicBezTo>
                  <a:lnTo>
                    <a:pt x="124460" y="781214"/>
                  </a:lnTo>
                  <a:cubicBezTo>
                    <a:pt x="88900" y="781214"/>
                    <a:pt x="59690" y="752004"/>
                    <a:pt x="59690" y="716444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2538125" y="59690"/>
                  </a:lnTo>
                  <a:moveTo>
                    <a:pt x="2538125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716444"/>
                  </a:lnTo>
                  <a:cubicBezTo>
                    <a:pt x="0" y="785024"/>
                    <a:pt x="55880" y="840904"/>
                    <a:pt x="124460" y="840904"/>
                  </a:cubicBezTo>
                  <a:lnTo>
                    <a:pt x="2538125" y="840904"/>
                  </a:lnTo>
                  <a:cubicBezTo>
                    <a:pt x="2606705" y="840904"/>
                    <a:pt x="2662585" y="785024"/>
                    <a:pt x="2662585" y="716444"/>
                  </a:cubicBezTo>
                  <a:lnTo>
                    <a:pt x="2662585" y="124460"/>
                  </a:lnTo>
                  <a:cubicBezTo>
                    <a:pt x="2662585" y="55880"/>
                    <a:pt x="2606705" y="0"/>
                    <a:pt x="2538125" y="0"/>
                  </a:cubicBezTo>
                  <a:close/>
                </a:path>
              </a:pathLst>
            </a:custGeom>
            <a:solidFill>
              <a:srgbClr val="0E17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9" name="Google Shape;119;p2"/>
          <p:cNvGrpSpPr/>
          <p:nvPr/>
        </p:nvGrpSpPr>
        <p:grpSpPr>
          <a:xfrm>
            <a:off x="16252174" y="8202221"/>
            <a:ext cx="556769" cy="543956"/>
            <a:chOff x="0" y="0"/>
            <a:chExt cx="860712" cy="840904"/>
          </a:xfrm>
        </p:grpSpPr>
        <p:sp>
          <p:nvSpPr>
            <p:cNvPr id="120" name="Google Shape;120;p2"/>
            <p:cNvSpPr/>
            <p:nvPr/>
          </p:nvSpPr>
          <p:spPr>
            <a:xfrm>
              <a:off x="31750" y="31750"/>
              <a:ext cx="795970" cy="777404"/>
            </a:xfrm>
            <a:custGeom>
              <a:rect b="b" l="l" r="r" t="t"/>
              <a:pathLst>
                <a:path extrusionOk="0" h="777404" w="795970">
                  <a:moveTo>
                    <a:pt x="704502" y="777404"/>
                  </a:moveTo>
                  <a:lnTo>
                    <a:pt x="92710" y="777404"/>
                  </a:lnTo>
                  <a:cubicBezTo>
                    <a:pt x="41910" y="777404"/>
                    <a:pt x="0" y="735494"/>
                    <a:pt x="0" y="684694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703232" y="0"/>
                  </a:lnTo>
                  <a:cubicBezTo>
                    <a:pt x="754032" y="0"/>
                    <a:pt x="795942" y="41910"/>
                    <a:pt x="795942" y="92710"/>
                  </a:cubicBezTo>
                  <a:lnTo>
                    <a:pt x="795942" y="683424"/>
                  </a:lnTo>
                  <a:cubicBezTo>
                    <a:pt x="797212" y="735494"/>
                    <a:pt x="755302" y="777404"/>
                    <a:pt x="704502" y="777404"/>
                  </a:cubicBezTo>
                  <a:close/>
                </a:path>
              </a:pathLst>
            </a:custGeom>
            <a:solidFill>
              <a:srgbClr val="68A97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0" y="0"/>
              <a:ext cx="860712" cy="840904"/>
            </a:xfrm>
            <a:custGeom>
              <a:rect b="b" l="l" r="r" t="t"/>
              <a:pathLst>
                <a:path extrusionOk="0" h="840904" w="860712">
                  <a:moveTo>
                    <a:pt x="736252" y="59690"/>
                  </a:moveTo>
                  <a:cubicBezTo>
                    <a:pt x="771812" y="59690"/>
                    <a:pt x="801022" y="88900"/>
                    <a:pt x="801022" y="124460"/>
                  </a:cubicBezTo>
                  <a:lnTo>
                    <a:pt x="801022" y="716444"/>
                  </a:lnTo>
                  <a:cubicBezTo>
                    <a:pt x="801022" y="752004"/>
                    <a:pt x="771812" y="781214"/>
                    <a:pt x="736252" y="781214"/>
                  </a:cubicBezTo>
                  <a:lnTo>
                    <a:pt x="124460" y="781214"/>
                  </a:lnTo>
                  <a:cubicBezTo>
                    <a:pt x="88900" y="781214"/>
                    <a:pt x="59690" y="752004"/>
                    <a:pt x="59690" y="716444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736252" y="59690"/>
                  </a:lnTo>
                  <a:moveTo>
                    <a:pt x="736252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716444"/>
                  </a:lnTo>
                  <a:cubicBezTo>
                    <a:pt x="0" y="785024"/>
                    <a:pt x="55880" y="840904"/>
                    <a:pt x="124460" y="840904"/>
                  </a:cubicBezTo>
                  <a:lnTo>
                    <a:pt x="736252" y="840904"/>
                  </a:lnTo>
                  <a:cubicBezTo>
                    <a:pt x="804832" y="840904"/>
                    <a:pt x="860712" y="785024"/>
                    <a:pt x="860712" y="716444"/>
                  </a:cubicBezTo>
                  <a:lnTo>
                    <a:pt x="860712" y="124460"/>
                  </a:lnTo>
                  <a:cubicBezTo>
                    <a:pt x="860712" y="55880"/>
                    <a:pt x="804832" y="0"/>
                    <a:pt x="736252" y="0"/>
                  </a:cubicBezTo>
                  <a:close/>
                </a:path>
              </a:pathLst>
            </a:custGeom>
            <a:solidFill>
              <a:srgbClr val="0E17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2" name="Google Shape;122;p2"/>
          <p:cNvSpPr/>
          <p:nvPr/>
        </p:nvSpPr>
        <p:spPr>
          <a:xfrm rot="10800000">
            <a:off x="16462124" y="8345850"/>
            <a:ext cx="154661" cy="256699"/>
          </a:xfrm>
          <a:custGeom>
            <a:rect b="b" l="l" r="r" t="t"/>
            <a:pathLst>
              <a:path extrusionOk="0" h="256699" w="154661">
                <a:moveTo>
                  <a:pt x="0" y="0"/>
                </a:moveTo>
                <a:lnTo>
                  <a:pt x="154661" y="0"/>
                </a:lnTo>
                <a:lnTo>
                  <a:pt x="154661" y="256698"/>
                </a:lnTo>
                <a:lnTo>
                  <a:pt x="0" y="2566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3" name="Google Shape;123;p2"/>
          <p:cNvSpPr/>
          <p:nvPr/>
        </p:nvSpPr>
        <p:spPr>
          <a:xfrm>
            <a:off x="9948534" y="3076432"/>
            <a:ext cx="5245361" cy="4929064"/>
          </a:xfrm>
          <a:custGeom>
            <a:rect b="b" l="l" r="r" t="t"/>
            <a:pathLst>
              <a:path extrusionOk="0" h="4929064" w="5245361">
                <a:moveTo>
                  <a:pt x="0" y="0"/>
                </a:moveTo>
                <a:lnTo>
                  <a:pt x="5245362" y="0"/>
                </a:lnTo>
                <a:lnTo>
                  <a:pt x="5245362" y="4929064"/>
                </a:lnTo>
                <a:lnTo>
                  <a:pt x="0" y="49290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-6416"/>
            </a:stretch>
          </a:blipFill>
          <a:ln>
            <a:noFill/>
          </a:ln>
        </p:spPr>
      </p:sp>
      <p:sp>
        <p:nvSpPr>
          <p:cNvPr id="124" name="Google Shape;124;p2"/>
          <p:cNvSpPr/>
          <p:nvPr/>
        </p:nvSpPr>
        <p:spPr>
          <a:xfrm>
            <a:off x="13390871" y="1154406"/>
            <a:ext cx="4315974" cy="2118751"/>
          </a:xfrm>
          <a:custGeom>
            <a:rect b="b" l="l" r="r" t="t"/>
            <a:pathLst>
              <a:path extrusionOk="0" h="2118751" w="4315974">
                <a:moveTo>
                  <a:pt x="0" y="0"/>
                </a:moveTo>
                <a:lnTo>
                  <a:pt x="4315975" y="0"/>
                </a:lnTo>
                <a:lnTo>
                  <a:pt x="4315975" y="2118751"/>
                </a:lnTo>
                <a:lnTo>
                  <a:pt x="0" y="21187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5" name="Google Shape;125;p2"/>
          <p:cNvSpPr/>
          <p:nvPr/>
        </p:nvSpPr>
        <p:spPr>
          <a:xfrm>
            <a:off x="3362175" y="8044105"/>
            <a:ext cx="2276928" cy="1994579"/>
          </a:xfrm>
          <a:custGeom>
            <a:rect b="b" l="l" r="r" t="t"/>
            <a:pathLst>
              <a:path extrusionOk="0" h="1994579" w="2276928">
                <a:moveTo>
                  <a:pt x="0" y="0"/>
                </a:moveTo>
                <a:lnTo>
                  <a:pt x="2276928" y="0"/>
                </a:lnTo>
                <a:lnTo>
                  <a:pt x="2276928" y="1994578"/>
                </a:lnTo>
                <a:lnTo>
                  <a:pt x="0" y="19945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6" name="Google Shape;126;p2"/>
          <p:cNvSpPr txBox="1"/>
          <p:nvPr/>
        </p:nvSpPr>
        <p:spPr>
          <a:xfrm>
            <a:off x="1639134" y="1595279"/>
            <a:ext cx="9865528" cy="857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E172C"/>
                </a:solidFill>
                <a:latin typeface="Cairo"/>
                <a:ea typeface="Cairo"/>
                <a:cs typeface="Cairo"/>
                <a:sym typeface="Cairo"/>
              </a:rPr>
              <a:t>About Women in Tech Dubai</a:t>
            </a:r>
            <a:endParaRPr/>
          </a:p>
        </p:txBody>
      </p:sp>
      <p:sp>
        <p:nvSpPr>
          <p:cNvPr id="127" name="Google Shape;127;p2"/>
          <p:cNvSpPr txBox="1"/>
          <p:nvPr/>
        </p:nvSpPr>
        <p:spPr>
          <a:xfrm>
            <a:off x="1639134" y="3464668"/>
            <a:ext cx="7504866" cy="3985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23" u="none" cap="none" strike="noStrike">
                <a:solidFill>
                  <a:srgbClr val="0E172C"/>
                </a:solidFill>
                <a:latin typeface="Cairo"/>
                <a:ea typeface="Cairo"/>
                <a:cs typeface="Cairo"/>
                <a:sym typeface="Cairo"/>
              </a:rPr>
              <a:t>WITDXB is a volunteer run, UAE based professional group aimed at creating a safe space for women in the tech field. </a:t>
            </a:r>
            <a:endParaRPr/>
          </a:p>
          <a:p>
            <a:pPr indent="0" lvl="0" marL="0" marR="0" rtl="0" algn="l">
              <a:lnSpc>
                <a:spcPct val="13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223" u="none" cap="none" strike="noStrike">
              <a:solidFill>
                <a:srgbClr val="0E172C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marR="0" rtl="0" algn="l">
              <a:lnSpc>
                <a:spcPct val="13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23" u="none" cap="none" strike="noStrike">
                <a:solidFill>
                  <a:srgbClr val="0E172C"/>
                </a:solidFill>
                <a:latin typeface="Cairo"/>
                <a:ea typeface="Cairo"/>
                <a:cs typeface="Cairo"/>
                <a:sym typeface="Cairo"/>
              </a:rPr>
              <a:t>We host workshops, panel events &amp; do talks like this a lot. All of them run by and featuring inspiring women! :)</a:t>
            </a:r>
            <a:endParaRPr/>
          </a:p>
        </p:txBody>
      </p:sp>
      <p:sp>
        <p:nvSpPr>
          <p:cNvPr id="128" name="Google Shape;128;p2"/>
          <p:cNvSpPr txBox="1"/>
          <p:nvPr/>
        </p:nvSpPr>
        <p:spPr>
          <a:xfrm>
            <a:off x="14821560" y="8327514"/>
            <a:ext cx="974236" cy="3028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E172C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NEXT</a:t>
            </a:r>
            <a:endParaRPr/>
          </a:p>
        </p:txBody>
      </p:sp>
      <p:sp>
        <p:nvSpPr>
          <p:cNvPr id="129" name="Google Shape;129;p2"/>
          <p:cNvSpPr txBox="1"/>
          <p:nvPr/>
        </p:nvSpPr>
        <p:spPr>
          <a:xfrm>
            <a:off x="10247515" y="7625935"/>
            <a:ext cx="4402789" cy="7982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23" u="none" cap="none" strike="noStrike">
                <a:solidFill>
                  <a:srgbClr val="0E172C"/>
                </a:solidFill>
                <a:latin typeface="Cairo"/>
                <a:ea typeface="Cairo"/>
                <a:cs typeface="Cairo"/>
                <a:sym typeface="Cairo"/>
              </a:rPr>
              <a:t>Scan to get info about upcoming WITDXB meetups!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"/>
          <p:cNvSpPr txBox="1"/>
          <p:nvPr/>
        </p:nvSpPr>
        <p:spPr>
          <a:xfrm>
            <a:off x="9050258" y="5044440"/>
            <a:ext cx="187484" cy="188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Prompt Medium"/>
                <a:ea typeface="Prompt Medium"/>
                <a:cs typeface="Prompt Medium"/>
                <a:sym typeface="Prompt Medium"/>
              </a:rPr>
              <a:t>ok</a:t>
            </a:r>
            <a:endParaRPr/>
          </a:p>
        </p:txBody>
      </p:sp>
      <p:grpSp>
        <p:nvGrpSpPr>
          <p:cNvPr id="135" name="Google Shape;135;p4"/>
          <p:cNvGrpSpPr/>
          <p:nvPr/>
        </p:nvGrpSpPr>
        <p:grpSpPr>
          <a:xfrm>
            <a:off x="1028700" y="905676"/>
            <a:ext cx="16230600" cy="8385908"/>
            <a:chOff x="0" y="0"/>
            <a:chExt cx="24197701" cy="12502291"/>
          </a:xfrm>
        </p:grpSpPr>
        <p:sp>
          <p:nvSpPr>
            <p:cNvPr id="136" name="Google Shape;136;p4"/>
            <p:cNvSpPr/>
            <p:nvPr/>
          </p:nvSpPr>
          <p:spPr>
            <a:xfrm>
              <a:off x="31750" y="31750"/>
              <a:ext cx="24132960" cy="12438791"/>
            </a:xfrm>
            <a:custGeom>
              <a:rect b="b" l="l" r="r" t="t"/>
              <a:pathLst>
                <a:path extrusionOk="0" h="12438791" w="24132960">
                  <a:moveTo>
                    <a:pt x="24041491" y="12438791"/>
                  </a:moveTo>
                  <a:lnTo>
                    <a:pt x="92710" y="12438791"/>
                  </a:lnTo>
                  <a:cubicBezTo>
                    <a:pt x="41910" y="12438791"/>
                    <a:pt x="0" y="12396881"/>
                    <a:pt x="0" y="12346081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24040221" y="0"/>
                  </a:lnTo>
                  <a:cubicBezTo>
                    <a:pt x="24091021" y="0"/>
                    <a:pt x="24132932" y="41910"/>
                    <a:pt x="24132932" y="92710"/>
                  </a:cubicBezTo>
                  <a:lnTo>
                    <a:pt x="24132932" y="12344812"/>
                  </a:lnTo>
                  <a:cubicBezTo>
                    <a:pt x="24134201" y="12396881"/>
                    <a:pt x="24092291" y="12438791"/>
                    <a:pt x="24041491" y="12438791"/>
                  </a:cubicBezTo>
                  <a:close/>
                </a:path>
              </a:pathLst>
            </a:custGeom>
            <a:solidFill>
              <a:srgbClr val="FFFFF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4"/>
            <p:cNvSpPr/>
            <p:nvPr/>
          </p:nvSpPr>
          <p:spPr>
            <a:xfrm>
              <a:off x="0" y="0"/>
              <a:ext cx="24197701" cy="12502291"/>
            </a:xfrm>
            <a:custGeom>
              <a:rect b="b" l="l" r="r" t="t"/>
              <a:pathLst>
                <a:path extrusionOk="0" h="12502291" w="24197701">
                  <a:moveTo>
                    <a:pt x="24073241" y="59690"/>
                  </a:moveTo>
                  <a:cubicBezTo>
                    <a:pt x="24108801" y="59690"/>
                    <a:pt x="24138010" y="88900"/>
                    <a:pt x="24138010" y="124460"/>
                  </a:cubicBezTo>
                  <a:lnTo>
                    <a:pt x="24138010" y="12377831"/>
                  </a:lnTo>
                  <a:cubicBezTo>
                    <a:pt x="24138010" y="12413391"/>
                    <a:pt x="24108801" y="12442601"/>
                    <a:pt x="24073241" y="12442601"/>
                  </a:cubicBezTo>
                  <a:lnTo>
                    <a:pt x="124460" y="12442601"/>
                  </a:lnTo>
                  <a:cubicBezTo>
                    <a:pt x="88900" y="12442601"/>
                    <a:pt x="59690" y="12413391"/>
                    <a:pt x="59690" y="1237783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24073241" y="59690"/>
                  </a:lnTo>
                  <a:moveTo>
                    <a:pt x="2407324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2377831"/>
                  </a:lnTo>
                  <a:cubicBezTo>
                    <a:pt x="0" y="12446412"/>
                    <a:pt x="55880" y="12502291"/>
                    <a:pt x="124460" y="12502291"/>
                  </a:cubicBezTo>
                  <a:lnTo>
                    <a:pt x="24073241" y="12502291"/>
                  </a:lnTo>
                  <a:cubicBezTo>
                    <a:pt x="24141821" y="12502291"/>
                    <a:pt x="24197701" y="12446412"/>
                    <a:pt x="24197701" y="12377831"/>
                  </a:cubicBezTo>
                  <a:lnTo>
                    <a:pt x="24197701" y="124460"/>
                  </a:lnTo>
                  <a:cubicBezTo>
                    <a:pt x="24197701" y="55880"/>
                    <a:pt x="24141821" y="0"/>
                    <a:pt x="24073241" y="0"/>
                  </a:cubicBezTo>
                  <a:close/>
                </a:path>
              </a:pathLst>
            </a:custGeom>
            <a:solidFill>
              <a:srgbClr val="0E17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38" name="Google Shape;138;p4"/>
          <p:cNvCxnSpPr/>
          <p:nvPr/>
        </p:nvCxnSpPr>
        <p:spPr>
          <a:xfrm>
            <a:off x="1639134" y="2879694"/>
            <a:ext cx="15169809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39" name="Google Shape;139;p4"/>
          <p:cNvGrpSpPr/>
          <p:nvPr/>
        </p:nvGrpSpPr>
        <p:grpSpPr>
          <a:xfrm>
            <a:off x="14447504" y="8202221"/>
            <a:ext cx="1722347" cy="543956"/>
            <a:chOff x="0" y="0"/>
            <a:chExt cx="2662585" cy="840904"/>
          </a:xfrm>
        </p:grpSpPr>
        <p:sp>
          <p:nvSpPr>
            <p:cNvPr id="140" name="Google Shape;140;p4"/>
            <p:cNvSpPr/>
            <p:nvPr/>
          </p:nvSpPr>
          <p:spPr>
            <a:xfrm>
              <a:off x="31750" y="31750"/>
              <a:ext cx="2597843" cy="777404"/>
            </a:xfrm>
            <a:custGeom>
              <a:rect b="b" l="l" r="r" t="t"/>
              <a:pathLst>
                <a:path extrusionOk="0" h="777404" w="2597843">
                  <a:moveTo>
                    <a:pt x="2506375" y="777404"/>
                  </a:moveTo>
                  <a:lnTo>
                    <a:pt x="92710" y="777404"/>
                  </a:lnTo>
                  <a:cubicBezTo>
                    <a:pt x="41910" y="777404"/>
                    <a:pt x="0" y="735494"/>
                    <a:pt x="0" y="684694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2505105" y="0"/>
                  </a:lnTo>
                  <a:cubicBezTo>
                    <a:pt x="2555905" y="0"/>
                    <a:pt x="2597815" y="41910"/>
                    <a:pt x="2597815" y="92710"/>
                  </a:cubicBezTo>
                  <a:lnTo>
                    <a:pt x="2597815" y="683424"/>
                  </a:lnTo>
                  <a:cubicBezTo>
                    <a:pt x="2599085" y="735494"/>
                    <a:pt x="2557175" y="777404"/>
                    <a:pt x="2506375" y="777404"/>
                  </a:cubicBezTo>
                  <a:close/>
                </a:path>
              </a:pathLst>
            </a:custGeom>
            <a:solidFill>
              <a:srgbClr val="F0B7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4"/>
            <p:cNvSpPr/>
            <p:nvPr/>
          </p:nvSpPr>
          <p:spPr>
            <a:xfrm>
              <a:off x="0" y="0"/>
              <a:ext cx="2662585" cy="840904"/>
            </a:xfrm>
            <a:custGeom>
              <a:rect b="b" l="l" r="r" t="t"/>
              <a:pathLst>
                <a:path extrusionOk="0" h="840904" w="2662585">
                  <a:moveTo>
                    <a:pt x="2538125" y="59690"/>
                  </a:moveTo>
                  <a:cubicBezTo>
                    <a:pt x="2573685" y="59690"/>
                    <a:pt x="2602895" y="88900"/>
                    <a:pt x="2602895" y="124460"/>
                  </a:cubicBezTo>
                  <a:lnTo>
                    <a:pt x="2602895" y="716444"/>
                  </a:lnTo>
                  <a:cubicBezTo>
                    <a:pt x="2602895" y="752004"/>
                    <a:pt x="2573685" y="781214"/>
                    <a:pt x="2538125" y="781214"/>
                  </a:cubicBezTo>
                  <a:lnTo>
                    <a:pt x="124460" y="781214"/>
                  </a:lnTo>
                  <a:cubicBezTo>
                    <a:pt x="88900" y="781214"/>
                    <a:pt x="59690" y="752004"/>
                    <a:pt x="59690" y="716444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2538125" y="59690"/>
                  </a:lnTo>
                  <a:moveTo>
                    <a:pt x="2538125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716444"/>
                  </a:lnTo>
                  <a:cubicBezTo>
                    <a:pt x="0" y="785024"/>
                    <a:pt x="55880" y="840904"/>
                    <a:pt x="124460" y="840904"/>
                  </a:cubicBezTo>
                  <a:lnTo>
                    <a:pt x="2538125" y="840904"/>
                  </a:lnTo>
                  <a:cubicBezTo>
                    <a:pt x="2606705" y="840904"/>
                    <a:pt x="2662585" y="785024"/>
                    <a:pt x="2662585" y="716444"/>
                  </a:cubicBezTo>
                  <a:lnTo>
                    <a:pt x="2662585" y="124460"/>
                  </a:lnTo>
                  <a:cubicBezTo>
                    <a:pt x="2662585" y="55880"/>
                    <a:pt x="2606705" y="0"/>
                    <a:pt x="2538125" y="0"/>
                  </a:cubicBezTo>
                  <a:close/>
                </a:path>
              </a:pathLst>
            </a:custGeom>
            <a:solidFill>
              <a:srgbClr val="0E17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2" name="Google Shape;142;p4"/>
          <p:cNvGrpSpPr/>
          <p:nvPr/>
        </p:nvGrpSpPr>
        <p:grpSpPr>
          <a:xfrm>
            <a:off x="16252174" y="8202221"/>
            <a:ext cx="556769" cy="543956"/>
            <a:chOff x="0" y="0"/>
            <a:chExt cx="860712" cy="840904"/>
          </a:xfrm>
        </p:grpSpPr>
        <p:sp>
          <p:nvSpPr>
            <p:cNvPr id="143" name="Google Shape;143;p4"/>
            <p:cNvSpPr/>
            <p:nvPr/>
          </p:nvSpPr>
          <p:spPr>
            <a:xfrm>
              <a:off x="31750" y="31750"/>
              <a:ext cx="795970" cy="777404"/>
            </a:xfrm>
            <a:custGeom>
              <a:rect b="b" l="l" r="r" t="t"/>
              <a:pathLst>
                <a:path extrusionOk="0" h="777404" w="795970">
                  <a:moveTo>
                    <a:pt x="704502" y="777404"/>
                  </a:moveTo>
                  <a:lnTo>
                    <a:pt x="92710" y="777404"/>
                  </a:lnTo>
                  <a:cubicBezTo>
                    <a:pt x="41910" y="777404"/>
                    <a:pt x="0" y="735494"/>
                    <a:pt x="0" y="684694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703232" y="0"/>
                  </a:lnTo>
                  <a:cubicBezTo>
                    <a:pt x="754032" y="0"/>
                    <a:pt x="795942" y="41910"/>
                    <a:pt x="795942" y="92710"/>
                  </a:cubicBezTo>
                  <a:lnTo>
                    <a:pt x="795942" y="683424"/>
                  </a:lnTo>
                  <a:cubicBezTo>
                    <a:pt x="797212" y="735494"/>
                    <a:pt x="755302" y="777404"/>
                    <a:pt x="704502" y="777404"/>
                  </a:cubicBezTo>
                  <a:close/>
                </a:path>
              </a:pathLst>
            </a:custGeom>
            <a:solidFill>
              <a:srgbClr val="68A97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4"/>
            <p:cNvSpPr/>
            <p:nvPr/>
          </p:nvSpPr>
          <p:spPr>
            <a:xfrm>
              <a:off x="0" y="0"/>
              <a:ext cx="860712" cy="840904"/>
            </a:xfrm>
            <a:custGeom>
              <a:rect b="b" l="l" r="r" t="t"/>
              <a:pathLst>
                <a:path extrusionOk="0" h="840904" w="860712">
                  <a:moveTo>
                    <a:pt x="736252" y="59690"/>
                  </a:moveTo>
                  <a:cubicBezTo>
                    <a:pt x="771812" y="59690"/>
                    <a:pt x="801022" y="88900"/>
                    <a:pt x="801022" y="124460"/>
                  </a:cubicBezTo>
                  <a:lnTo>
                    <a:pt x="801022" y="716444"/>
                  </a:lnTo>
                  <a:cubicBezTo>
                    <a:pt x="801022" y="752004"/>
                    <a:pt x="771812" y="781214"/>
                    <a:pt x="736252" y="781214"/>
                  </a:cubicBezTo>
                  <a:lnTo>
                    <a:pt x="124460" y="781214"/>
                  </a:lnTo>
                  <a:cubicBezTo>
                    <a:pt x="88900" y="781214"/>
                    <a:pt x="59690" y="752004"/>
                    <a:pt x="59690" y="716444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736252" y="59690"/>
                  </a:lnTo>
                  <a:moveTo>
                    <a:pt x="736252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716444"/>
                  </a:lnTo>
                  <a:cubicBezTo>
                    <a:pt x="0" y="785024"/>
                    <a:pt x="55880" y="840904"/>
                    <a:pt x="124460" y="840904"/>
                  </a:cubicBezTo>
                  <a:lnTo>
                    <a:pt x="736252" y="840904"/>
                  </a:lnTo>
                  <a:cubicBezTo>
                    <a:pt x="804832" y="840904"/>
                    <a:pt x="860712" y="785024"/>
                    <a:pt x="860712" y="716444"/>
                  </a:cubicBezTo>
                  <a:lnTo>
                    <a:pt x="860712" y="124460"/>
                  </a:lnTo>
                  <a:cubicBezTo>
                    <a:pt x="860712" y="55880"/>
                    <a:pt x="804832" y="0"/>
                    <a:pt x="736252" y="0"/>
                  </a:cubicBezTo>
                  <a:close/>
                </a:path>
              </a:pathLst>
            </a:custGeom>
            <a:solidFill>
              <a:srgbClr val="0E17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5" name="Google Shape;145;p4"/>
          <p:cNvSpPr/>
          <p:nvPr/>
        </p:nvSpPr>
        <p:spPr>
          <a:xfrm rot="10800000">
            <a:off x="16462124" y="8345850"/>
            <a:ext cx="154661" cy="256699"/>
          </a:xfrm>
          <a:custGeom>
            <a:rect b="b" l="l" r="r" t="t"/>
            <a:pathLst>
              <a:path extrusionOk="0" h="256699" w="154661">
                <a:moveTo>
                  <a:pt x="0" y="0"/>
                </a:moveTo>
                <a:lnTo>
                  <a:pt x="154661" y="0"/>
                </a:lnTo>
                <a:lnTo>
                  <a:pt x="154661" y="256698"/>
                </a:lnTo>
                <a:lnTo>
                  <a:pt x="0" y="2566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6" name="Google Shape;146;p4"/>
          <p:cNvSpPr/>
          <p:nvPr/>
        </p:nvSpPr>
        <p:spPr>
          <a:xfrm>
            <a:off x="10020103" y="3121677"/>
            <a:ext cx="4857611" cy="4857611"/>
          </a:xfrm>
          <a:custGeom>
            <a:rect b="b" l="l" r="r" t="t"/>
            <a:pathLst>
              <a:path extrusionOk="0" h="4857611" w="4857611">
                <a:moveTo>
                  <a:pt x="0" y="0"/>
                </a:moveTo>
                <a:lnTo>
                  <a:pt x="4857611" y="0"/>
                </a:lnTo>
                <a:lnTo>
                  <a:pt x="4857611" y="4857611"/>
                </a:lnTo>
                <a:lnTo>
                  <a:pt x="0" y="48576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7" name="Google Shape;147;p4"/>
          <p:cNvSpPr txBox="1"/>
          <p:nvPr/>
        </p:nvSpPr>
        <p:spPr>
          <a:xfrm>
            <a:off x="1639134" y="1595279"/>
            <a:ext cx="9865528" cy="857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E172C"/>
                </a:solidFill>
                <a:latin typeface="Cairo"/>
                <a:ea typeface="Cairo"/>
                <a:cs typeface="Cairo"/>
                <a:sym typeface="Cairo"/>
              </a:rPr>
              <a:t>About AI Safety UAE</a:t>
            </a:r>
            <a:endParaRPr/>
          </a:p>
        </p:txBody>
      </p:sp>
      <p:sp>
        <p:nvSpPr>
          <p:cNvPr id="148" name="Google Shape;148;p4"/>
          <p:cNvSpPr txBox="1"/>
          <p:nvPr/>
        </p:nvSpPr>
        <p:spPr>
          <a:xfrm>
            <a:off x="1639125" y="4568950"/>
            <a:ext cx="7504800" cy="18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23" u="none" cap="none" strike="noStrike">
                <a:solidFill>
                  <a:srgbClr val="0E172C"/>
                </a:solidFill>
                <a:latin typeface="Cairo"/>
                <a:ea typeface="Cairo"/>
                <a:cs typeface="Cairo"/>
                <a:sym typeface="Cairo"/>
              </a:rPr>
              <a:t>A community to explore AI safety</a:t>
            </a:r>
            <a:r>
              <a:rPr b="1" lang="en-US" sz="3223">
                <a:solidFill>
                  <a:srgbClr val="0E172C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b="1" i="0" lang="en-US" sz="3223" u="none" cap="none" strike="noStrike">
                <a:solidFill>
                  <a:srgbClr val="0E172C"/>
                </a:solidFill>
                <a:latin typeface="Cairo"/>
                <a:ea typeface="Cairo"/>
                <a:cs typeface="Cairo"/>
                <a:sym typeface="Cairo"/>
              </a:rPr>
              <a:t>and AI governance built for organisations operating in the UAE</a:t>
            </a:r>
            <a:r>
              <a:rPr b="1" lang="en-US" sz="3223">
                <a:solidFill>
                  <a:srgbClr val="0E172C"/>
                </a:solidFill>
                <a:latin typeface="Cairo"/>
                <a:ea typeface="Cairo"/>
                <a:cs typeface="Cairo"/>
                <a:sym typeface="Cairo"/>
              </a:rPr>
              <a:t>: </a:t>
            </a:r>
            <a:r>
              <a:rPr b="1" lang="en-US" sz="3223" u="sng">
                <a:solidFill>
                  <a:schemeClr val="hlink"/>
                </a:solidFill>
                <a:latin typeface="Cairo"/>
                <a:ea typeface="Cairo"/>
                <a:cs typeface="Cairo"/>
                <a:sym typeface="Cairo"/>
                <a:hlinkClick r:id="rId5"/>
              </a:rPr>
              <a:t>aisafety.ae</a:t>
            </a:r>
            <a:endParaRPr/>
          </a:p>
        </p:txBody>
      </p:sp>
      <p:sp>
        <p:nvSpPr>
          <p:cNvPr id="149" name="Google Shape;149;p4"/>
          <p:cNvSpPr txBox="1"/>
          <p:nvPr/>
        </p:nvSpPr>
        <p:spPr>
          <a:xfrm>
            <a:off x="14821560" y="8327514"/>
            <a:ext cx="974236" cy="3028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E172C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NEXT</a:t>
            </a:r>
            <a:endParaRPr/>
          </a:p>
        </p:txBody>
      </p:sp>
      <p:sp>
        <p:nvSpPr>
          <p:cNvPr id="150" name="Google Shape;150;p4"/>
          <p:cNvSpPr txBox="1"/>
          <p:nvPr/>
        </p:nvSpPr>
        <p:spPr>
          <a:xfrm>
            <a:off x="10247515" y="7832170"/>
            <a:ext cx="4402789" cy="38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23" u="none" cap="none" strike="noStrike">
                <a:solidFill>
                  <a:srgbClr val="0E172C"/>
                </a:solidFill>
                <a:latin typeface="Cairo"/>
                <a:ea typeface="Cairo"/>
                <a:cs typeface="Cairo"/>
                <a:sym typeface="Cairo"/>
              </a:rPr>
              <a:t>Scan to join the community!</a:t>
            </a:r>
            <a:endParaRPr/>
          </a:p>
        </p:txBody>
      </p:sp>
      <p:pic>
        <p:nvPicPr>
          <p:cNvPr id="151" name="Google Shape;151;p4"/>
          <p:cNvPicPr preferRelativeResize="0"/>
          <p:nvPr/>
        </p:nvPicPr>
        <p:blipFill rotWithShape="1">
          <a:blip r:embed="rId6">
            <a:alphaModFix/>
          </a:blip>
          <a:srcRect b="34446" l="0" r="0" t="30348"/>
          <a:stretch/>
        </p:blipFill>
        <p:spPr>
          <a:xfrm>
            <a:off x="10247525" y="1284594"/>
            <a:ext cx="4199977" cy="14786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"/>
          <p:cNvSpPr txBox="1"/>
          <p:nvPr/>
        </p:nvSpPr>
        <p:spPr>
          <a:xfrm>
            <a:off x="9050258" y="5044440"/>
            <a:ext cx="187484" cy="188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Prompt Medium"/>
                <a:ea typeface="Prompt Medium"/>
                <a:cs typeface="Prompt Medium"/>
                <a:sym typeface="Prompt Medium"/>
              </a:rPr>
              <a:t>ok</a:t>
            </a:r>
            <a:endParaRPr/>
          </a:p>
        </p:txBody>
      </p:sp>
      <p:grpSp>
        <p:nvGrpSpPr>
          <p:cNvPr id="157" name="Google Shape;157;p5"/>
          <p:cNvGrpSpPr/>
          <p:nvPr/>
        </p:nvGrpSpPr>
        <p:grpSpPr>
          <a:xfrm>
            <a:off x="1028700" y="905676"/>
            <a:ext cx="16230600" cy="8385908"/>
            <a:chOff x="0" y="0"/>
            <a:chExt cx="24197701" cy="12502291"/>
          </a:xfrm>
        </p:grpSpPr>
        <p:sp>
          <p:nvSpPr>
            <p:cNvPr id="158" name="Google Shape;158;p5"/>
            <p:cNvSpPr/>
            <p:nvPr/>
          </p:nvSpPr>
          <p:spPr>
            <a:xfrm>
              <a:off x="31750" y="31750"/>
              <a:ext cx="24132960" cy="12438791"/>
            </a:xfrm>
            <a:custGeom>
              <a:rect b="b" l="l" r="r" t="t"/>
              <a:pathLst>
                <a:path extrusionOk="0" h="12438791" w="24132960">
                  <a:moveTo>
                    <a:pt x="24041491" y="12438791"/>
                  </a:moveTo>
                  <a:lnTo>
                    <a:pt x="92710" y="12438791"/>
                  </a:lnTo>
                  <a:cubicBezTo>
                    <a:pt x="41910" y="12438791"/>
                    <a:pt x="0" y="12396881"/>
                    <a:pt x="0" y="12346081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24040221" y="0"/>
                  </a:lnTo>
                  <a:cubicBezTo>
                    <a:pt x="24091021" y="0"/>
                    <a:pt x="24132932" y="41910"/>
                    <a:pt x="24132932" y="92710"/>
                  </a:cubicBezTo>
                  <a:lnTo>
                    <a:pt x="24132932" y="12344812"/>
                  </a:lnTo>
                  <a:cubicBezTo>
                    <a:pt x="24134201" y="12396881"/>
                    <a:pt x="24092291" y="12438791"/>
                    <a:pt x="24041491" y="12438791"/>
                  </a:cubicBezTo>
                  <a:close/>
                </a:path>
              </a:pathLst>
            </a:custGeom>
            <a:solidFill>
              <a:srgbClr val="FFFFF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5"/>
            <p:cNvSpPr/>
            <p:nvPr/>
          </p:nvSpPr>
          <p:spPr>
            <a:xfrm>
              <a:off x="0" y="0"/>
              <a:ext cx="24197701" cy="12502291"/>
            </a:xfrm>
            <a:custGeom>
              <a:rect b="b" l="l" r="r" t="t"/>
              <a:pathLst>
                <a:path extrusionOk="0" h="12502291" w="24197701">
                  <a:moveTo>
                    <a:pt x="24073241" y="59690"/>
                  </a:moveTo>
                  <a:cubicBezTo>
                    <a:pt x="24108801" y="59690"/>
                    <a:pt x="24138010" y="88900"/>
                    <a:pt x="24138010" y="124460"/>
                  </a:cubicBezTo>
                  <a:lnTo>
                    <a:pt x="24138010" y="12377831"/>
                  </a:lnTo>
                  <a:cubicBezTo>
                    <a:pt x="24138010" y="12413391"/>
                    <a:pt x="24108801" y="12442601"/>
                    <a:pt x="24073241" y="12442601"/>
                  </a:cubicBezTo>
                  <a:lnTo>
                    <a:pt x="124460" y="12442601"/>
                  </a:lnTo>
                  <a:cubicBezTo>
                    <a:pt x="88900" y="12442601"/>
                    <a:pt x="59690" y="12413391"/>
                    <a:pt x="59690" y="1237783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24073241" y="59690"/>
                  </a:lnTo>
                  <a:moveTo>
                    <a:pt x="2407324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2377831"/>
                  </a:lnTo>
                  <a:cubicBezTo>
                    <a:pt x="0" y="12446412"/>
                    <a:pt x="55880" y="12502291"/>
                    <a:pt x="124460" y="12502291"/>
                  </a:cubicBezTo>
                  <a:lnTo>
                    <a:pt x="24073241" y="12502291"/>
                  </a:lnTo>
                  <a:cubicBezTo>
                    <a:pt x="24141821" y="12502291"/>
                    <a:pt x="24197701" y="12446412"/>
                    <a:pt x="24197701" y="12377831"/>
                  </a:cubicBezTo>
                  <a:lnTo>
                    <a:pt x="24197701" y="124460"/>
                  </a:lnTo>
                  <a:cubicBezTo>
                    <a:pt x="24197701" y="55880"/>
                    <a:pt x="24141821" y="0"/>
                    <a:pt x="24073241" y="0"/>
                  </a:cubicBezTo>
                  <a:close/>
                </a:path>
              </a:pathLst>
            </a:custGeom>
            <a:solidFill>
              <a:srgbClr val="0E17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60" name="Google Shape;160;p5"/>
          <p:cNvCxnSpPr/>
          <p:nvPr/>
        </p:nvCxnSpPr>
        <p:spPr>
          <a:xfrm>
            <a:off x="1639134" y="2879694"/>
            <a:ext cx="15169809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61" name="Google Shape;161;p5"/>
          <p:cNvGrpSpPr/>
          <p:nvPr/>
        </p:nvGrpSpPr>
        <p:grpSpPr>
          <a:xfrm>
            <a:off x="14447504" y="8202221"/>
            <a:ext cx="1722347" cy="543956"/>
            <a:chOff x="0" y="0"/>
            <a:chExt cx="2662585" cy="840904"/>
          </a:xfrm>
        </p:grpSpPr>
        <p:sp>
          <p:nvSpPr>
            <p:cNvPr id="162" name="Google Shape;162;p5"/>
            <p:cNvSpPr/>
            <p:nvPr/>
          </p:nvSpPr>
          <p:spPr>
            <a:xfrm>
              <a:off x="31750" y="31750"/>
              <a:ext cx="2597843" cy="777404"/>
            </a:xfrm>
            <a:custGeom>
              <a:rect b="b" l="l" r="r" t="t"/>
              <a:pathLst>
                <a:path extrusionOk="0" h="777404" w="2597843">
                  <a:moveTo>
                    <a:pt x="2506375" y="777404"/>
                  </a:moveTo>
                  <a:lnTo>
                    <a:pt x="92710" y="777404"/>
                  </a:lnTo>
                  <a:cubicBezTo>
                    <a:pt x="41910" y="777404"/>
                    <a:pt x="0" y="735494"/>
                    <a:pt x="0" y="684694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2505105" y="0"/>
                  </a:lnTo>
                  <a:cubicBezTo>
                    <a:pt x="2555905" y="0"/>
                    <a:pt x="2597815" y="41910"/>
                    <a:pt x="2597815" y="92710"/>
                  </a:cubicBezTo>
                  <a:lnTo>
                    <a:pt x="2597815" y="683424"/>
                  </a:lnTo>
                  <a:cubicBezTo>
                    <a:pt x="2599085" y="735494"/>
                    <a:pt x="2557175" y="777404"/>
                    <a:pt x="2506375" y="777404"/>
                  </a:cubicBezTo>
                  <a:close/>
                </a:path>
              </a:pathLst>
            </a:custGeom>
            <a:solidFill>
              <a:srgbClr val="F0B7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5"/>
            <p:cNvSpPr/>
            <p:nvPr/>
          </p:nvSpPr>
          <p:spPr>
            <a:xfrm>
              <a:off x="0" y="0"/>
              <a:ext cx="2662585" cy="840904"/>
            </a:xfrm>
            <a:custGeom>
              <a:rect b="b" l="l" r="r" t="t"/>
              <a:pathLst>
                <a:path extrusionOk="0" h="840904" w="2662585">
                  <a:moveTo>
                    <a:pt x="2538125" y="59690"/>
                  </a:moveTo>
                  <a:cubicBezTo>
                    <a:pt x="2573685" y="59690"/>
                    <a:pt x="2602895" y="88900"/>
                    <a:pt x="2602895" y="124460"/>
                  </a:cubicBezTo>
                  <a:lnTo>
                    <a:pt x="2602895" y="716444"/>
                  </a:lnTo>
                  <a:cubicBezTo>
                    <a:pt x="2602895" y="752004"/>
                    <a:pt x="2573685" y="781214"/>
                    <a:pt x="2538125" y="781214"/>
                  </a:cubicBezTo>
                  <a:lnTo>
                    <a:pt x="124460" y="781214"/>
                  </a:lnTo>
                  <a:cubicBezTo>
                    <a:pt x="88900" y="781214"/>
                    <a:pt x="59690" y="752004"/>
                    <a:pt x="59690" y="716444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2538125" y="59690"/>
                  </a:lnTo>
                  <a:moveTo>
                    <a:pt x="2538125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716444"/>
                  </a:lnTo>
                  <a:cubicBezTo>
                    <a:pt x="0" y="785024"/>
                    <a:pt x="55880" y="840904"/>
                    <a:pt x="124460" y="840904"/>
                  </a:cubicBezTo>
                  <a:lnTo>
                    <a:pt x="2538125" y="840904"/>
                  </a:lnTo>
                  <a:cubicBezTo>
                    <a:pt x="2606705" y="840904"/>
                    <a:pt x="2662585" y="785024"/>
                    <a:pt x="2662585" y="716444"/>
                  </a:cubicBezTo>
                  <a:lnTo>
                    <a:pt x="2662585" y="124460"/>
                  </a:lnTo>
                  <a:cubicBezTo>
                    <a:pt x="2662585" y="55880"/>
                    <a:pt x="2606705" y="0"/>
                    <a:pt x="2538125" y="0"/>
                  </a:cubicBezTo>
                  <a:close/>
                </a:path>
              </a:pathLst>
            </a:custGeom>
            <a:solidFill>
              <a:srgbClr val="0E17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4" name="Google Shape;164;p5"/>
          <p:cNvGrpSpPr/>
          <p:nvPr/>
        </p:nvGrpSpPr>
        <p:grpSpPr>
          <a:xfrm>
            <a:off x="16252174" y="8202221"/>
            <a:ext cx="556769" cy="543956"/>
            <a:chOff x="0" y="0"/>
            <a:chExt cx="860712" cy="840904"/>
          </a:xfrm>
        </p:grpSpPr>
        <p:sp>
          <p:nvSpPr>
            <p:cNvPr id="165" name="Google Shape;165;p5"/>
            <p:cNvSpPr/>
            <p:nvPr/>
          </p:nvSpPr>
          <p:spPr>
            <a:xfrm>
              <a:off x="31750" y="31750"/>
              <a:ext cx="795970" cy="777404"/>
            </a:xfrm>
            <a:custGeom>
              <a:rect b="b" l="l" r="r" t="t"/>
              <a:pathLst>
                <a:path extrusionOk="0" h="777404" w="795970">
                  <a:moveTo>
                    <a:pt x="704502" y="777404"/>
                  </a:moveTo>
                  <a:lnTo>
                    <a:pt x="92710" y="777404"/>
                  </a:lnTo>
                  <a:cubicBezTo>
                    <a:pt x="41910" y="777404"/>
                    <a:pt x="0" y="735494"/>
                    <a:pt x="0" y="684694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703232" y="0"/>
                  </a:lnTo>
                  <a:cubicBezTo>
                    <a:pt x="754032" y="0"/>
                    <a:pt x="795942" y="41910"/>
                    <a:pt x="795942" y="92710"/>
                  </a:cubicBezTo>
                  <a:lnTo>
                    <a:pt x="795942" y="683424"/>
                  </a:lnTo>
                  <a:cubicBezTo>
                    <a:pt x="797212" y="735494"/>
                    <a:pt x="755302" y="777404"/>
                    <a:pt x="704502" y="777404"/>
                  </a:cubicBezTo>
                  <a:close/>
                </a:path>
              </a:pathLst>
            </a:custGeom>
            <a:solidFill>
              <a:srgbClr val="68A97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5"/>
            <p:cNvSpPr/>
            <p:nvPr/>
          </p:nvSpPr>
          <p:spPr>
            <a:xfrm>
              <a:off x="0" y="0"/>
              <a:ext cx="860712" cy="840904"/>
            </a:xfrm>
            <a:custGeom>
              <a:rect b="b" l="l" r="r" t="t"/>
              <a:pathLst>
                <a:path extrusionOk="0" h="840904" w="860712">
                  <a:moveTo>
                    <a:pt x="736252" y="59690"/>
                  </a:moveTo>
                  <a:cubicBezTo>
                    <a:pt x="771812" y="59690"/>
                    <a:pt x="801022" y="88900"/>
                    <a:pt x="801022" y="124460"/>
                  </a:cubicBezTo>
                  <a:lnTo>
                    <a:pt x="801022" y="716444"/>
                  </a:lnTo>
                  <a:cubicBezTo>
                    <a:pt x="801022" y="752004"/>
                    <a:pt x="771812" y="781214"/>
                    <a:pt x="736252" y="781214"/>
                  </a:cubicBezTo>
                  <a:lnTo>
                    <a:pt x="124460" y="781214"/>
                  </a:lnTo>
                  <a:cubicBezTo>
                    <a:pt x="88900" y="781214"/>
                    <a:pt x="59690" y="752004"/>
                    <a:pt x="59690" y="716444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736252" y="59690"/>
                  </a:lnTo>
                  <a:moveTo>
                    <a:pt x="736252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716444"/>
                  </a:lnTo>
                  <a:cubicBezTo>
                    <a:pt x="0" y="785024"/>
                    <a:pt x="55880" y="840904"/>
                    <a:pt x="124460" y="840904"/>
                  </a:cubicBezTo>
                  <a:lnTo>
                    <a:pt x="736252" y="840904"/>
                  </a:lnTo>
                  <a:cubicBezTo>
                    <a:pt x="804832" y="840904"/>
                    <a:pt x="860712" y="785024"/>
                    <a:pt x="860712" y="716444"/>
                  </a:cubicBezTo>
                  <a:lnTo>
                    <a:pt x="860712" y="124460"/>
                  </a:lnTo>
                  <a:cubicBezTo>
                    <a:pt x="860712" y="55880"/>
                    <a:pt x="804832" y="0"/>
                    <a:pt x="736252" y="0"/>
                  </a:cubicBezTo>
                  <a:close/>
                </a:path>
              </a:pathLst>
            </a:custGeom>
            <a:solidFill>
              <a:srgbClr val="0E17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7" name="Google Shape;167;p5"/>
          <p:cNvSpPr/>
          <p:nvPr/>
        </p:nvSpPr>
        <p:spPr>
          <a:xfrm rot="10800000">
            <a:off x="16462124" y="8345850"/>
            <a:ext cx="154661" cy="256699"/>
          </a:xfrm>
          <a:custGeom>
            <a:rect b="b" l="l" r="r" t="t"/>
            <a:pathLst>
              <a:path extrusionOk="0" h="256699" w="154661">
                <a:moveTo>
                  <a:pt x="0" y="0"/>
                </a:moveTo>
                <a:lnTo>
                  <a:pt x="154661" y="0"/>
                </a:lnTo>
                <a:lnTo>
                  <a:pt x="154661" y="256698"/>
                </a:lnTo>
                <a:lnTo>
                  <a:pt x="0" y="2566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8" name="Google Shape;168;p5"/>
          <p:cNvSpPr txBox="1"/>
          <p:nvPr/>
        </p:nvSpPr>
        <p:spPr>
          <a:xfrm>
            <a:off x="1639134" y="1595279"/>
            <a:ext cx="9865528" cy="857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E172C"/>
                </a:solidFill>
                <a:latin typeface="Cairo"/>
                <a:ea typeface="Cairo"/>
                <a:cs typeface="Cairo"/>
                <a:sym typeface="Cairo"/>
              </a:rPr>
              <a:t>About Nebius</a:t>
            </a:r>
            <a:endParaRPr/>
          </a:p>
        </p:txBody>
      </p:sp>
      <p:sp>
        <p:nvSpPr>
          <p:cNvPr id="169" name="Google Shape;169;p5"/>
          <p:cNvSpPr txBox="1"/>
          <p:nvPr/>
        </p:nvSpPr>
        <p:spPr>
          <a:xfrm>
            <a:off x="14821560" y="8327514"/>
            <a:ext cx="974236" cy="3028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E172C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NEXT</a:t>
            </a:r>
            <a:endParaRPr/>
          </a:p>
        </p:txBody>
      </p:sp>
      <p:pic>
        <p:nvPicPr>
          <p:cNvPr id="170" name="Google Shape;170;p5" title="dev iftaar hello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6038" y="3306875"/>
            <a:ext cx="9135925" cy="513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6"/>
          <p:cNvSpPr txBox="1"/>
          <p:nvPr/>
        </p:nvSpPr>
        <p:spPr>
          <a:xfrm>
            <a:off x="9050258" y="5044440"/>
            <a:ext cx="187484" cy="188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Prompt Medium"/>
                <a:ea typeface="Prompt Medium"/>
                <a:cs typeface="Prompt Medium"/>
                <a:sym typeface="Prompt Medium"/>
              </a:rPr>
              <a:t>ok</a:t>
            </a:r>
            <a:endParaRPr/>
          </a:p>
        </p:txBody>
      </p:sp>
      <p:grpSp>
        <p:nvGrpSpPr>
          <p:cNvPr id="176" name="Google Shape;176;p6"/>
          <p:cNvGrpSpPr/>
          <p:nvPr/>
        </p:nvGrpSpPr>
        <p:grpSpPr>
          <a:xfrm>
            <a:off x="1028700" y="905676"/>
            <a:ext cx="16230600" cy="8385908"/>
            <a:chOff x="0" y="0"/>
            <a:chExt cx="24197701" cy="12502291"/>
          </a:xfrm>
        </p:grpSpPr>
        <p:sp>
          <p:nvSpPr>
            <p:cNvPr id="177" name="Google Shape;177;p6"/>
            <p:cNvSpPr/>
            <p:nvPr/>
          </p:nvSpPr>
          <p:spPr>
            <a:xfrm>
              <a:off x="31750" y="31750"/>
              <a:ext cx="24132960" cy="12438791"/>
            </a:xfrm>
            <a:custGeom>
              <a:rect b="b" l="l" r="r" t="t"/>
              <a:pathLst>
                <a:path extrusionOk="0" h="12438791" w="24132960">
                  <a:moveTo>
                    <a:pt x="24041491" y="12438791"/>
                  </a:moveTo>
                  <a:lnTo>
                    <a:pt x="92710" y="12438791"/>
                  </a:lnTo>
                  <a:cubicBezTo>
                    <a:pt x="41910" y="12438791"/>
                    <a:pt x="0" y="12396881"/>
                    <a:pt x="0" y="12346081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24040221" y="0"/>
                  </a:lnTo>
                  <a:cubicBezTo>
                    <a:pt x="24091021" y="0"/>
                    <a:pt x="24132932" y="41910"/>
                    <a:pt x="24132932" y="92710"/>
                  </a:cubicBezTo>
                  <a:lnTo>
                    <a:pt x="24132932" y="12344812"/>
                  </a:lnTo>
                  <a:cubicBezTo>
                    <a:pt x="24134201" y="12396881"/>
                    <a:pt x="24092291" y="12438791"/>
                    <a:pt x="24041491" y="12438791"/>
                  </a:cubicBezTo>
                  <a:close/>
                </a:path>
              </a:pathLst>
            </a:custGeom>
            <a:solidFill>
              <a:srgbClr val="FFFFF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6"/>
            <p:cNvSpPr/>
            <p:nvPr/>
          </p:nvSpPr>
          <p:spPr>
            <a:xfrm>
              <a:off x="0" y="0"/>
              <a:ext cx="24197701" cy="12502291"/>
            </a:xfrm>
            <a:custGeom>
              <a:rect b="b" l="l" r="r" t="t"/>
              <a:pathLst>
                <a:path extrusionOk="0" h="12502291" w="24197701">
                  <a:moveTo>
                    <a:pt x="24073241" y="59690"/>
                  </a:moveTo>
                  <a:cubicBezTo>
                    <a:pt x="24108801" y="59690"/>
                    <a:pt x="24138010" y="88900"/>
                    <a:pt x="24138010" y="124460"/>
                  </a:cubicBezTo>
                  <a:lnTo>
                    <a:pt x="24138010" y="12377831"/>
                  </a:lnTo>
                  <a:cubicBezTo>
                    <a:pt x="24138010" y="12413391"/>
                    <a:pt x="24108801" y="12442601"/>
                    <a:pt x="24073241" y="12442601"/>
                  </a:cubicBezTo>
                  <a:lnTo>
                    <a:pt x="124460" y="12442601"/>
                  </a:lnTo>
                  <a:cubicBezTo>
                    <a:pt x="88900" y="12442601"/>
                    <a:pt x="59690" y="12413391"/>
                    <a:pt x="59690" y="1237783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24073241" y="59690"/>
                  </a:lnTo>
                  <a:moveTo>
                    <a:pt x="2407324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2377831"/>
                  </a:lnTo>
                  <a:cubicBezTo>
                    <a:pt x="0" y="12446412"/>
                    <a:pt x="55880" y="12502291"/>
                    <a:pt x="124460" y="12502291"/>
                  </a:cubicBezTo>
                  <a:lnTo>
                    <a:pt x="24073241" y="12502291"/>
                  </a:lnTo>
                  <a:cubicBezTo>
                    <a:pt x="24141821" y="12502291"/>
                    <a:pt x="24197701" y="12446412"/>
                    <a:pt x="24197701" y="12377831"/>
                  </a:cubicBezTo>
                  <a:lnTo>
                    <a:pt x="24197701" y="124460"/>
                  </a:lnTo>
                  <a:cubicBezTo>
                    <a:pt x="24197701" y="55880"/>
                    <a:pt x="24141821" y="0"/>
                    <a:pt x="24073241" y="0"/>
                  </a:cubicBezTo>
                  <a:close/>
                </a:path>
              </a:pathLst>
            </a:custGeom>
            <a:solidFill>
              <a:srgbClr val="0E17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79" name="Google Shape;179;p6"/>
          <p:cNvCxnSpPr/>
          <p:nvPr/>
        </p:nvCxnSpPr>
        <p:spPr>
          <a:xfrm>
            <a:off x="1639134" y="2879694"/>
            <a:ext cx="15169809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80" name="Google Shape;180;p6"/>
          <p:cNvGrpSpPr/>
          <p:nvPr/>
        </p:nvGrpSpPr>
        <p:grpSpPr>
          <a:xfrm>
            <a:off x="14447504" y="8202221"/>
            <a:ext cx="1722347" cy="543956"/>
            <a:chOff x="0" y="0"/>
            <a:chExt cx="2662585" cy="840904"/>
          </a:xfrm>
        </p:grpSpPr>
        <p:sp>
          <p:nvSpPr>
            <p:cNvPr id="181" name="Google Shape;181;p6"/>
            <p:cNvSpPr/>
            <p:nvPr/>
          </p:nvSpPr>
          <p:spPr>
            <a:xfrm>
              <a:off x="31750" y="31750"/>
              <a:ext cx="2597843" cy="777404"/>
            </a:xfrm>
            <a:custGeom>
              <a:rect b="b" l="l" r="r" t="t"/>
              <a:pathLst>
                <a:path extrusionOk="0" h="777404" w="2597843">
                  <a:moveTo>
                    <a:pt x="2506375" y="777404"/>
                  </a:moveTo>
                  <a:lnTo>
                    <a:pt x="92710" y="777404"/>
                  </a:lnTo>
                  <a:cubicBezTo>
                    <a:pt x="41910" y="777404"/>
                    <a:pt x="0" y="735494"/>
                    <a:pt x="0" y="684694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2505105" y="0"/>
                  </a:lnTo>
                  <a:cubicBezTo>
                    <a:pt x="2555905" y="0"/>
                    <a:pt x="2597815" y="41910"/>
                    <a:pt x="2597815" y="92710"/>
                  </a:cubicBezTo>
                  <a:lnTo>
                    <a:pt x="2597815" y="683424"/>
                  </a:lnTo>
                  <a:cubicBezTo>
                    <a:pt x="2599085" y="735494"/>
                    <a:pt x="2557175" y="777404"/>
                    <a:pt x="2506375" y="777404"/>
                  </a:cubicBezTo>
                  <a:close/>
                </a:path>
              </a:pathLst>
            </a:custGeom>
            <a:solidFill>
              <a:srgbClr val="F0B7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6"/>
            <p:cNvSpPr/>
            <p:nvPr/>
          </p:nvSpPr>
          <p:spPr>
            <a:xfrm>
              <a:off x="0" y="0"/>
              <a:ext cx="2662585" cy="840904"/>
            </a:xfrm>
            <a:custGeom>
              <a:rect b="b" l="l" r="r" t="t"/>
              <a:pathLst>
                <a:path extrusionOk="0" h="840904" w="2662585">
                  <a:moveTo>
                    <a:pt x="2538125" y="59690"/>
                  </a:moveTo>
                  <a:cubicBezTo>
                    <a:pt x="2573685" y="59690"/>
                    <a:pt x="2602895" y="88900"/>
                    <a:pt x="2602895" y="124460"/>
                  </a:cubicBezTo>
                  <a:lnTo>
                    <a:pt x="2602895" y="716444"/>
                  </a:lnTo>
                  <a:cubicBezTo>
                    <a:pt x="2602895" y="752004"/>
                    <a:pt x="2573685" y="781214"/>
                    <a:pt x="2538125" y="781214"/>
                  </a:cubicBezTo>
                  <a:lnTo>
                    <a:pt x="124460" y="781214"/>
                  </a:lnTo>
                  <a:cubicBezTo>
                    <a:pt x="88900" y="781214"/>
                    <a:pt x="59690" y="752004"/>
                    <a:pt x="59690" y="716444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2538125" y="59690"/>
                  </a:lnTo>
                  <a:moveTo>
                    <a:pt x="2538125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716444"/>
                  </a:lnTo>
                  <a:cubicBezTo>
                    <a:pt x="0" y="785024"/>
                    <a:pt x="55880" y="840904"/>
                    <a:pt x="124460" y="840904"/>
                  </a:cubicBezTo>
                  <a:lnTo>
                    <a:pt x="2538125" y="840904"/>
                  </a:lnTo>
                  <a:cubicBezTo>
                    <a:pt x="2606705" y="840904"/>
                    <a:pt x="2662585" y="785024"/>
                    <a:pt x="2662585" y="716444"/>
                  </a:cubicBezTo>
                  <a:lnTo>
                    <a:pt x="2662585" y="124460"/>
                  </a:lnTo>
                  <a:cubicBezTo>
                    <a:pt x="2662585" y="55880"/>
                    <a:pt x="2606705" y="0"/>
                    <a:pt x="2538125" y="0"/>
                  </a:cubicBezTo>
                  <a:close/>
                </a:path>
              </a:pathLst>
            </a:custGeom>
            <a:solidFill>
              <a:srgbClr val="0E17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3" name="Google Shape;183;p6"/>
          <p:cNvGrpSpPr/>
          <p:nvPr/>
        </p:nvGrpSpPr>
        <p:grpSpPr>
          <a:xfrm>
            <a:off x="16252174" y="8202221"/>
            <a:ext cx="556769" cy="543956"/>
            <a:chOff x="0" y="0"/>
            <a:chExt cx="860712" cy="840904"/>
          </a:xfrm>
        </p:grpSpPr>
        <p:sp>
          <p:nvSpPr>
            <p:cNvPr id="184" name="Google Shape;184;p6"/>
            <p:cNvSpPr/>
            <p:nvPr/>
          </p:nvSpPr>
          <p:spPr>
            <a:xfrm>
              <a:off x="31750" y="31750"/>
              <a:ext cx="795970" cy="777404"/>
            </a:xfrm>
            <a:custGeom>
              <a:rect b="b" l="l" r="r" t="t"/>
              <a:pathLst>
                <a:path extrusionOk="0" h="777404" w="795970">
                  <a:moveTo>
                    <a:pt x="704502" y="777404"/>
                  </a:moveTo>
                  <a:lnTo>
                    <a:pt x="92710" y="777404"/>
                  </a:lnTo>
                  <a:cubicBezTo>
                    <a:pt x="41910" y="777404"/>
                    <a:pt x="0" y="735494"/>
                    <a:pt x="0" y="684694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703232" y="0"/>
                  </a:lnTo>
                  <a:cubicBezTo>
                    <a:pt x="754032" y="0"/>
                    <a:pt x="795942" y="41910"/>
                    <a:pt x="795942" y="92710"/>
                  </a:cubicBezTo>
                  <a:lnTo>
                    <a:pt x="795942" y="683424"/>
                  </a:lnTo>
                  <a:cubicBezTo>
                    <a:pt x="797212" y="735494"/>
                    <a:pt x="755302" y="777404"/>
                    <a:pt x="704502" y="777404"/>
                  </a:cubicBezTo>
                  <a:close/>
                </a:path>
              </a:pathLst>
            </a:custGeom>
            <a:solidFill>
              <a:srgbClr val="68A97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6"/>
            <p:cNvSpPr/>
            <p:nvPr/>
          </p:nvSpPr>
          <p:spPr>
            <a:xfrm>
              <a:off x="0" y="0"/>
              <a:ext cx="860712" cy="840904"/>
            </a:xfrm>
            <a:custGeom>
              <a:rect b="b" l="l" r="r" t="t"/>
              <a:pathLst>
                <a:path extrusionOk="0" h="840904" w="860712">
                  <a:moveTo>
                    <a:pt x="736252" y="59690"/>
                  </a:moveTo>
                  <a:cubicBezTo>
                    <a:pt x="771812" y="59690"/>
                    <a:pt x="801022" y="88900"/>
                    <a:pt x="801022" y="124460"/>
                  </a:cubicBezTo>
                  <a:lnTo>
                    <a:pt x="801022" y="716444"/>
                  </a:lnTo>
                  <a:cubicBezTo>
                    <a:pt x="801022" y="752004"/>
                    <a:pt x="771812" y="781214"/>
                    <a:pt x="736252" y="781214"/>
                  </a:cubicBezTo>
                  <a:lnTo>
                    <a:pt x="124460" y="781214"/>
                  </a:lnTo>
                  <a:cubicBezTo>
                    <a:pt x="88900" y="781214"/>
                    <a:pt x="59690" y="752004"/>
                    <a:pt x="59690" y="716444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736252" y="59690"/>
                  </a:lnTo>
                  <a:moveTo>
                    <a:pt x="736252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716444"/>
                  </a:lnTo>
                  <a:cubicBezTo>
                    <a:pt x="0" y="785024"/>
                    <a:pt x="55880" y="840904"/>
                    <a:pt x="124460" y="840904"/>
                  </a:cubicBezTo>
                  <a:lnTo>
                    <a:pt x="736252" y="840904"/>
                  </a:lnTo>
                  <a:cubicBezTo>
                    <a:pt x="804832" y="840904"/>
                    <a:pt x="860712" y="785024"/>
                    <a:pt x="860712" y="716444"/>
                  </a:cubicBezTo>
                  <a:lnTo>
                    <a:pt x="860712" y="124460"/>
                  </a:lnTo>
                  <a:cubicBezTo>
                    <a:pt x="860712" y="55880"/>
                    <a:pt x="804832" y="0"/>
                    <a:pt x="736252" y="0"/>
                  </a:cubicBezTo>
                  <a:close/>
                </a:path>
              </a:pathLst>
            </a:custGeom>
            <a:solidFill>
              <a:srgbClr val="0E17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6" name="Google Shape;186;p6"/>
          <p:cNvSpPr/>
          <p:nvPr/>
        </p:nvSpPr>
        <p:spPr>
          <a:xfrm rot="10800000">
            <a:off x="16462124" y="8345850"/>
            <a:ext cx="154661" cy="256699"/>
          </a:xfrm>
          <a:custGeom>
            <a:rect b="b" l="l" r="r" t="t"/>
            <a:pathLst>
              <a:path extrusionOk="0" h="256699" w="154661">
                <a:moveTo>
                  <a:pt x="0" y="0"/>
                </a:moveTo>
                <a:lnTo>
                  <a:pt x="154661" y="0"/>
                </a:lnTo>
                <a:lnTo>
                  <a:pt x="154661" y="256698"/>
                </a:lnTo>
                <a:lnTo>
                  <a:pt x="0" y="2566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7" name="Google Shape;187;p6"/>
          <p:cNvSpPr/>
          <p:nvPr/>
        </p:nvSpPr>
        <p:spPr>
          <a:xfrm>
            <a:off x="13944988" y="1995333"/>
            <a:ext cx="3030921" cy="1631186"/>
          </a:xfrm>
          <a:custGeom>
            <a:rect b="b" l="l" r="r" t="t"/>
            <a:pathLst>
              <a:path extrusionOk="0" h="1631186" w="3030921">
                <a:moveTo>
                  <a:pt x="0" y="0"/>
                </a:moveTo>
                <a:lnTo>
                  <a:pt x="3030920" y="0"/>
                </a:lnTo>
                <a:lnTo>
                  <a:pt x="3030920" y="1631186"/>
                </a:lnTo>
                <a:lnTo>
                  <a:pt x="0" y="16311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8" name="Google Shape;188;p6"/>
          <p:cNvSpPr/>
          <p:nvPr/>
        </p:nvSpPr>
        <p:spPr>
          <a:xfrm>
            <a:off x="1421458" y="7840130"/>
            <a:ext cx="1473349" cy="1784894"/>
          </a:xfrm>
          <a:custGeom>
            <a:rect b="b" l="l" r="r" t="t"/>
            <a:pathLst>
              <a:path extrusionOk="0" h="1784894" w="1473349">
                <a:moveTo>
                  <a:pt x="0" y="0"/>
                </a:moveTo>
                <a:lnTo>
                  <a:pt x="1473349" y="0"/>
                </a:lnTo>
                <a:lnTo>
                  <a:pt x="1473349" y="1784894"/>
                </a:lnTo>
                <a:lnTo>
                  <a:pt x="0" y="17848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9" name="Google Shape;189;p6"/>
          <p:cNvSpPr txBox="1"/>
          <p:nvPr/>
        </p:nvSpPr>
        <p:spPr>
          <a:xfrm>
            <a:off x="1639134" y="1595279"/>
            <a:ext cx="9865528" cy="857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E172C"/>
                </a:solidFill>
                <a:latin typeface="Cairo"/>
                <a:ea typeface="Cairo"/>
                <a:cs typeface="Cairo"/>
                <a:sym typeface="Cairo"/>
              </a:rPr>
              <a:t>Safety Reminders</a:t>
            </a:r>
            <a:endParaRPr/>
          </a:p>
        </p:txBody>
      </p:sp>
      <p:sp>
        <p:nvSpPr>
          <p:cNvPr id="190" name="Google Shape;190;p6"/>
          <p:cNvSpPr txBox="1"/>
          <p:nvPr/>
        </p:nvSpPr>
        <p:spPr>
          <a:xfrm>
            <a:off x="14821560" y="8327514"/>
            <a:ext cx="974236" cy="3028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E172C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NEXT</a:t>
            </a:r>
            <a:endParaRPr/>
          </a:p>
        </p:txBody>
      </p:sp>
      <p:sp>
        <p:nvSpPr>
          <p:cNvPr id="191" name="Google Shape;191;p6"/>
          <p:cNvSpPr txBox="1"/>
          <p:nvPr/>
        </p:nvSpPr>
        <p:spPr>
          <a:xfrm>
            <a:off x="1639134" y="3987476"/>
            <a:ext cx="9865500" cy="34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E172C"/>
                </a:solidFill>
                <a:latin typeface="Cairo"/>
                <a:ea typeface="Cairo"/>
                <a:cs typeface="Cairo"/>
                <a:sym typeface="Cairo"/>
              </a:rPr>
              <a:t>1. </a:t>
            </a:r>
            <a:r>
              <a:rPr b="1" i="0" lang="en-US" sz="2799" u="none" cap="none" strike="noStrike">
                <a:solidFill>
                  <a:srgbClr val="0E172C"/>
                </a:solidFill>
                <a:latin typeface="Cairo"/>
                <a:ea typeface="Cairo"/>
                <a:cs typeface="Cairo"/>
                <a:sym typeface="Cairo"/>
              </a:rPr>
              <a:t>Emergency/Fire Exits</a:t>
            </a:r>
            <a:r>
              <a:rPr b="0" i="0" lang="en-US" sz="2799" u="none" cap="none" strike="noStrike">
                <a:solidFill>
                  <a:srgbClr val="0E172C"/>
                </a:solidFill>
                <a:latin typeface="Cairo"/>
                <a:ea typeface="Cairo"/>
                <a:cs typeface="Cairo"/>
                <a:sym typeface="Cairo"/>
              </a:rPr>
              <a:t>: Emirates Towers Boulevard exits that you'd use to enter the space.</a:t>
            </a:r>
            <a:endParaRPr/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99" u="none" cap="none" strike="noStrike">
              <a:solidFill>
                <a:srgbClr val="0E172C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E172C"/>
                </a:solidFill>
                <a:latin typeface="Cairo"/>
                <a:ea typeface="Cairo"/>
                <a:cs typeface="Cairo"/>
                <a:sym typeface="Cairo"/>
              </a:rPr>
              <a:t>2. </a:t>
            </a:r>
            <a:r>
              <a:rPr b="1" i="0" lang="en-US" sz="2799" u="none" cap="none" strike="noStrike">
                <a:solidFill>
                  <a:srgbClr val="0E172C"/>
                </a:solidFill>
                <a:latin typeface="Cairo"/>
                <a:ea typeface="Cairo"/>
                <a:cs typeface="Cairo"/>
                <a:sym typeface="Cairo"/>
              </a:rPr>
              <a:t>Alert Protocols</a:t>
            </a:r>
            <a:r>
              <a:rPr b="0" i="0" lang="en-US" sz="2799" u="none" cap="none" strike="noStrike">
                <a:solidFill>
                  <a:srgbClr val="0E172C"/>
                </a:solidFill>
                <a:latin typeface="Cairo"/>
                <a:ea typeface="Cairo"/>
                <a:cs typeface="Cairo"/>
                <a:sym typeface="Cairo"/>
              </a:rPr>
              <a:t>: Stay calm, and stay indoors - we have security on the ground that will advise if we need to do anything else.</a:t>
            </a:r>
            <a:r>
              <a:rPr lang="en-US" sz="2799">
                <a:solidFill>
                  <a:srgbClr val="0E172C"/>
                </a:solidFill>
                <a:latin typeface="Cairo"/>
                <a:ea typeface="Cairo"/>
                <a:cs typeface="Cairo"/>
                <a:sym typeface="Cairo"/>
              </a:rPr>
              <a:t> You are safe here :)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6" name="Google Shape;196;p7"/>
          <p:cNvGrpSpPr/>
          <p:nvPr/>
        </p:nvGrpSpPr>
        <p:grpSpPr>
          <a:xfrm>
            <a:off x="1028700" y="905676"/>
            <a:ext cx="16229398" cy="8385287"/>
            <a:chOff x="0" y="0"/>
            <a:chExt cx="24197701" cy="12502291"/>
          </a:xfrm>
        </p:grpSpPr>
        <p:sp>
          <p:nvSpPr>
            <p:cNvPr id="197" name="Google Shape;197;p7"/>
            <p:cNvSpPr/>
            <p:nvPr/>
          </p:nvSpPr>
          <p:spPr>
            <a:xfrm>
              <a:off x="31750" y="31750"/>
              <a:ext cx="24132960" cy="12438791"/>
            </a:xfrm>
            <a:custGeom>
              <a:rect b="b" l="l" r="r" t="t"/>
              <a:pathLst>
                <a:path extrusionOk="0" h="12438791" w="24132960">
                  <a:moveTo>
                    <a:pt x="24041491" y="12438791"/>
                  </a:moveTo>
                  <a:lnTo>
                    <a:pt x="92710" y="12438791"/>
                  </a:lnTo>
                  <a:cubicBezTo>
                    <a:pt x="41910" y="12438791"/>
                    <a:pt x="0" y="12396881"/>
                    <a:pt x="0" y="12346081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24040221" y="0"/>
                  </a:lnTo>
                  <a:cubicBezTo>
                    <a:pt x="24091021" y="0"/>
                    <a:pt x="24132932" y="41910"/>
                    <a:pt x="24132932" y="92710"/>
                  </a:cubicBezTo>
                  <a:lnTo>
                    <a:pt x="24132932" y="12344812"/>
                  </a:lnTo>
                  <a:cubicBezTo>
                    <a:pt x="24134201" y="12396881"/>
                    <a:pt x="24092291" y="12438791"/>
                    <a:pt x="24041491" y="12438791"/>
                  </a:cubicBezTo>
                  <a:close/>
                </a:path>
              </a:pathLst>
            </a:custGeom>
            <a:solidFill>
              <a:srgbClr val="FFFFF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7"/>
            <p:cNvSpPr/>
            <p:nvPr/>
          </p:nvSpPr>
          <p:spPr>
            <a:xfrm>
              <a:off x="0" y="0"/>
              <a:ext cx="24197701" cy="12502291"/>
            </a:xfrm>
            <a:custGeom>
              <a:rect b="b" l="l" r="r" t="t"/>
              <a:pathLst>
                <a:path extrusionOk="0" h="12502291" w="24197701">
                  <a:moveTo>
                    <a:pt x="24073241" y="59690"/>
                  </a:moveTo>
                  <a:cubicBezTo>
                    <a:pt x="24108801" y="59690"/>
                    <a:pt x="24138010" y="88900"/>
                    <a:pt x="24138010" y="124460"/>
                  </a:cubicBezTo>
                  <a:lnTo>
                    <a:pt x="24138010" y="12377831"/>
                  </a:lnTo>
                  <a:cubicBezTo>
                    <a:pt x="24138010" y="12413391"/>
                    <a:pt x="24108801" y="12442601"/>
                    <a:pt x="24073241" y="12442601"/>
                  </a:cubicBezTo>
                  <a:lnTo>
                    <a:pt x="124460" y="12442601"/>
                  </a:lnTo>
                  <a:cubicBezTo>
                    <a:pt x="88900" y="12442601"/>
                    <a:pt x="59690" y="12413391"/>
                    <a:pt x="59690" y="1237783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24073241" y="59690"/>
                  </a:lnTo>
                  <a:moveTo>
                    <a:pt x="2407324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2377831"/>
                  </a:lnTo>
                  <a:cubicBezTo>
                    <a:pt x="0" y="12446412"/>
                    <a:pt x="55880" y="12502291"/>
                    <a:pt x="124460" y="12502291"/>
                  </a:cubicBezTo>
                  <a:lnTo>
                    <a:pt x="24073241" y="12502291"/>
                  </a:lnTo>
                  <a:cubicBezTo>
                    <a:pt x="24141821" y="12502291"/>
                    <a:pt x="24197701" y="12446412"/>
                    <a:pt x="24197701" y="12377831"/>
                  </a:cubicBezTo>
                  <a:lnTo>
                    <a:pt x="24197701" y="124460"/>
                  </a:lnTo>
                  <a:cubicBezTo>
                    <a:pt x="24197701" y="55880"/>
                    <a:pt x="24141821" y="0"/>
                    <a:pt x="24073241" y="0"/>
                  </a:cubicBezTo>
                  <a:close/>
                </a:path>
              </a:pathLst>
            </a:custGeom>
            <a:solidFill>
              <a:srgbClr val="0E17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99" name="Google Shape;199;p7"/>
          <p:cNvCxnSpPr/>
          <p:nvPr/>
        </p:nvCxnSpPr>
        <p:spPr>
          <a:xfrm>
            <a:off x="1639134" y="2879694"/>
            <a:ext cx="15169809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00" name="Google Shape;200;p7"/>
          <p:cNvGrpSpPr/>
          <p:nvPr/>
        </p:nvGrpSpPr>
        <p:grpSpPr>
          <a:xfrm>
            <a:off x="14447504" y="8202221"/>
            <a:ext cx="1722347" cy="543956"/>
            <a:chOff x="0" y="0"/>
            <a:chExt cx="2662585" cy="840904"/>
          </a:xfrm>
        </p:grpSpPr>
        <p:sp>
          <p:nvSpPr>
            <p:cNvPr id="201" name="Google Shape;201;p7"/>
            <p:cNvSpPr/>
            <p:nvPr/>
          </p:nvSpPr>
          <p:spPr>
            <a:xfrm>
              <a:off x="31750" y="31750"/>
              <a:ext cx="2597843" cy="777404"/>
            </a:xfrm>
            <a:custGeom>
              <a:rect b="b" l="l" r="r" t="t"/>
              <a:pathLst>
                <a:path extrusionOk="0" h="777404" w="2597843">
                  <a:moveTo>
                    <a:pt x="2506375" y="777404"/>
                  </a:moveTo>
                  <a:lnTo>
                    <a:pt x="92710" y="777404"/>
                  </a:lnTo>
                  <a:cubicBezTo>
                    <a:pt x="41910" y="777404"/>
                    <a:pt x="0" y="735494"/>
                    <a:pt x="0" y="684694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2505105" y="0"/>
                  </a:lnTo>
                  <a:cubicBezTo>
                    <a:pt x="2555905" y="0"/>
                    <a:pt x="2597815" y="41910"/>
                    <a:pt x="2597815" y="92710"/>
                  </a:cubicBezTo>
                  <a:lnTo>
                    <a:pt x="2597815" y="683424"/>
                  </a:lnTo>
                  <a:cubicBezTo>
                    <a:pt x="2599085" y="735494"/>
                    <a:pt x="2557175" y="777404"/>
                    <a:pt x="2506375" y="777404"/>
                  </a:cubicBezTo>
                  <a:close/>
                </a:path>
              </a:pathLst>
            </a:custGeom>
            <a:solidFill>
              <a:srgbClr val="F0B7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7"/>
            <p:cNvSpPr/>
            <p:nvPr/>
          </p:nvSpPr>
          <p:spPr>
            <a:xfrm>
              <a:off x="0" y="0"/>
              <a:ext cx="2662585" cy="840904"/>
            </a:xfrm>
            <a:custGeom>
              <a:rect b="b" l="l" r="r" t="t"/>
              <a:pathLst>
                <a:path extrusionOk="0" h="840904" w="2662585">
                  <a:moveTo>
                    <a:pt x="2538125" y="59690"/>
                  </a:moveTo>
                  <a:cubicBezTo>
                    <a:pt x="2573685" y="59690"/>
                    <a:pt x="2602895" y="88900"/>
                    <a:pt x="2602895" y="124460"/>
                  </a:cubicBezTo>
                  <a:lnTo>
                    <a:pt x="2602895" y="716444"/>
                  </a:lnTo>
                  <a:cubicBezTo>
                    <a:pt x="2602895" y="752004"/>
                    <a:pt x="2573685" y="781214"/>
                    <a:pt x="2538125" y="781214"/>
                  </a:cubicBezTo>
                  <a:lnTo>
                    <a:pt x="124460" y="781214"/>
                  </a:lnTo>
                  <a:cubicBezTo>
                    <a:pt x="88900" y="781214"/>
                    <a:pt x="59690" y="752004"/>
                    <a:pt x="59690" y="716444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2538125" y="59690"/>
                  </a:lnTo>
                  <a:moveTo>
                    <a:pt x="2538125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716444"/>
                  </a:lnTo>
                  <a:cubicBezTo>
                    <a:pt x="0" y="785024"/>
                    <a:pt x="55880" y="840904"/>
                    <a:pt x="124460" y="840904"/>
                  </a:cubicBezTo>
                  <a:lnTo>
                    <a:pt x="2538125" y="840904"/>
                  </a:lnTo>
                  <a:cubicBezTo>
                    <a:pt x="2606705" y="840904"/>
                    <a:pt x="2662585" y="785024"/>
                    <a:pt x="2662585" y="716444"/>
                  </a:cubicBezTo>
                  <a:lnTo>
                    <a:pt x="2662585" y="124460"/>
                  </a:lnTo>
                  <a:cubicBezTo>
                    <a:pt x="2662585" y="55880"/>
                    <a:pt x="2606705" y="0"/>
                    <a:pt x="2538125" y="0"/>
                  </a:cubicBezTo>
                  <a:close/>
                </a:path>
              </a:pathLst>
            </a:custGeom>
            <a:solidFill>
              <a:srgbClr val="0E17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3" name="Google Shape;203;p7"/>
          <p:cNvGrpSpPr/>
          <p:nvPr/>
        </p:nvGrpSpPr>
        <p:grpSpPr>
          <a:xfrm>
            <a:off x="16252174" y="8202221"/>
            <a:ext cx="556769" cy="543956"/>
            <a:chOff x="0" y="0"/>
            <a:chExt cx="860712" cy="840904"/>
          </a:xfrm>
        </p:grpSpPr>
        <p:sp>
          <p:nvSpPr>
            <p:cNvPr id="204" name="Google Shape;204;p7"/>
            <p:cNvSpPr/>
            <p:nvPr/>
          </p:nvSpPr>
          <p:spPr>
            <a:xfrm>
              <a:off x="31750" y="31750"/>
              <a:ext cx="795970" cy="777404"/>
            </a:xfrm>
            <a:custGeom>
              <a:rect b="b" l="l" r="r" t="t"/>
              <a:pathLst>
                <a:path extrusionOk="0" h="777404" w="795970">
                  <a:moveTo>
                    <a:pt x="704502" y="777404"/>
                  </a:moveTo>
                  <a:lnTo>
                    <a:pt x="92710" y="777404"/>
                  </a:lnTo>
                  <a:cubicBezTo>
                    <a:pt x="41910" y="777404"/>
                    <a:pt x="0" y="735494"/>
                    <a:pt x="0" y="684694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703232" y="0"/>
                  </a:lnTo>
                  <a:cubicBezTo>
                    <a:pt x="754032" y="0"/>
                    <a:pt x="795942" y="41910"/>
                    <a:pt x="795942" y="92710"/>
                  </a:cubicBezTo>
                  <a:lnTo>
                    <a:pt x="795942" y="683424"/>
                  </a:lnTo>
                  <a:cubicBezTo>
                    <a:pt x="797212" y="735494"/>
                    <a:pt x="755302" y="777404"/>
                    <a:pt x="704502" y="777404"/>
                  </a:cubicBezTo>
                  <a:close/>
                </a:path>
              </a:pathLst>
            </a:custGeom>
            <a:solidFill>
              <a:srgbClr val="68A97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7"/>
            <p:cNvSpPr/>
            <p:nvPr/>
          </p:nvSpPr>
          <p:spPr>
            <a:xfrm>
              <a:off x="0" y="0"/>
              <a:ext cx="860712" cy="840904"/>
            </a:xfrm>
            <a:custGeom>
              <a:rect b="b" l="l" r="r" t="t"/>
              <a:pathLst>
                <a:path extrusionOk="0" h="840904" w="860712">
                  <a:moveTo>
                    <a:pt x="736252" y="59690"/>
                  </a:moveTo>
                  <a:cubicBezTo>
                    <a:pt x="771812" y="59690"/>
                    <a:pt x="801022" y="88900"/>
                    <a:pt x="801022" y="124460"/>
                  </a:cubicBezTo>
                  <a:lnTo>
                    <a:pt x="801022" y="716444"/>
                  </a:lnTo>
                  <a:cubicBezTo>
                    <a:pt x="801022" y="752004"/>
                    <a:pt x="771812" y="781214"/>
                    <a:pt x="736252" y="781214"/>
                  </a:cubicBezTo>
                  <a:lnTo>
                    <a:pt x="124460" y="781214"/>
                  </a:lnTo>
                  <a:cubicBezTo>
                    <a:pt x="88900" y="781214"/>
                    <a:pt x="59690" y="752004"/>
                    <a:pt x="59690" y="716444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736252" y="59690"/>
                  </a:lnTo>
                  <a:moveTo>
                    <a:pt x="736252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716444"/>
                  </a:lnTo>
                  <a:cubicBezTo>
                    <a:pt x="0" y="785024"/>
                    <a:pt x="55880" y="840904"/>
                    <a:pt x="124460" y="840904"/>
                  </a:cubicBezTo>
                  <a:lnTo>
                    <a:pt x="736252" y="840904"/>
                  </a:lnTo>
                  <a:cubicBezTo>
                    <a:pt x="804832" y="840904"/>
                    <a:pt x="860712" y="785024"/>
                    <a:pt x="860712" y="716444"/>
                  </a:cubicBezTo>
                  <a:lnTo>
                    <a:pt x="860712" y="124460"/>
                  </a:lnTo>
                  <a:cubicBezTo>
                    <a:pt x="860712" y="55880"/>
                    <a:pt x="804832" y="0"/>
                    <a:pt x="736252" y="0"/>
                  </a:cubicBezTo>
                  <a:close/>
                </a:path>
              </a:pathLst>
            </a:custGeom>
            <a:solidFill>
              <a:srgbClr val="0E17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6" name="Google Shape;206;p7"/>
          <p:cNvSpPr/>
          <p:nvPr/>
        </p:nvSpPr>
        <p:spPr>
          <a:xfrm rot="10800000">
            <a:off x="16462124" y="8345850"/>
            <a:ext cx="154661" cy="256699"/>
          </a:xfrm>
          <a:custGeom>
            <a:rect b="b" l="l" r="r" t="t"/>
            <a:pathLst>
              <a:path extrusionOk="0" h="256699" w="154661">
                <a:moveTo>
                  <a:pt x="0" y="0"/>
                </a:moveTo>
                <a:lnTo>
                  <a:pt x="154661" y="0"/>
                </a:lnTo>
                <a:lnTo>
                  <a:pt x="154661" y="256698"/>
                </a:lnTo>
                <a:lnTo>
                  <a:pt x="0" y="2566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7" name="Google Shape;207;p7"/>
          <p:cNvSpPr txBox="1"/>
          <p:nvPr/>
        </p:nvSpPr>
        <p:spPr>
          <a:xfrm>
            <a:off x="1639124" y="3119350"/>
            <a:ext cx="12726000" cy="50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E172C"/>
                </a:solidFill>
                <a:latin typeface="Cairo"/>
                <a:ea typeface="Cairo"/>
                <a:cs typeface="Cairo"/>
                <a:sym typeface="Cairo"/>
              </a:rPr>
              <a:t>6:00 PM - 7:10 PM: </a:t>
            </a:r>
            <a:r>
              <a:rPr b="0" i="0" lang="en-US" sz="2000" u="none" cap="none" strike="noStrike">
                <a:solidFill>
                  <a:srgbClr val="0E172C"/>
                </a:solidFill>
                <a:latin typeface="Cairo"/>
                <a:ea typeface="Cairo"/>
                <a:cs typeface="Cairo"/>
                <a:sym typeface="Cairo"/>
              </a:rPr>
              <a:t>Welcome, Iftar, and Networking </a:t>
            </a:r>
            <a:endParaRPr sz="2000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E172C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E172C"/>
                </a:solidFill>
                <a:latin typeface="Cairo"/>
                <a:ea typeface="Cairo"/>
                <a:cs typeface="Cairo"/>
                <a:sym typeface="Cairo"/>
              </a:rPr>
              <a:t>7:15 PM - 7:30 PM: </a:t>
            </a:r>
            <a:r>
              <a:rPr b="0" i="0" lang="en-US" sz="2000" u="none" cap="none" strike="noStrike">
                <a:solidFill>
                  <a:srgbClr val="0E172C"/>
                </a:solidFill>
                <a:latin typeface="Cairo"/>
                <a:ea typeface="Cairo"/>
                <a:cs typeface="Cairo"/>
                <a:sym typeface="Cairo"/>
              </a:rPr>
              <a:t>Introductions</a:t>
            </a:r>
            <a:r>
              <a:rPr b="1" i="0" lang="en-US" sz="2000" u="none" cap="none" strike="noStrike">
                <a:solidFill>
                  <a:srgbClr val="0E172C"/>
                </a:solidFill>
                <a:latin typeface="Cairo"/>
                <a:ea typeface="Cairo"/>
                <a:cs typeface="Cairo"/>
                <a:sym typeface="Cairo"/>
              </a:rPr>
              <a:t> by WiTDXB, AI Safety UAE, and Nebius </a:t>
            </a:r>
            <a:endParaRPr sz="2000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E172C"/>
                </a:solidFill>
                <a:latin typeface="Cairo"/>
                <a:ea typeface="Cairo"/>
                <a:cs typeface="Cairo"/>
                <a:sym typeface="Cairo"/>
              </a:rPr>
              <a:t>7:30-7:40 PM: </a:t>
            </a:r>
            <a:r>
              <a:rPr b="0" i="0" lang="en-US" sz="2000" u="none" cap="none" strike="noStrike">
                <a:solidFill>
                  <a:srgbClr val="0E172C"/>
                </a:solidFill>
                <a:latin typeface="Cairo"/>
                <a:ea typeface="Cairo"/>
                <a:cs typeface="Cairo"/>
                <a:sym typeface="Cairo"/>
              </a:rPr>
              <a:t>Designing Digital Autonomy by </a:t>
            </a:r>
            <a:r>
              <a:rPr b="1" i="0" lang="en-US" sz="2000" u="none" cap="none" strike="noStrike">
                <a:solidFill>
                  <a:srgbClr val="0E172C"/>
                </a:solidFill>
                <a:latin typeface="Cairo"/>
                <a:ea typeface="Cairo"/>
                <a:cs typeface="Cairo"/>
                <a:sym typeface="Cairo"/>
              </a:rPr>
              <a:t>Mumtaz Kynaston-Pearson</a:t>
            </a:r>
            <a:r>
              <a:rPr b="0" i="0" lang="en-US" sz="2000" u="none" cap="none" strike="noStrike">
                <a:solidFill>
                  <a:srgbClr val="0E172C"/>
                </a:solidFill>
                <a:latin typeface="Cairo"/>
                <a:ea typeface="Cairo"/>
                <a:cs typeface="Cairo"/>
                <a:sym typeface="Cairo"/>
              </a:rPr>
              <a:t>  </a:t>
            </a:r>
            <a:endParaRPr sz="2000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E172C"/>
                </a:solidFill>
                <a:latin typeface="Cairo"/>
                <a:ea typeface="Cairo"/>
                <a:cs typeface="Cairo"/>
                <a:sym typeface="Cairo"/>
              </a:rPr>
              <a:t>7:40-7:50 PM: </a:t>
            </a:r>
            <a:r>
              <a:rPr b="0" i="0" lang="en-US" sz="2000" u="none" cap="none" strike="noStrike">
                <a:solidFill>
                  <a:srgbClr val="0E172C"/>
                </a:solidFill>
                <a:latin typeface="Cairo"/>
                <a:ea typeface="Cairo"/>
                <a:cs typeface="Cairo"/>
                <a:sym typeface="Cairo"/>
              </a:rPr>
              <a:t>AI Risk Threshold Analyzer by </a:t>
            </a:r>
            <a:r>
              <a:rPr b="1" i="0" lang="en-US" sz="2000" u="none" cap="none" strike="noStrike">
                <a:solidFill>
                  <a:srgbClr val="0E172C"/>
                </a:solidFill>
                <a:latin typeface="Cairo"/>
                <a:ea typeface="Cairo"/>
                <a:cs typeface="Cairo"/>
                <a:sym typeface="Cairo"/>
              </a:rPr>
              <a:t>Swaleha Parveen</a:t>
            </a:r>
            <a:endParaRPr sz="2000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E172C"/>
                </a:solidFill>
                <a:latin typeface="Cairo"/>
                <a:ea typeface="Cairo"/>
                <a:cs typeface="Cairo"/>
                <a:sym typeface="Cairo"/>
              </a:rPr>
              <a:t>7:50-8:00 PM: </a:t>
            </a:r>
            <a:r>
              <a:rPr b="0" i="0" lang="en-US" sz="2000" u="none" cap="none" strike="noStrike">
                <a:solidFill>
                  <a:srgbClr val="0E172C"/>
                </a:solidFill>
                <a:latin typeface="Cairo"/>
                <a:ea typeface="Cairo"/>
                <a:cs typeface="Cairo"/>
                <a:sym typeface="Cairo"/>
              </a:rPr>
              <a:t>Trust &amp; Disinformation on Social Media  by </a:t>
            </a:r>
            <a:r>
              <a:rPr b="1" i="0" lang="en-US" sz="2000" u="none" cap="none" strike="noStrike">
                <a:solidFill>
                  <a:srgbClr val="0E172C"/>
                </a:solidFill>
                <a:latin typeface="Cairo"/>
                <a:ea typeface="Cairo"/>
                <a:cs typeface="Cairo"/>
                <a:sym typeface="Cairo"/>
              </a:rPr>
              <a:t>Raheeza Khan &amp; Divya Unnikrishnan  </a:t>
            </a:r>
            <a:endParaRPr sz="2000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E172C"/>
                </a:solidFill>
                <a:latin typeface="Cairo"/>
                <a:ea typeface="Cairo"/>
                <a:cs typeface="Cairo"/>
                <a:sym typeface="Cairo"/>
              </a:rPr>
              <a:t>8:00-8:10 PM: </a:t>
            </a:r>
            <a:r>
              <a:rPr b="0" i="0" lang="en-US" sz="2000" u="none" cap="none" strike="noStrike">
                <a:solidFill>
                  <a:srgbClr val="0E172C"/>
                </a:solidFill>
                <a:latin typeface="Cairo"/>
                <a:ea typeface="Cairo"/>
                <a:cs typeface="Cairo"/>
                <a:sym typeface="Cairo"/>
              </a:rPr>
              <a:t>Safety-by-Design in Healthcare AI by </a:t>
            </a:r>
            <a:r>
              <a:rPr b="1" i="0" lang="en-US" sz="2000" u="none" cap="none" strike="noStrike">
                <a:solidFill>
                  <a:srgbClr val="0E172C"/>
                </a:solidFill>
                <a:latin typeface="Cairo"/>
                <a:ea typeface="Cairo"/>
                <a:cs typeface="Cairo"/>
                <a:sym typeface="Cairo"/>
              </a:rPr>
              <a:t>Maria Tepegjozova  </a:t>
            </a:r>
            <a:endParaRPr sz="2000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E172C"/>
                </a:solidFill>
                <a:latin typeface="Cairo"/>
                <a:ea typeface="Cairo"/>
                <a:cs typeface="Cairo"/>
                <a:sym typeface="Cairo"/>
              </a:rPr>
              <a:t>8:10-8:20 PM: </a:t>
            </a:r>
            <a:r>
              <a:rPr b="0" i="0" lang="en-US" sz="2000" u="none" cap="none" strike="noStrike">
                <a:solidFill>
                  <a:srgbClr val="0E172C"/>
                </a:solidFill>
                <a:latin typeface="Cairo"/>
                <a:ea typeface="Cairo"/>
                <a:cs typeface="Cairo"/>
                <a:sym typeface="Cairo"/>
              </a:rPr>
              <a:t>Making AI Governance Work by </a:t>
            </a:r>
            <a:r>
              <a:rPr b="1" i="0" lang="en-US" sz="2000" u="none" cap="none" strike="noStrike">
                <a:solidFill>
                  <a:srgbClr val="0E172C"/>
                </a:solidFill>
                <a:latin typeface="Cairo"/>
                <a:ea typeface="Cairo"/>
                <a:cs typeface="Cairo"/>
                <a:sym typeface="Cairo"/>
              </a:rPr>
              <a:t>Eva Mathur</a:t>
            </a:r>
            <a:r>
              <a:rPr b="0" i="0" lang="en-US" sz="2000" u="none" cap="none" strike="noStrike">
                <a:solidFill>
                  <a:srgbClr val="0E172C"/>
                </a:solidFill>
                <a:latin typeface="Cairo"/>
                <a:ea typeface="Cairo"/>
                <a:cs typeface="Cairo"/>
                <a:sym typeface="Cairo"/>
              </a:rPr>
              <a:t>  </a:t>
            </a:r>
            <a:endParaRPr sz="2000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E172C"/>
                </a:solidFill>
                <a:latin typeface="Cairo"/>
                <a:ea typeface="Cairo"/>
                <a:cs typeface="Cairo"/>
                <a:sym typeface="Cairo"/>
              </a:rPr>
              <a:t>8:20-8:30 PM: </a:t>
            </a:r>
            <a:r>
              <a:rPr b="0" i="0" lang="en-US" sz="2000" u="none" cap="none" strike="noStrike">
                <a:solidFill>
                  <a:srgbClr val="0E172C"/>
                </a:solidFill>
                <a:latin typeface="Cairo"/>
                <a:ea typeface="Cairo"/>
                <a:cs typeface="Cairo"/>
                <a:sym typeface="Cairo"/>
              </a:rPr>
              <a:t>Operationalising AI Governance in UAE  by </a:t>
            </a:r>
            <a:r>
              <a:rPr b="1" i="0" lang="en-US" sz="2000" u="none" cap="none" strike="noStrike">
                <a:solidFill>
                  <a:srgbClr val="0E172C"/>
                </a:solidFill>
                <a:latin typeface="Cairo"/>
                <a:ea typeface="Cairo"/>
                <a:cs typeface="Cairo"/>
                <a:sym typeface="Cairo"/>
              </a:rPr>
              <a:t>Madhumita Bose</a:t>
            </a:r>
            <a:endParaRPr sz="2000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E172C"/>
                </a:solidFill>
                <a:latin typeface="Cairo"/>
                <a:ea typeface="Cairo"/>
                <a:cs typeface="Cairo"/>
                <a:sym typeface="Cairo"/>
              </a:rPr>
              <a:t>  </a:t>
            </a:r>
            <a:endParaRPr sz="2000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E172C"/>
                </a:solidFill>
                <a:latin typeface="Cairo"/>
                <a:ea typeface="Cairo"/>
                <a:cs typeface="Cairo"/>
                <a:sym typeface="Cairo"/>
              </a:rPr>
              <a:t>8:30 PM - 8:40 PM: </a:t>
            </a:r>
            <a:r>
              <a:rPr b="0" i="0" lang="en-US" sz="2000" u="none" cap="none" strike="noStrike">
                <a:solidFill>
                  <a:srgbClr val="0E172C"/>
                </a:solidFill>
                <a:latin typeface="Cairo"/>
                <a:ea typeface="Cairo"/>
                <a:cs typeface="Cairo"/>
                <a:sym typeface="Cairo"/>
              </a:rPr>
              <a:t>Consolidated Q&amp;A Session  </a:t>
            </a:r>
            <a:endParaRPr sz="2000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E172C"/>
                </a:solidFill>
                <a:latin typeface="Cairo"/>
                <a:ea typeface="Cairo"/>
                <a:cs typeface="Cairo"/>
                <a:sym typeface="Cairo"/>
              </a:rPr>
              <a:t>8:40 PM - 9:00 PM: </a:t>
            </a:r>
            <a:r>
              <a:rPr b="0" i="0" lang="en-US" sz="2000" u="none" cap="none" strike="noStrike">
                <a:solidFill>
                  <a:srgbClr val="0E172C"/>
                </a:solidFill>
                <a:latin typeface="Cairo"/>
                <a:ea typeface="Cairo"/>
                <a:cs typeface="Cairo"/>
                <a:sym typeface="Cairo"/>
              </a:rPr>
              <a:t>Closing &amp; Networking</a:t>
            </a:r>
            <a:endParaRPr sz="2000"/>
          </a:p>
        </p:txBody>
      </p:sp>
      <p:sp>
        <p:nvSpPr>
          <p:cNvPr id="208" name="Google Shape;208;p7"/>
          <p:cNvSpPr txBox="1"/>
          <p:nvPr/>
        </p:nvSpPr>
        <p:spPr>
          <a:xfrm>
            <a:off x="1639134" y="1610837"/>
            <a:ext cx="9865528" cy="8261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800" u="none" cap="none" strike="noStrike">
                <a:solidFill>
                  <a:srgbClr val="0E172C"/>
                </a:solidFill>
                <a:latin typeface="Cairo"/>
                <a:ea typeface="Cairo"/>
                <a:cs typeface="Cairo"/>
                <a:sym typeface="Cairo"/>
              </a:rPr>
              <a:t>Agenda</a:t>
            </a:r>
            <a:endParaRPr/>
          </a:p>
        </p:txBody>
      </p:sp>
      <p:sp>
        <p:nvSpPr>
          <p:cNvPr id="209" name="Google Shape;209;p7"/>
          <p:cNvSpPr txBox="1"/>
          <p:nvPr/>
        </p:nvSpPr>
        <p:spPr>
          <a:xfrm>
            <a:off x="14821560" y="8327514"/>
            <a:ext cx="974236" cy="3028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E172C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NEXT</a:t>
            </a:r>
            <a:endParaRPr/>
          </a:p>
        </p:txBody>
      </p:sp>
      <p:sp>
        <p:nvSpPr>
          <p:cNvPr id="210" name="Google Shape;210;p7"/>
          <p:cNvSpPr/>
          <p:nvPr/>
        </p:nvSpPr>
        <p:spPr>
          <a:xfrm>
            <a:off x="10540577" y="2187258"/>
            <a:ext cx="2597785" cy="1681475"/>
          </a:xfrm>
          <a:custGeom>
            <a:rect b="b" l="l" r="r" t="t"/>
            <a:pathLst>
              <a:path extrusionOk="0" h="1681475" w="2597785">
                <a:moveTo>
                  <a:pt x="0" y="0"/>
                </a:moveTo>
                <a:lnTo>
                  <a:pt x="2597785" y="0"/>
                </a:lnTo>
                <a:lnTo>
                  <a:pt x="2597785" y="1681475"/>
                </a:lnTo>
                <a:lnTo>
                  <a:pt x="0" y="16814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1" name="Google Shape;211;p7"/>
          <p:cNvSpPr txBox="1"/>
          <p:nvPr/>
        </p:nvSpPr>
        <p:spPr>
          <a:xfrm>
            <a:off x="14447500" y="1470350"/>
            <a:ext cx="23616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E172C"/>
                </a:solidFill>
                <a:latin typeface="Cairo"/>
                <a:ea typeface="Cairo"/>
                <a:cs typeface="Cairo"/>
                <a:sym typeface="Cairo"/>
              </a:rPr>
              <a:t>🌙  Prayer Times</a:t>
            </a:r>
            <a:endParaRPr b="1" sz="2000">
              <a:solidFill>
                <a:srgbClr val="0E172C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E172C"/>
                </a:solidFill>
                <a:latin typeface="Cairo"/>
                <a:ea typeface="Cairo"/>
                <a:cs typeface="Cairo"/>
                <a:sym typeface="Cairo"/>
              </a:rPr>
              <a:t>6:31pm - </a:t>
            </a:r>
            <a:r>
              <a:rPr lang="en-US" sz="2000">
                <a:solidFill>
                  <a:srgbClr val="0E172C"/>
                </a:solidFill>
                <a:latin typeface="Cairo"/>
                <a:ea typeface="Cairo"/>
                <a:cs typeface="Cairo"/>
                <a:sym typeface="Cairo"/>
              </a:rPr>
              <a:t>Maghrib</a:t>
            </a:r>
            <a:endParaRPr sz="2000">
              <a:solidFill>
                <a:srgbClr val="0E172C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E172C"/>
                </a:solidFill>
                <a:latin typeface="Cairo"/>
                <a:ea typeface="Cairo"/>
                <a:cs typeface="Cairo"/>
                <a:sym typeface="Cairo"/>
              </a:rPr>
              <a:t>7:44pm - </a:t>
            </a:r>
            <a:r>
              <a:rPr lang="en-US" sz="2000">
                <a:solidFill>
                  <a:srgbClr val="0E172C"/>
                </a:solidFill>
                <a:latin typeface="Cairo"/>
                <a:ea typeface="Cairo"/>
                <a:cs typeface="Cairo"/>
                <a:sym typeface="Cairo"/>
              </a:rPr>
              <a:t>Isha</a:t>
            </a:r>
            <a:endParaRPr sz="2000">
              <a:solidFill>
                <a:srgbClr val="0E172C"/>
              </a:solidFill>
              <a:latin typeface="Cairo"/>
              <a:ea typeface="Cairo"/>
              <a:cs typeface="Cairo"/>
              <a:sym typeface="Cair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" name="Google Shape;216;p8"/>
          <p:cNvGrpSpPr/>
          <p:nvPr/>
        </p:nvGrpSpPr>
        <p:grpSpPr>
          <a:xfrm>
            <a:off x="1028700" y="1632977"/>
            <a:ext cx="16230190" cy="6612570"/>
            <a:chOff x="0" y="0"/>
            <a:chExt cx="17448065" cy="7108762"/>
          </a:xfrm>
        </p:grpSpPr>
        <p:sp>
          <p:nvSpPr>
            <p:cNvPr id="217" name="Google Shape;217;p8"/>
            <p:cNvSpPr/>
            <p:nvPr/>
          </p:nvSpPr>
          <p:spPr>
            <a:xfrm>
              <a:off x="31750" y="31750"/>
              <a:ext cx="17383324" cy="7045261"/>
            </a:xfrm>
            <a:custGeom>
              <a:rect b="b" l="l" r="r" t="t"/>
              <a:pathLst>
                <a:path extrusionOk="0" h="7045261" w="17383324">
                  <a:moveTo>
                    <a:pt x="17291855" y="7045261"/>
                  </a:moveTo>
                  <a:lnTo>
                    <a:pt x="92710" y="7045261"/>
                  </a:lnTo>
                  <a:cubicBezTo>
                    <a:pt x="41910" y="7045261"/>
                    <a:pt x="0" y="7003352"/>
                    <a:pt x="0" y="6952552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290585" y="0"/>
                  </a:lnTo>
                  <a:cubicBezTo>
                    <a:pt x="17341385" y="0"/>
                    <a:pt x="17383296" y="41910"/>
                    <a:pt x="17383296" y="92710"/>
                  </a:cubicBezTo>
                  <a:lnTo>
                    <a:pt x="17383296" y="6951282"/>
                  </a:lnTo>
                  <a:cubicBezTo>
                    <a:pt x="17384565" y="7003352"/>
                    <a:pt x="17342655" y="7045261"/>
                    <a:pt x="17291855" y="7045261"/>
                  </a:cubicBezTo>
                  <a:close/>
                </a:path>
              </a:pathLst>
            </a:custGeom>
            <a:solidFill>
              <a:srgbClr val="FFFFF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8"/>
            <p:cNvSpPr/>
            <p:nvPr/>
          </p:nvSpPr>
          <p:spPr>
            <a:xfrm>
              <a:off x="0" y="0"/>
              <a:ext cx="17448065" cy="7108762"/>
            </a:xfrm>
            <a:custGeom>
              <a:rect b="b" l="l" r="r" t="t"/>
              <a:pathLst>
                <a:path extrusionOk="0" h="7108762" w="17448065">
                  <a:moveTo>
                    <a:pt x="17323605" y="59690"/>
                  </a:moveTo>
                  <a:cubicBezTo>
                    <a:pt x="17359165" y="59690"/>
                    <a:pt x="17388374" y="88900"/>
                    <a:pt x="17388374" y="124460"/>
                  </a:cubicBezTo>
                  <a:lnTo>
                    <a:pt x="17388374" y="6984302"/>
                  </a:lnTo>
                  <a:cubicBezTo>
                    <a:pt x="17388374" y="7019862"/>
                    <a:pt x="17359165" y="7049072"/>
                    <a:pt x="17323605" y="7049072"/>
                  </a:cubicBezTo>
                  <a:lnTo>
                    <a:pt x="124460" y="7049072"/>
                  </a:lnTo>
                  <a:cubicBezTo>
                    <a:pt x="88900" y="7049072"/>
                    <a:pt x="59690" y="7019862"/>
                    <a:pt x="59690" y="698430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323605" y="59690"/>
                  </a:lnTo>
                  <a:moveTo>
                    <a:pt x="17323605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6984302"/>
                  </a:lnTo>
                  <a:cubicBezTo>
                    <a:pt x="0" y="7052882"/>
                    <a:pt x="55880" y="7108762"/>
                    <a:pt x="124460" y="7108762"/>
                  </a:cubicBezTo>
                  <a:lnTo>
                    <a:pt x="17323605" y="7108762"/>
                  </a:lnTo>
                  <a:cubicBezTo>
                    <a:pt x="17392185" y="7108762"/>
                    <a:pt x="17448065" y="7052882"/>
                    <a:pt x="17448065" y="6984302"/>
                  </a:cubicBezTo>
                  <a:lnTo>
                    <a:pt x="17448065" y="124460"/>
                  </a:lnTo>
                  <a:cubicBezTo>
                    <a:pt x="17448065" y="55880"/>
                    <a:pt x="17392185" y="0"/>
                    <a:pt x="17323605" y="0"/>
                  </a:cubicBezTo>
                  <a:close/>
                </a:path>
              </a:pathLst>
            </a:custGeom>
            <a:solidFill>
              <a:srgbClr val="0E17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9" name="Google Shape;219;p8"/>
          <p:cNvGrpSpPr/>
          <p:nvPr/>
        </p:nvGrpSpPr>
        <p:grpSpPr>
          <a:xfrm>
            <a:off x="16444837" y="1885847"/>
            <a:ext cx="496402" cy="485134"/>
            <a:chOff x="0" y="0"/>
            <a:chExt cx="675739" cy="660400"/>
          </a:xfrm>
        </p:grpSpPr>
        <p:sp>
          <p:nvSpPr>
            <p:cNvPr id="220" name="Google Shape;220;p8"/>
            <p:cNvSpPr/>
            <p:nvPr/>
          </p:nvSpPr>
          <p:spPr>
            <a:xfrm>
              <a:off x="31750" y="31750"/>
              <a:ext cx="610997" cy="596900"/>
            </a:xfrm>
            <a:custGeom>
              <a:rect b="b" l="l" r="r" t="t"/>
              <a:pathLst>
                <a:path extrusionOk="0" h="596900" w="610997">
                  <a:moveTo>
                    <a:pt x="519529" y="596900"/>
                  </a:moveTo>
                  <a:lnTo>
                    <a:pt x="92710" y="596900"/>
                  </a:lnTo>
                  <a:cubicBezTo>
                    <a:pt x="41910" y="596900"/>
                    <a:pt x="0" y="554990"/>
                    <a:pt x="0" y="504190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518259" y="0"/>
                  </a:lnTo>
                  <a:cubicBezTo>
                    <a:pt x="569059" y="0"/>
                    <a:pt x="610969" y="41910"/>
                    <a:pt x="610969" y="92710"/>
                  </a:cubicBezTo>
                  <a:lnTo>
                    <a:pt x="610969" y="502920"/>
                  </a:lnTo>
                  <a:cubicBezTo>
                    <a:pt x="612239" y="554990"/>
                    <a:pt x="570329" y="596900"/>
                    <a:pt x="519529" y="596900"/>
                  </a:cubicBezTo>
                  <a:close/>
                </a:path>
              </a:pathLst>
            </a:custGeom>
            <a:solidFill>
              <a:srgbClr val="F6CE1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8"/>
            <p:cNvSpPr/>
            <p:nvPr/>
          </p:nvSpPr>
          <p:spPr>
            <a:xfrm>
              <a:off x="0" y="0"/>
              <a:ext cx="675739" cy="660400"/>
            </a:xfrm>
            <a:custGeom>
              <a:rect b="b" l="l" r="r" t="t"/>
              <a:pathLst>
                <a:path extrusionOk="0" h="660400" w="675739">
                  <a:moveTo>
                    <a:pt x="551279" y="59690"/>
                  </a:moveTo>
                  <a:cubicBezTo>
                    <a:pt x="586839" y="59690"/>
                    <a:pt x="616049" y="88900"/>
                    <a:pt x="616049" y="124460"/>
                  </a:cubicBezTo>
                  <a:lnTo>
                    <a:pt x="616049" y="535940"/>
                  </a:lnTo>
                  <a:cubicBezTo>
                    <a:pt x="616049" y="571500"/>
                    <a:pt x="586839" y="600710"/>
                    <a:pt x="551279" y="600710"/>
                  </a:cubicBezTo>
                  <a:lnTo>
                    <a:pt x="124460" y="600710"/>
                  </a:lnTo>
                  <a:cubicBezTo>
                    <a:pt x="88900" y="600710"/>
                    <a:pt x="59690" y="571500"/>
                    <a:pt x="59690" y="535940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551279" y="59690"/>
                  </a:lnTo>
                  <a:moveTo>
                    <a:pt x="55127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535940"/>
                  </a:lnTo>
                  <a:cubicBezTo>
                    <a:pt x="0" y="604520"/>
                    <a:pt x="55880" y="660400"/>
                    <a:pt x="124460" y="660400"/>
                  </a:cubicBezTo>
                  <a:lnTo>
                    <a:pt x="551279" y="660400"/>
                  </a:lnTo>
                  <a:cubicBezTo>
                    <a:pt x="619859" y="660400"/>
                    <a:pt x="675739" y="604520"/>
                    <a:pt x="675739" y="535940"/>
                  </a:cubicBezTo>
                  <a:lnTo>
                    <a:pt x="675739" y="124460"/>
                  </a:lnTo>
                  <a:cubicBezTo>
                    <a:pt x="675739" y="55880"/>
                    <a:pt x="619859" y="0"/>
                    <a:pt x="551279" y="0"/>
                  </a:cubicBezTo>
                  <a:close/>
                </a:path>
              </a:pathLst>
            </a:custGeom>
            <a:solidFill>
              <a:srgbClr val="0E17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2" name="Google Shape;222;p8"/>
          <p:cNvSpPr/>
          <p:nvPr/>
        </p:nvSpPr>
        <p:spPr>
          <a:xfrm>
            <a:off x="16571761" y="2007743"/>
            <a:ext cx="242555" cy="241342"/>
          </a:xfrm>
          <a:custGeom>
            <a:rect b="b" l="l" r="r" t="t"/>
            <a:pathLst>
              <a:path extrusionOk="0" h="241342" w="242555">
                <a:moveTo>
                  <a:pt x="0" y="0"/>
                </a:moveTo>
                <a:lnTo>
                  <a:pt x="242555" y="0"/>
                </a:lnTo>
                <a:lnTo>
                  <a:pt x="242555" y="241342"/>
                </a:lnTo>
                <a:lnTo>
                  <a:pt x="0" y="2413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23" name="Google Shape;223;p8"/>
          <p:cNvGrpSpPr/>
          <p:nvPr/>
        </p:nvGrpSpPr>
        <p:grpSpPr>
          <a:xfrm>
            <a:off x="15847049" y="1885847"/>
            <a:ext cx="496402" cy="485134"/>
            <a:chOff x="0" y="0"/>
            <a:chExt cx="675739" cy="660400"/>
          </a:xfrm>
        </p:grpSpPr>
        <p:sp>
          <p:nvSpPr>
            <p:cNvPr id="224" name="Google Shape;224;p8"/>
            <p:cNvSpPr/>
            <p:nvPr/>
          </p:nvSpPr>
          <p:spPr>
            <a:xfrm>
              <a:off x="31750" y="31750"/>
              <a:ext cx="610997" cy="596900"/>
            </a:xfrm>
            <a:custGeom>
              <a:rect b="b" l="l" r="r" t="t"/>
              <a:pathLst>
                <a:path extrusionOk="0" h="596900" w="610997">
                  <a:moveTo>
                    <a:pt x="519529" y="596900"/>
                  </a:moveTo>
                  <a:lnTo>
                    <a:pt x="92710" y="596900"/>
                  </a:lnTo>
                  <a:cubicBezTo>
                    <a:pt x="41910" y="596900"/>
                    <a:pt x="0" y="554990"/>
                    <a:pt x="0" y="504190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518259" y="0"/>
                  </a:lnTo>
                  <a:cubicBezTo>
                    <a:pt x="569059" y="0"/>
                    <a:pt x="610969" y="41910"/>
                    <a:pt x="610969" y="92710"/>
                  </a:cubicBezTo>
                  <a:lnTo>
                    <a:pt x="610969" y="502920"/>
                  </a:lnTo>
                  <a:cubicBezTo>
                    <a:pt x="612239" y="554990"/>
                    <a:pt x="570329" y="596900"/>
                    <a:pt x="519529" y="596900"/>
                  </a:cubicBezTo>
                  <a:close/>
                </a:path>
              </a:pathLst>
            </a:custGeom>
            <a:solidFill>
              <a:srgbClr val="68A97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8"/>
            <p:cNvSpPr/>
            <p:nvPr/>
          </p:nvSpPr>
          <p:spPr>
            <a:xfrm>
              <a:off x="0" y="0"/>
              <a:ext cx="675739" cy="660400"/>
            </a:xfrm>
            <a:custGeom>
              <a:rect b="b" l="l" r="r" t="t"/>
              <a:pathLst>
                <a:path extrusionOk="0" h="660400" w="675739">
                  <a:moveTo>
                    <a:pt x="551279" y="59690"/>
                  </a:moveTo>
                  <a:cubicBezTo>
                    <a:pt x="586839" y="59690"/>
                    <a:pt x="616049" y="88900"/>
                    <a:pt x="616049" y="124460"/>
                  </a:cubicBezTo>
                  <a:lnTo>
                    <a:pt x="616049" y="535940"/>
                  </a:lnTo>
                  <a:cubicBezTo>
                    <a:pt x="616049" y="571500"/>
                    <a:pt x="586839" y="600710"/>
                    <a:pt x="551279" y="600710"/>
                  </a:cubicBezTo>
                  <a:lnTo>
                    <a:pt x="124460" y="600710"/>
                  </a:lnTo>
                  <a:cubicBezTo>
                    <a:pt x="88900" y="600710"/>
                    <a:pt x="59690" y="571500"/>
                    <a:pt x="59690" y="535940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551279" y="59690"/>
                  </a:lnTo>
                  <a:moveTo>
                    <a:pt x="55127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535940"/>
                  </a:lnTo>
                  <a:cubicBezTo>
                    <a:pt x="0" y="604520"/>
                    <a:pt x="55880" y="660400"/>
                    <a:pt x="124460" y="660400"/>
                  </a:cubicBezTo>
                  <a:lnTo>
                    <a:pt x="551279" y="660400"/>
                  </a:lnTo>
                  <a:cubicBezTo>
                    <a:pt x="619859" y="660400"/>
                    <a:pt x="675739" y="604520"/>
                    <a:pt x="675739" y="535940"/>
                  </a:cubicBezTo>
                  <a:lnTo>
                    <a:pt x="675739" y="124460"/>
                  </a:lnTo>
                  <a:cubicBezTo>
                    <a:pt x="675739" y="55880"/>
                    <a:pt x="619859" y="0"/>
                    <a:pt x="551279" y="0"/>
                  </a:cubicBezTo>
                  <a:close/>
                </a:path>
              </a:pathLst>
            </a:custGeom>
            <a:solidFill>
              <a:srgbClr val="0E17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226" name="Google Shape;226;p8"/>
          <p:cNvCxnSpPr/>
          <p:nvPr/>
        </p:nvCxnSpPr>
        <p:spPr>
          <a:xfrm>
            <a:off x="15979823" y="2140234"/>
            <a:ext cx="246614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7" name="Google Shape;227;p8"/>
          <p:cNvSpPr/>
          <p:nvPr/>
        </p:nvSpPr>
        <p:spPr>
          <a:xfrm>
            <a:off x="2612225" y="3201551"/>
            <a:ext cx="4316184" cy="4055917"/>
          </a:xfrm>
          <a:custGeom>
            <a:rect b="b" l="l" r="r" t="t"/>
            <a:pathLst>
              <a:path extrusionOk="0" h="4055917" w="4316184">
                <a:moveTo>
                  <a:pt x="0" y="0"/>
                </a:moveTo>
                <a:lnTo>
                  <a:pt x="4316184" y="0"/>
                </a:lnTo>
                <a:lnTo>
                  <a:pt x="4316184" y="4055917"/>
                </a:lnTo>
                <a:lnTo>
                  <a:pt x="0" y="40559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-6416"/>
            </a:stretch>
          </a:blipFill>
          <a:ln>
            <a:noFill/>
          </a:ln>
        </p:spPr>
      </p:sp>
      <p:sp>
        <p:nvSpPr>
          <p:cNvPr id="228" name="Google Shape;228;p8"/>
          <p:cNvSpPr/>
          <p:nvPr/>
        </p:nvSpPr>
        <p:spPr>
          <a:xfrm>
            <a:off x="10401765" y="3378220"/>
            <a:ext cx="4025024" cy="4025024"/>
          </a:xfrm>
          <a:custGeom>
            <a:rect b="b" l="l" r="r" t="t"/>
            <a:pathLst>
              <a:path extrusionOk="0" h="4025024" w="4025024">
                <a:moveTo>
                  <a:pt x="0" y="0"/>
                </a:moveTo>
                <a:lnTo>
                  <a:pt x="4025025" y="0"/>
                </a:lnTo>
                <a:lnTo>
                  <a:pt x="4025025" y="4025025"/>
                </a:lnTo>
                <a:lnTo>
                  <a:pt x="0" y="40250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9" name="Google Shape;229;p8"/>
          <p:cNvSpPr/>
          <p:nvPr/>
        </p:nvSpPr>
        <p:spPr>
          <a:xfrm>
            <a:off x="2740963" y="2434614"/>
            <a:ext cx="4058708" cy="766938"/>
          </a:xfrm>
          <a:custGeom>
            <a:rect b="b" l="l" r="r" t="t"/>
            <a:pathLst>
              <a:path extrusionOk="0" h="766938" w="4058708">
                <a:moveTo>
                  <a:pt x="0" y="0"/>
                </a:moveTo>
                <a:lnTo>
                  <a:pt x="4058708" y="0"/>
                </a:lnTo>
                <a:lnTo>
                  <a:pt x="4058708" y="766937"/>
                </a:lnTo>
                <a:lnTo>
                  <a:pt x="0" y="7669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114083" l="0" r="0" t="-116200"/>
            </a:stretch>
          </a:blipFill>
          <a:ln>
            <a:noFill/>
          </a:ln>
        </p:spPr>
      </p:sp>
      <p:sp>
        <p:nvSpPr>
          <p:cNvPr id="230" name="Google Shape;230;p8"/>
          <p:cNvSpPr/>
          <p:nvPr/>
        </p:nvSpPr>
        <p:spPr>
          <a:xfrm>
            <a:off x="10693496" y="2434614"/>
            <a:ext cx="3441564" cy="1036679"/>
          </a:xfrm>
          <a:custGeom>
            <a:rect b="b" l="l" r="r" t="t"/>
            <a:pathLst>
              <a:path extrusionOk="0" h="1036679" w="3441564">
                <a:moveTo>
                  <a:pt x="0" y="0"/>
                </a:moveTo>
                <a:lnTo>
                  <a:pt x="3441564" y="0"/>
                </a:lnTo>
                <a:lnTo>
                  <a:pt x="3441564" y="1036679"/>
                </a:lnTo>
                <a:lnTo>
                  <a:pt x="0" y="10366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1" name="Google Shape;231;p8"/>
          <p:cNvSpPr txBox="1"/>
          <p:nvPr/>
        </p:nvSpPr>
        <p:spPr>
          <a:xfrm>
            <a:off x="1493097" y="993396"/>
            <a:ext cx="7177500" cy="4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0E172C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Women In Tech DXB &amp; AI Safety</a:t>
            </a:r>
            <a:endParaRPr/>
          </a:p>
        </p:txBody>
      </p:sp>
      <p:sp>
        <p:nvSpPr>
          <p:cNvPr id="232" name="Google Shape;232;p8"/>
          <p:cNvSpPr txBox="1"/>
          <p:nvPr/>
        </p:nvSpPr>
        <p:spPr>
          <a:xfrm>
            <a:off x="2612225" y="7189863"/>
            <a:ext cx="4402789" cy="38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23" u="none" cap="none" strike="noStrike">
                <a:solidFill>
                  <a:srgbClr val="0E172C"/>
                </a:solidFill>
                <a:latin typeface="Cairo"/>
                <a:ea typeface="Cairo"/>
                <a:cs typeface="Cairo"/>
                <a:sym typeface="Cairo"/>
              </a:rPr>
              <a:t>Scan to join Women In Tech DXB!</a:t>
            </a:r>
            <a:endParaRPr/>
          </a:p>
        </p:txBody>
      </p:sp>
      <p:sp>
        <p:nvSpPr>
          <p:cNvPr id="233" name="Google Shape;233;p8"/>
          <p:cNvSpPr txBox="1"/>
          <p:nvPr/>
        </p:nvSpPr>
        <p:spPr>
          <a:xfrm>
            <a:off x="10212883" y="7219368"/>
            <a:ext cx="4402789" cy="38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23" u="none" cap="none" strike="noStrike">
                <a:solidFill>
                  <a:srgbClr val="0E172C"/>
                </a:solidFill>
                <a:latin typeface="Cairo"/>
                <a:ea typeface="Cairo"/>
                <a:cs typeface="Cairo"/>
                <a:sym typeface="Cairo"/>
              </a:rPr>
              <a:t>Scan to join AI Safety UAE!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8" name="Google Shape;238;p9"/>
          <p:cNvGrpSpPr/>
          <p:nvPr/>
        </p:nvGrpSpPr>
        <p:grpSpPr>
          <a:xfrm>
            <a:off x="1028700" y="1632977"/>
            <a:ext cx="16230600" cy="6612737"/>
            <a:chOff x="0" y="0"/>
            <a:chExt cx="17448065" cy="7108762"/>
          </a:xfrm>
        </p:grpSpPr>
        <p:sp>
          <p:nvSpPr>
            <p:cNvPr id="239" name="Google Shape;239;p9"/>
            <p:cNvSpPr/>
            <p:nvPr/>
          </p:nvSpPr>
          <p:spPr>
            <a:xfrm>
              <a:off x="31750" y="31750"/>
              <a:ext cx="17383324" cy="7045261"/>
            </a:xfrm>
            <a:custGeom>
              <a:rect b="b" l="l" r="r" t="t"/>
              <a:pathLst>
                <a:path extrusionOk="0" h="7045261" w="17383324">
                  <a:moveTo>
                    <a:pt x="17291855" y="7045261"/>
                  </a:moveTo>
                  <a:lnTo>
                    <a:pt x="92710" y="7045261"/>
                  </a:lnTo>
                  <a:cubicBezTo>
                    <a:pt x="41910" y="7045261"/>
                    <a:pt x="0" y="7003352"/>
                    <a:pt x="0" y="6952552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290585" y="0"/>
                  </a:lnTo>
                  <a:cubicBezTo>
                    <a:pt x="17341385" y="0"/>
                    <a:pt x="17383296" y="41910"/>
                    <a:pt x="17383296" y="92710"/>
                  </a:cubicBezTo>
                  <a:lnTo>
                    <a:pt x="17383296" y="6951282"/>
                  </a:lnTo>
                  <a:cubicBezTo>
                    <a:pt x="17384565" y="7003352"/>
                    <a:pt x="17342655" y="7045261"/>
                    <a:pt x="17291855" y="7045261"/>
                  </a:cubicBezTo>
                  <a:close/>
                </a:path>
              </a:pathLst>
            </a:custGeom>
            <a:solidFill>
              <a:srgbClr val="FFFFF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9"/>
            <p:cNvSpPr/>
            <p:nvPr/>
          </p:nvSpPr>
          <p:spPr>
            <a:xfrm>
              <a:off x="0" y="0"/>
              <a:ext cx="17448065" cy="7108762"/>
            </a:xfrm>
            <a:custGeom>
              <a:rect b="b" l="l" r="r" t="t"/>
              <a:pathLst>
                <a:path extrusionOk="0" h="7108762" w="17448065">
                  <a:moveTo>
                    <a:pt x="17323605" y="59690"/>
                  </a:moveTo>
                  <a:cubicBezTo>
                    <a:pt x="17359165" y="59690"/>
                    <a:pt x="17388374" y="88900"/>
                    <a:pt x="17388374" y="124460"/>
                  </a:cubicBezTo>
                  <a:lnTo>
                    <a:pt x="17388374" y="6984302"/>
                  </a:lnTo>
                  <a:cubicBezTo>
                    <a:pt x="17388374" y="7019862"/>
                    <a:pt x="17359165" y="7049072"/>
                    <a:pt x="17323605" y="7049072"/>
                  </a:cubicBezTo>
                  <a:lnTo>
                    <a:pt x="124460" y="7049072"/>
                  </a:lnTo>
                  <a:cubicBezTo>
                    <a:pt x="88900" y="7049072"/>
                    <a:pt x="59690" y="7019862"/>
                    <a:pt x="59690" y="698430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323605" y="59690"/>
                  </a:lnTo>
                  <a:moveTo>
                    <a:pt x="17323605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6984302"/>
                  </a:lnTo>
                  <a:cubicBezTo>
                    <a:pt x="0" y="7052882"/>
                    <a:pt x="55880" y="7108762"/>
                    <a:pt x="124460" y="7108762"/>
                  </a:cubicBezTo>
                  <a:lnTo>
                    <a:pt x="17323605" y="7108762"/>
                  </a:lnTo>
                  <a:cubicBezTo>
                    <a:pt x="17392185" y="7108762"/>
                    <a:pt x="17448065" y="7052882"/>
                    <a:pt x="17448065" y="6984302"/>
                  </a:cubicBezTo>
                  <a:lnTo>
                    <a:pt x="17448065" y="124460"/>
                  </a:lnTo>
                  <a:cubicBezTo>
                    <a:pt x="17448065" y="55880"/>
                    <a:pt x="17392185" y="0"/>
                    <a:pt x="17323605" y="0"/>
                  </a:cubicBezTo>
                  <a:close/>
                </a:path>
              </a:pathLst>
            </a:custGeom>
            <a:solidFill>
              <a:srgbClr val="0E17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1" name="Google Shape;241;p9"/>
          <p:cNvGrpSpPr/>
          <p:nvPr/>
        </p:nvGrpSpPr>
        <p:grpSpPr>
          <a:xfrm>
            <a:off x="16444837" y="1885847"/>
            <a:ext cx="496402" cy="485134"/>
            <a:chOff x="0" y="0"/>
            <a:chExt cx="675739" cy="660400"/>
          </a:xfrm>
        </p:grpSpPr>
        <p:sp>
          <p:nvSpPr>
            <p:cNvPr id="242" name="Google Shape;242;p9"/>
            <p:cNvSpPr/>
            <p:nvPr/>
          </p:nvSpPr>
          <p:spPr>
            <a:xfrm>
              <a:off x="31750" y="31750"/>
              <a:ext cx="610997" cy="596900"/>
            </a:xfrm>
            <a:custGeom>
              <a:rect b="b" l="l" r="r" t="t"/>
              <a:pathLst>
                <a:path extrusionOk="0" h="596900" w="610997">
                  <a:moveTo>
                    <a:pt x="519529" y="596900"/>
                  </a:moveTo>
                  <a:lnTo>
                    <a:pt x="92710" y="596900"/>
                  </a:lnTo>
                  <a:cubicBezTo>
                    <a:pt x="41910" y="596900"/>
                    <a:pt x="0" y="554990"/>
                    <a:pt x="0" y="504190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518259" y="0"/>
                  </a:lnTo>
                  <a:cubicBezTo>
                    <a:pt x="569059" y="0"/>
                    <a:pt x="610969" y="41910"/>
                    <a:pt x="610969" y="92710"/>
                  </a:cubicBezTo>
                  <a:lnTo>
                    <a:pt x="610969" y="502920"/>
                  </a:lnTo>
                  <a:cubicBezTo>
                    <a:pt x="612239" y="554990"/>
                    <a:pt x="570329" y="596900"/>
                    <a:pt x="519529" y="596900"/>
                  </a:cubicBezTo>
                  <a:close/>
                </a:path>
              </a:pathLst>
            </a:custGeom>
            <a:solidFill>
              <a:srgbClr val="F6CE1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9"/>
            <p:cNvSpPr/>
            <p:nvPr/>
          </p:nvSpPr>
          <p:spPr>
            <a:xfrm>
              <a:off x="0" y="0"/>
              <a:ext cx="675739" cy="660400"/>
            </a:xfrm>
            <a:custGeom>
              <a:rect b="b" l="l" r="r" t="t"/>
              <a:pathLst>
                <a:path extrusionOk="0" h="660400" w="675739">
                  <a:moveTo>
                    <a:pt x="551279" y="59690"/>
                  </a:moveTo>
                  <a:cubicBezTo>
                    <a:pt x="586839" y="59690"/>
                    <a:pt x="616049" y="88900"/>
                    <a:pt x="616049" y="124460"/>
                  </a:cubicBezTo>
                  <a:lnTo>
                    <a:pt x="616049" y="535940"/>
                  </a:lnTo>
                  <a:cubicBezTo>
                    <a:pt x="616049" y="571500"/>
                    <a:pt x="586839" y="600710"/>
                    <a:pt x="551279" y="600710"/>
                  </a:cubicBezTo>
                  <a:lnTo>
                    <a:pt x="124460" y="600710"/>
                  </a:lnTo>
                  <a:cubicBezTo>
                    <a:pt x="88900" y="600710"/>
                    <a:pt x="59690" y="571500"/>
                    <a:pt x="59690" y="535940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551279" y="59690"/>
                  </a:lnTo>
                  <a:moveTo>
                    <a:pt x="55127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535940"/>
                  </a:lnTo>
                  <a:cubicBezTo>
                    <a:pt x="0" y="604520"/>
                    <a:pt x="55880" y="660400"/>
                    <a:pt x="124460" y="660400"/>
                  </a:cubicBezTo>
                  <a:lnTo>
                    <a:pt x="551279" y="660400"/>
                  </a:lnTo>
                  <a:cubicBezTo>
                    <a:pt x="619859" y="660400"/>
                    <a:pt x="675739" y="604520"/>
                    <a:pt x="675739" y="535940"/>
                  </a:cubicBezTo>
                  <a:lnTo>
                    <a:pt x="675739" y="124460"/>
                  </a:lnTo>
                  <a:cubicBezTo>
                    <a:pt x="675739" y="55880"/>
                    <a:pt x="619859" y="0"/>
                    <a:pt x="551279" y="0"/>
                  </a:cubicBezTo>
                  <a:close/>
                </a:path>
              </a:pathLst>
            </a:custGeom>
            <a:solidFill>
              <a:srgbClr val="0E17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4" name="Google Shape;244;p9"/>
          <p:cNvSpPr/>
          <p:nvPr/>
        </p:nvSpPr>
        <p:spPr>
          <a:xfrm>
            <a:off x="16571761" y="2007743"/>
            <a:ext cx="242555" cy="241342"/>
          </a:xfrm>
          <a:custGeom>
            <a:rect b="b" l="l" r="r" t="t"/>
            <a:pathLst>
              <a:path extrusionOk="0" h="241342" w="242555">
                <a:moveTo>
                  <a:pt x="0" y="0"/>
                </a:moveTo>
                <a:lnTo>
                  <a:pt x="242555" y="0"/>
                </a:lnTo>
                <a:lnTo>
                  <a:pt x="242555" y="241342"/>
                </a:lnTo>
                <a:lnTo>
                  <a:pt x="0" y="2413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45" name="Google Shape;245;p9"/>
          <p:cNvGrpSpPr/>
          <p:nvPr/>
        </p:nvGrpSpPr>
        <p:grpSpPr>
          <a:xfrm>
            <a:off x="15847049" y="1885847"/>
            <a:ext cx="496402" cy="485134"/>
            <a:chOff x="0" y="0"/>
            <a:chExt cx="675739" cy="660400"/>
          </a:xfrm>
        </p:grpSpPr>
        <p:sp>
          <p:nvSpPr>
            <p:cNvPr id="246" name="Google Shape;246;p9"/>
            <p:cNvSpPr/>
            <p:nvPr/>
          </p:nvSpPr>
          <p:spPr>
            <a:xfrm>
              <a:off x="31750" y="31750"/>
              <a:ext cx="610997" cy="596900"/>
            </a:xfrm>
            <a:custGeom>
              <a:rect b="b" l="l" r="r" t="t"/>
              <a:pathLst>
                <a:path extrusionOk="0" h="596900" w="610997">
                  <a:moveTo>
                    <a:pt x="519529" y="596900"/>
                  </a:moveTo>
                  <a:lnTo>
                    <a:pt x="92710" y="596900"/>
                  </a:lnTo>
                  <a:cubicBezTo>
                    <a:pt x="41910" y="596900"/>
                    <a:pt x="0" y="554990"/>
                    <a:pt x="0" y="504190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518259" y="0"/>
                  </a:lnTo>
                  <a:cubicBezTo>
                    <a:pt x="569059" y="0"/>
                    <a:pt x="610969" y="41910"/>
                    <a:pt x="610969" y="92710"/>
                  </a:cubicBezTo>
                  <a:lnTo>
                    <a:pt x="610969" y="502920"/>
                  </a:lnTo>
                  <a:cubicBezTo>
                    <a:pt x="612239" y="554990"/>
                    <a:pt x="570329" y="596900"/>
                    <a:pt x="519529" y="596900"/>
                  </a:cubicBezTo>
                  <a:close/>
                </a:path>
              </a:pathLst>
            </a:custGeom>
            <a:solidFill>
              <a:srgbClr val="68A97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9"/>
            <p:cNvSpPr/>
            <p:nvPr/>
          </p:nvSpPr>
          <p:spPr>
            <a:xfrm>
              <a:off x="0" y="0"/>
              <a:ext cx="675739" cy="660400"/>
            </a:xfrm>
            <a:custGeom>
              <a:rect b="b" l="l" r="r" t="t"/>
              <a:pathLst>
                <a:path extrusionOk="0" h="660400" w="675739">
                  <a:moveTo>
                    <a:pt x="551279" y="59690"/>
                  </a:moveTo>
                  <a:cubicBezTo>
                    <a:pt x="586839" y="59690"/>
                    <a:pt x="616049" y="88900"/>
                    <a:pt x="616049" y="124460"/>
                  </a:cubicBezTo>
                  <a:lnTo>
                    <a:pt x="616049" y="535940"/>
                  </a:lnTo>
                  <a:cubicBezTo>
                    <a:pt x="616049" y="571500"/>
                    <a:pt x="586839" y="600710"/>
                    <a:pt x="551279" y="600710"/>
                  </a:cubicBezTo>
                  <a:lnTo>
                    <a:pt x="124460" y="600710"/>
                  </a:lnTo>
                  <a:cubicBezTo>
                    <a:pt x="88900" y="600710"/>
                    <a:pt x="59690" y="571500"/>
                    <a:pt x="59690" y="535940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551279" y="59690"/>
                  </a:lnTo>
                  <a:moveTo>
                    <a:pt x="55127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535940"/>
                  </a:lnTo>
                  <a:cubicBezTo>
                    <a:pt x="0" y="604520"/>
                    <a:pt x="55880" y="660400"/>
                    <a:pt x="124460" y="660400"/>
                  </a:cubicBezTo>
                  <a:lnTo>
                    <a:pt x="551279" y="660400"/>
                  </a:lnTo>
                  <a:cubicBezTo>
                    <a:pt x="619859" y="660400"/>
                    <a:pt x="675739" y="604520"/>
                    <a:pt x="675739" y="535940"/>
                  </a:cubicBezTo>
                  <a:lnTo>
                    <a:pt x="675739" y="124460"/>
                  </a:lnTo>
                  <a:cubicBezTo>
                    <a:pt x="675739" y="55880"/>
                    <a:pt x="619859" y="0"/>
                    <a:pt x="551279" y="0"/>
                  </a:cubicBezTo>
                  <a:close/>
                </a:path>
              </a:pathLst>
            </a:custGeom>
            <a:solidFill>
              <a:srgbClr val="0E17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248" name="Google Shape;248;p9"/>
          <p:cNvCxnSpPr/>
          <p:nvPr/>
        </p:nvCxnSpPr>
        <p:spPr>
          <a:xfrm>
            <a:off x="15979823" y="2140234"/>
            <a:ext cx="246614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9" name="Google Shape;249;p9"/>
          <p:cNvSpPr/>
          <p:nvPr/>
        </p:nvSpPr>
        <p:spPr>
          <a:xfrm>
            <a:off x="1286443" y="2370981"/>
            <a:ext cx="5245361" cy="5245361"/>
          </a:xfrm>
          <a:custGeom>
            <a:rect b="b" l="l" r="r" t="t"/>
            <a:pathLst>
              <a:path extrusionOk="0" h="5245361" w="5245361">
                <a:moveTo>
                  <a:pt x="0" y="0"/>
                </a:moveTo>
                <a:lnTo>
                  <a:pt x="5245361" y="0"/>
                </a:lnTo>
                <a:lnTo>
                  <a:pt x="5245361" y="5245362"/>
                </a:lnTo>
                <a:lnTo>
                  <a:pt x="0" y="52453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0" name="Google Shape;250;p9"/>
          <p:cNvSpPr/>
          <p:nvPr/>
        </p:nvSpPr>
        <p:spPr>
          <a:xfrm>
            <a:off x="343145" y="2007743"/>
            <a:ext cx="1371110" cy="1371110"/>
          </a:xfrm>
          <a:custGeom>
            <a:rect b="b" l="l" r="r" t="t"/>
            <a:pathLst>
              <a:path extrusionOk="0" h="1371110" w="1371110">
                <a:moveTo>
                  <a:pt x="0" y="0"/>
                </a:moveTo>
                <a:lnTo>
                  <a:pt x="1371110" y="0"/>
                </a:lnTo>
                <a:lnTo>
                  <a:pt x="1371110" y="1371110"/>
                </a:lnTo>
                <a:lnTo>
                  <a:pt x="0" y="1371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1" name="Google Shape;251;p9"/>
          <p:cNvSpPr/>
          <p:nvPr/>
        </p:nvSpPr>
        <p:spPr>
          <a:xfrm>
            <a:off x="14615672" y="6569717"/>
            <a:ext cx="3455559" cy="2469154"/>
          </a:xfrm>
          <a:custGeom>
            <a:rect b="b" l="l" r="r" t="t"/>
            <a:pathLst>
              <a:path extrusionOk="0" h="2469154" w="3455559">
                <a:moveTo>
                  <a:pt x="0" y="0"/>
                </a:moveTo>
                <a:lnTo>
                  <a:pt x="3455559" y="0"/>
                </a:lnTo>
                <a:lnTo>
                  <a:pt x="3455559" y="2469153"/>
                </a:lnTo>
                <a:lnTo>
                  <a:pt x="0" y="24691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2" name="Google Shape;252;p9"/>
          <p:cNvSpPr txBox="1"/>
          <p:nvPr/>
        </p:nvSpPr>
        <p:spPr>
          <a:xfrm>
            <a:off x="6753116" y="2774479"/>
            <a:ext cx="10061199" cy="4558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836" u="none" cap="none" strike="noStrike">
                <a:solidFill>
                  <a:srgbClr val="0E172C"/>
                </a:solidFill>
                <a:latin typeface="Cairo"/>
                <a:ea typeface="Cairo"/>
                <a:cs typeface="Cairo"/>
                <a:sym typeface="Cairo"/>
              </a:rPr>
              <a:t>Your feedback is important to us </a:t>
            </a:r>
            <a:endParaRPr/>
          </a:p>
        </p:txBody>
      </p:sp>
      <p:sp>
        <p:nvSpPr>
          <p:cNvPr id="253" name="Google Shape;253;p9"/>
          <p:cNvSpPr txBox="1"/>
          <p:nvPr/>
        </p:nvSpPr>
        <p:spPr>
          <a:xfrm>
            <a:off x="1493097" y="993396"/>
            <a:ext cx="7177500" cy="4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0E172C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Women In Tech DXB &amp; AI Safety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