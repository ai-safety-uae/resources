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Liter" panose="020B0604020202020204" charset="0"/>
      <p:regular r:id="rId8"/>
    </p:embeddedFont>
    <p:embeddedFont>
      <p:font typeface="Quattrocento Sans" panose="020B0502050000020003" pitchFamily="3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Ja Tepegjozova" userId="5522b95755c998d1" providerId="LiveId" clId="{36E55EB7-528A-4EC4-9EA8-07DBD0C5F881}"/>
    <pc:docChg chg="custSel modSld">
      <pc:chgData name="MariJa Tepegjozova" userId="5522b95755c998d1" providerId="LiveId" clId="{36E55EB7-528A-4EC4-9EA8-07DBD0C5F881}" dt="2026-03-06T20:45:49.621" v="7" actId="20577"/>
      <pc:docMkLst>
        <pc:docMk/>
      </pc:docMkLst>
      <pc:sldChg chg="delSp modSp mod">
        <pc:chgData name="MariJa Tepegjozova" userId="5522b95755c998d1" providerId="LiveId" clId="{36E55EB7-528A-4EC4-9EA8-07DBD0C5F881}" dt="2026-03-06T20:45:30.091" v="5" actId="113"/>
        <pc:sldMkLst>
          <pc:docMk/>
          <pc:sldMk cId="0" sldId="257"/>
        </pc:sldMkLst>
        <pc:spChg chg="del mod">
          <ac:chgData name="MariJa Tepegjozova" userId="5522b95755c998d1" providerId="LiveId" clId="{36E55EB7-528A-4EC4-9EA8-07DBD0C5F881}" dt="2026-03-06T20:45:05.352" v="2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riJa Tepegjozova" userId="5522b95755c998d1" providerId="LiveId" clId="{36E55EB7-528A-4EC4-9EA8-07DBD0C5F881}" dt="2026-03-06T20:45:30.091" v="5" actId="113"/>
          <ac:spMkLst>
            <pc:docMk/>
            <pc:sldMk cId="0" sldId="257"/>
            <ac:spMk id="44" creationId="{00000000-0000-0000-0000-000000000000}"/>
          </ac:spMkLst>
        </pc:spChg>
      </pc:sldChg>
      <pc:sldChg chg="modSp mod">
        <pc:chgData name="MariJa Tepegjozova" userId="5522b95755c998d1" providerId="LiveId" clId="{36E55EB7-528A-4EC4-9EA8-07DBD0C5F881}" dt="2026-03-06T20:45:49.621" v="7" actId="20577"/>
        <pc:sldMkLst>
          <pc:docMk/>
          <pc:sldMk cId="0" sldId="259"/>
        </pc:sldMkLst>
        <pc:spChg chg="mod">
          <ac:chgData name="MariJa Tepegjozova" userId="5522b95755c998d1" providerId="LiveId" clId="{36E55EB7-528A-4EC4-9EA8-07DBD0C5F881}" dt="2026-03-06T20:45:49.621" v="7" actId="20577"/>
          <ac:spMkLst>
            <pc:docMk/>
            <pc:sldMk cId="0" sldId="259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52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a0d76537c2b63b368a3d4d2a502b9a02733ec81.jpeg"/>
          <p:cNvPicPr>
            <a:picLocks noChangeAspect="1"/>
          </p:cNvPicPr>
          <p:nvPr/>
        </p:nvPicPr>
        <p:blipFill>
          <a:blip r:embed="rId3">
            <a:alphaModFix amt="20000"/>
          </a:blip>
          <a:srcRect l="137" r="13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2540">
                  <a:alpha val="90000"/>
                </a:srgbClr>
              </a:gs>
              <a:gs pos="50000">
                <a:srgbClr val="0A2540">
                  <a:alpha val="80000"/>
                </a:srgbClr>
              </a:gs>
              <a:gs pos="100000">
                <a:srgbClr val="00A3A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47625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52500" y="381000"/>
            <a:ext cx="315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AI Safety &amp; Governance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29329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Safety-by-Design 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AI Products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97062" y="44005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safe healthcare AI must be built into the product,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added after deployment</a:t>
            </a:r>
            <a:endParaRPr lang="en-US" sz="16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4A686B8-D807-4D3F-B693-76AEC13C1F27}"/>
              </a:ext>
            </a:extLst>
          </p:cNvPr>
          <p:cNvSpPr/>
          <p:nvPr/>
        </p:nvSpPr>
        <p:spPr>
          <a:xfrm>
            <a:off x="8486334" y="391086"/>
            <a:ext cx="315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Author: Dr. Marija Tepegjozova</a:t>
            </a: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DA1FE942-0D40-1DE0-9B04-A6F30BAA998C}"/>
              </a:ext>
            </a:extLst>
          </p:cNvPr>
          <p:cNvSpPr/>
          <p:nvPr/>
        </p:nvSpPr>
        <p:spPr>
          <a:xfrm>
            <a:off x="7810500" y="4953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6300" y="3810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Safety Gap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A25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good model can still create an unsafe product</a:t>
            </a:r>
            <a:endParaRPr lang="en-US" sz="16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A7D25E-6443-7485-7729-DFDAEDAAD3BE}"/>
              </a:ext>
            </a:extLst>
          </p:cNvPr>
          <p:cNvGrpSpPr/>
          <p:nvPr/>
        </p:nvGrpSpPr>
        <p:grpSpPr>
          <a:xfrm>
            <a:off x="400050" y="1485900"/>
            <a:ext cx="11410950" cy="3286125"/>
            <a:chOff x="400050" y="1485900"/>
            <a:chExt cx="11410950" cy="4267200"/>
          </a:xfrm>
        </p:grpSpPr>
        <p:sp>
          <p:nvSpPr>
            <p:cNvPr id="5" name="Shape 3"/>
            <p:cNvSpPr/>
            <p:nvPr/>
          </p:nvSpPr>
          <p:spPr>
            <a:xfrm>
              <a:off x="400050" y="1485900"/>
              <a:ext cx="5562600" cy="4267200"/>
            </a:xfrm>
            <a:custGeom>
              <a:avLst/>
              <a:gdLst/>
              <a:ahLst/>
              <a:cxnLst/>
              <a:rect l="l" t="t" r="r" b="b"/>
              <a:pathLst>
                <a:path w="5562600" h="4267200">
                  <a:moveTo>
                    <a:pt x="38100" y="0"/>
                  </a:moveTo>
                  <a:lnTo>
                    <a:pt x="5410218" y="0"/>
                  </a:lnTo>
                  <a:cubicBezTo>
                    <a:pt x="5494320" y="0"/>
                    <a:pt x="5562600" y="68280"/>
                    <a:pt x="5562600" y="152382"/>
                  </a:cubicBezTo>
                  <a:lnTo>
                    <a:pt x="5562600" y="4114818"/>
                  </a:lnTo>
                  <a:cubicBezTo>
                    <a:pt x="5562600" y="4198920"/>
                    <a:pt x="5494320" y="4267200"/>
                    <a:pt x="5410218" y="4267200"/>
                  </a:cubicBezTo>
                  <a:lnTo>
                    <a:pt x="38100" y="4267200"/>
                  </a:lnTo>
                  <a:cubicBezTo>
                    <a:pt x="17072" y="4267200"/>
                    <a:pt x="0" y="4250128"/>
                    <a:pt x="0" y="4229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723900" y="17907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00A3A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888206" y="19526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35719" y="35719"/>
                  </a:moveTo>
                  <a:cubicBezTo>
                    <a:pt x="35719" y="25840"/>
                    <a:pt x="27738" y="17859"/>
                    <a:pt x="17859" y="17859"/>
                  </a:cubicBezTo>
                  <a:cubicBezTo>
                    <a:pt x="7981" y="17859"/>
                    <a:pt x="0" y="25840"/>
                    <a:pt x="0" y="35719"/>
                  </a:cubicBezTo>
                  <a:lnTo>
                    <a:pt x="0" y="223242"/>
                  </a:lnTo>
                  <a:cubicBezTo>
                    <a:pt x="0" y="247910"/>
                    <a:pt x="19980" y="267891"/>
                    <a:pt x="44648" y="267891"/>
                  </a:cubicBezTo>
                  <a:lnTo>
                    <a:pt x="267891" y="267891"/>
                  </a:lnTo>
                  <a:cubicBezTo>
                    <a:pt x="277769" y="267891"/>
                    <a:pt x="285750" y="259910"/>
                    <a:pt x="285750" y="250031"/>
                  </a:cubicBezTo>
                  <a:cubicBezTo>
                    <a:pt x="285750" y="240153"/>
                    <a:pt x="277769" y="232172"/>
                    <a:pt x="267891" y="232172"/>
                  </a:cubicBezTo>
                  <a:lnTo>
                    <a:pt x="44648" y="232172"/>
                  </a:lnTo>
                  <a:cubicBezTo>
                    <a:pt x="39737" y="232172"/>
                    <a:pt x="35719" y="228154"/>
                    <a:pt x="35719" y="223242"/>
                  </a:cubicBezTo>
                  <a:lnTo>
                    <a:pt x="35719" y="35719"/>
                  </a:lnTo>
                  <a:close/>
                  <a:moveTo>
                    <a:pt x="262644" y="84051"/>
                  </a:moveTo>
                  <a:cubicBezTo>
                    <a:pt x="269621" y="77074"/>
                    <a:pt x="269621" y="65745"/>
                    <a:pt x="262644" y="58769"/>
                  </a:cubicBezTo>
                  <a:cubicBezTo>
                    <a:pt x="255668" y="51792"/>
                    <a:pt x="244339" y="51792"/>
                    <a:pt x="237362" y="58769"/>
                  </a:cubicBezTo>
                  <a:lnTo>
                    <a:pt x="178594" y="117593"/>
                  </a:lnTo>
                  <a:lnTo>
                    <a:pt x="146558" y="85613"/>
                  </a:lnTo>
                  <a:cubicBezTo>
                    <a:pt x="139582" y="78637"/>
                    <a:pt x="128253" y="78637"/>
                    <a:pt x="121276" y="85613"/>
                  </a:cubicBezTo>
                  <a:lnTo>
                    <a:pt x="67698" y="139192"/>
                  </a:lnTo>
                  <a:cubicBezTo>
                    <a:pt x="60722" y="146168"/>
                    <a:pt x="60722" y="157497"/>
                    <a:pt x="67698" y="164474"/>
                  </a:cubicBezTo>
                  <a:cubicBezTo>
                    <a:pt x="74675" y="171450"/>
                    <a:pt x="86004" y="171450"/>
                    <a:pt x="92980" y="164474"/>
                  </a:cubicBezTo>
                  <a:lnTo>
                    <a:pt x="133945" y="123509"/>
                  </a:lnTo>
                  <a:lnTo>
                    <a:pt x="165981" y="155544"/>
                  </a:lnTo>
                  <a:cubicBezTo>
                    <a:pt x="172957" y="162520"/>
                    <a:pt x="184286" y="162520"/>
                    <a:pt x="191263" y="155544"/>
                  </a:cubicBezTo>
                  <a:lnTo>
                    <a:pt x="262700" y="84106"/>
                  </a:ln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485900" y="1943100"/>
              <a:ext cx="223837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0A2540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What teams optimize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23900" y="31051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00A3A3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820341" y="3190875"/>
              <a:ext cx="116681" cy="133350"/>
            </a:xfrm>
            <a:custGeom>
              <a:avLst/>
              <a:gdLst/>
              <a:ahLst/>
              <a:cxnLst/>
              <a:rect l="l" t="t" r="r" b="b"/>
              <a:pathLst>
                <a:path w="116681" h="133350">
                  <a:moveTo>
                    <a:pt x="113243" y="18257"/>
                  </a:moveTo>
                  <a:cubicBezTo>
                    <a:pt x="116968" y="20966"/>
                    <a:pt x="117801" y="26175"/>
                    <a:pt x="115093" y="29900"/>
                  </a:cubicBezTo>
                  <a:lnTo>
                    <a:pt x="48418" y="121578"/>
                  </a:lnTo>
                  <a:cubicBezTo>
                    <a:pt x="46985" y="123557"/>
                    <a:pt x="44771" y="124781"/>
                    <a:pt x="42323" y="124990"/>
                  </a:cubicBezTo>
                  <a:cubicBezTo>
                    <a:pt x="39875" y="125198"/>
                    <a:pt x="37505" y="124286"/>
                    <a:pt x="35786" y="122567"/>
                  </a:cubicBezTo>
                  <a:lnTo>
                    <a:pt x="2448" y="89230"/>
                  </a:lnTo>
                  <a:cubicBezTo>
                    <a:pt x="-807" y="85974"/>
                    <a:pt x="-807" y="80687"/>
                    <a:pt x="2448" y="77432"/>
                  </a:cubicBezTo>
                  <a:cubicBezTo>
                    <a:pt x="5704" y="74176"/>
                    <a:pt x="10991" y="74176"/>
                    <a:pt x="14247" y="77432"/>
                  </a:cubicBezTo>
                  <a:lnTo>
                    <a:pt x="40682" y="103867"/>
                  </a:lnTo>
                  <a:lnTo>
                    <a:pt x="101627" y="20081"/>
                  </a:lnTo>
                  <a:cubicBezTo>
                    <a:pt x="104336" y="16356"/>
                    <a:pt x="109545" y="15523"/>
                    <a:pt x="113269" y="18231"/>
                  </a:cubicBez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1181100" y="3067050"/>
              <a:ext cx="21907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2B3C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Accuracy metrics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181100" y="3333750"/>
              <a:ext cx="21717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1A2B3C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Benchmark performance scores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23900" y="38290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00A3A3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820341" y="3914775"/>
              <a:ext cx="116681" cy="133350"/>
            </a:xfrm>
            <a:custGeom>
              <a:avLst/>
              <a:gdLst/>
              <a:ahLst/>
              <a:cxnLst/>
              <a:rect l="l" t="t" r="r" b="b"/>
              <a:pathLst>
                <a:path w="116681" h="133350">
                  <a:moveTo>
                    <a:pt x="113243" y="18257"/>
                  </a:moveTo>
                  <a:cubicBezTo>
                    <a:pt x="116968" y="20966"/>
                    <a:pt x="117801" y="26175"/>
                    <a:pt x="115093" y="29900"/>
                  </a:cubicBezTo>
                  <a:lnTo>
                    <a:pt x="48418" y="121578"/>
                  </a:lnTo>
                  <a:cubicBezTo>
                    <a:pt x="46985" y="123557"/>
                    <a:pt x="44771" y="124781"/>
                    <a:pt x="42323" y="124990"/>
                  </a:cubicBezTo>
                  <a:cubicBezTo>
                    <a:pt x="39875" y="125198"/>
                    <a:pt x="37505" y="124286"/>
                    <a:pt x="35786" y="122567"/>
                  </a:cubicBezTo>
                  <a:lnTo>
                    <a:pt x="2448" y="89230"/>
                  </a:lnTo>
                  <a:cubicBezTo>
                    <a:pt x="-807" y="85974"/>
                    <a:pt x="-807" y="80687"/>
                    <a:pt x="2448" y="77432"/>
                  </a:cubicBezTo>
                  <a:cubicBezTo>
                    <a:pt x="5704" y="74176"/>
                    <a:pt x="10991" y="74176"/>
                    <a:pt x="14247" y="77432"/>
                  </a:cubicBezTo>
                  <a:lnTo>
                    <a:pt x="40682" y="103867"/>
                  </a:lnTo>
                  <a:lnTo>
                    <a:pt x="101627" y="20081"/>
                  </a:lnTo>
                  <a:cubicBezTo>
                    <a:pt x="104336" y="16356"/>
                    <a:pt x="109545" y="15523"/>
                    <a:pt x="113269" y="18231"/>
                  </a:cubicBez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1181100" y="3790950"/>
              <a:ext cx="19145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2B3C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Speed &amp; efficiency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181100" y="4057650"/>
              <a:ext cx="18954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1A2B3C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Response time optimization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23900" y="45529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00A3A3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820341" y="4638675"/>
              <a:ext cx="116681" cy="133350"/>
            </a:xfrm>
            <a:custGeom>
              <a:avLst/>
              <a:gdLst/>
              <a:ahLst/>
              <a:cxnLst/>
              <a:rect l="l" t="t" r="r" b="b"/>
              <a:pathLst>
                <a:path w="116681" h="133350">
                  <a:moveTo>
                    <a:pt x="113243" y="18257"/>
                  </a:moveTo>
                  <a:cubicBezTo>
                    <a:pt x="116968" y="20966"/>
                    <a:pt x="117801" y="26175"/>
                    <a:pt x="115093" y="29900"/>
                  </a:cubicBezTo>
                  <a:lnTo>
                    <a:pt x="48418" y="121578"/>
                  </a:lnTo>
                  <a:cubicBezTo>
                    <a:pt x="46985" y="123557"/>
                    <a:pt x="44771" y="124781"/>
                    <a:pt x="42323" y="124990"/>
                  </a:cubicBezTo>
                  <a:cubicBezTo>
                    <a:pt x="39875" y="125198"/>
                    <a:pt x="37505" y="124286"/>
                    <a:pt x="35786" y="122567"/>
                  </a:cubicBezTo>
                  <a:lnTo>
                    <a:pt x="2448" y="89230"/>
                  </a:lnTo>
                  <a:cubicBezTo>
                    <a:pt x="-807" y="85974"/>
                    <a:pt x="-807" y="80687"/>
                    <a:pt x="2448" y="77432"/>
                  </a:cubicBezTo>
                  <a:cubicBezTo>
                    <a:pt x="5704" y="74176"/>
                    <a:pt x="10991" y="74176"/>
                    <a:pt x="14247" y="77432"/>
                  </a:cubicBezTo>
                  <a:lnTo>
                    <a:pt x="40682" y="103867"/>
                  </a:lnTo>
                  <a:lnTo>
                    <a:pt x="101627" y="20081"/>
                  </a:lnTo>
                  <a:cubicBezTo>
                    <a:pt x="104336" y="16356"/>
                    <a:pt x="109545" y="15523"/>
                    <a:pt x="113269" y="18231"/>
                  </a:cubicBez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1181100" y="4514850"/>
              <a:ext cx="18192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1A2B3C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User adoption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181100" y="4781550"/>
              <a:ext cx="180022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1A2B3C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Engagement and retention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267450" y="1485900"/>
              <a:ext cx="5543550" cy="4267200"/>
            </a:xfrm>
            <a:custGeom>
              <a:avLst/>
              <a:gdLst/>
              <a:ahLst/>
              <a:cxnLst/>
              <a:rect l="l" t="t" r="r" b="b"/>
              <a:pathLst>
                <a:path w="5543550" h="4267200">
                  <a:moveTo>
                    <a:pt x="152382" y="0"/>
                  </a:moveTo>
                  <a:lnTo>
                    <a:pt x="5391168" y="0"/>
                  </a:lnTo>
                  <a:cubicBezTo>
                    <a:pt x="5475270" y="0"/>
                    <a:pt x="5543550" y="68280"/>
                    <a:pt x="5543550" y="152382"/>
                  </a:cubicBezTo>
                  <a:lnTo>
                    <a:pt x="5543550" y="4114818"/>
                  </a:lnTo>
                  <a:cubicBezTo>
                    <a:pt x="5543550" y="4198920"/>
                    <a:pt x="5475270" y="4267200"/>
                    <a:pt x="5391168" y="4267200"/>
                  </a:cubicBezTo>
                  <a:lnTo>
                    <a:pt x="152382" y="4267200"/>
                  </a:lnTo>
                  <a:cubicBezTo>
                    <a:pt x="68280" y="4267200"/>
                    <a:pt x="0" y="4198920"/>
                    <a:pt x="0" y="4114818"/>
                  </a:cubicBezTo>
                  <a:lnTo>
                    <a:pt x="0" y="152382"/>
                  </a:lnTo>
                  <a:cubicBezTo>
                    <a:pt x="0" y="68280"/>
                    <a:pt x="68280" y="0"/>
                    <a:pt x="152382" y="0"/>
                  </a:cubicBezTo>
                  <a:close/>
                </a:path>
              </a:pathLst>
            </a:custGeom>
            <a:solidFill>
              <a:srgbClr val="0A2540"/>
            </a:solidFill>
            <a:ln/>
            <a:effectLst>
              <a:outerShdw blurRad="142875" dist="9525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6572250" y="17907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304800" y="0"/>
                  </a:lnTo>
                  <a:cubicBezTo>
                    <a:pt x="473024" y="0"/>
                    <a:pt x="609600" y="136576"/>
                    <a:pt x="609600" y="304800"/>
                  </a:cubicBezTo>
                  <a:lnTo>
                    <a:pt x="609600" y="304800"/>
                  </a:lnTo>
                  <a:cubicBezTo>
                    <a:pt x="609600" y="473024"/>
                    <a:pt x="473024" y="609600"/>
                    <a:pt x="304800" y="609600"/>
                  </a:cubicBezTo>
                  <a:lnTo>
                    <a:pt x="304800" y="609600"/>
                  </a:lnTo>
                  <a:cubicBezTo>
                    <a:pt x="136576" y="609600"/>
                    <a:pt x="0" y="473024"/>
                    <a:pt x="0" y="304800"/>
                  </a:cubicBezTo>
                  <a:lnTo>
                    <a:pt x="0" y="304800"/>
                  </a:lnTo>
                  <a:cubicBezTo>
                    <a:pt x="0" y="136576"/>
                    <a:pt x="136576" y="0"/>
                    <a:pt x="304800" y="0"/>
                  </a:cubicBezTo>
                  <a:close/>
                </a:path>
              </a:pathLst>
            </a:custGeom>
            <a:solidFill>
              <a:srgbClr val="E85D4E">
                <a:alpha val="2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6736556" y="19526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cubicBezTo>
                    <a:pt x="145442" y="0"/>
                    <a:pt x="148010" y="558"/>
                    <a:pt x="150354" y="1619"/>
                  </a:cubicBezTo>
                  <a:lnTo>
                    <a:pt x="255501" y="46211"/>
                  </a:lnTo>
                  <a:cubicBezTo>
                    <a:pt x="267779" y="51402"/>
                    <a:pt x="276932" y="63512"/>
                    <a:pt x="276876" y="78135"/>
                  </a:cubicBezTo>
                  <a:cubicBezTo>
                    <a:pt x="276597" y="133499"/>
                    <a:pt x="253826" y="234795"/>
                    <a:pt x="157665" y="280839"/>
                  </a:cubicBezTo>
                  <a:cubicBezTo>
                    <a:pt x="148344" y="285304"/>
                    <a:pt x="137517" y="285304"/>
                    <a:pt x="128197" y="280839"/>
                  </a:cubicBezTo>
                  <a:cubicBezTo>
                    <a:pt x="31979" y="234795"/>
                    <a:pt x="9265" y="133499"/>
                    <a:pt x="8985" y="78135"/>
                  </a:cubicBezTo>
                  <a:cubicBezTo>
                    <a:pt x="8930" y="63512"/>
                    <a:pt x="18083" y="51402"/>
                    <a:pt x="30361" y="46211"/>
                  </a:cubicBezTo>
                  <a:lnTo>
                    <a:pt x="135452" y="1619"/>
                  </a:lnTo>
                  <a:cubicBezTo>
                    <a:pt x="137796" y="558"/>
                    <a:pt x="140308" y="0"/>
                    <a:pt x="142875" y="0"/>
                  </a:cubicBezTo>
                  <a:close/>
                  <a:moveTo>
                    <a:pt x="142875" y="37281"/>
                  </a:moveTo>
                  <a:lnTo>
                    <a:pt x="142875" y="248301"/>
                  </a:lnTo>
                  <a:cubicBezTo>
                    <a:pt x="219894" y="211020"/>
                    <a:pt x="240599" y="128420"/>
                    <a:pt x="241102" y="78972"/>
                  </a:cubicBezTo>
                  <a:lnTo>
                    <a:pt x="142875" y="37337"/>
                  </a:lnTo>
                  <a:lnTo>
                    <a:pt x="142875" y="37337"/>
                  </a:lnTo>
                  <a:close/>
                </a:path>
              </a:pathLst>
            </a:custGeom>
            <a:solidFill>
              <a:srgbClr val="E85D4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7334250" y="1943100"/>
              <a:ext cx="2552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What safety depends on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572250" y="28003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85D4E">
                <a:alpha val="3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6710363" y="2886075"/>
              <a:ext cx="33338" cy="133350"/>
            </a:xfrm>
            <a:custGeom>
              <a:avLst/>
              <a:gdLst/>
              <a:ahLst/>
              <a:cxnLst/>
              <a:rect l="l" t="t" r="r" b="b"/>
              <a:pathLst>
                <a:path w="33338" h="133350">
                  <a:moveTo>
                    <a:pt x="25003" y="8334"/>
                  </a:moveTo>
                  <a:cubicBezTo>
                    <a:pt x="25003" y="3724"/>
                    <a:pt x="21279" y="0"/>
                    <a:pt x="16669" y="0"/>
                  </a:cubicBezTo>
                  <a:cubicBezTo>
                    <a:pt x="12059" y="0"/>
                    <a:pt x="8334" y="3724"/>
                    <a:pt x="8334" y="8334"/>
                  </a:cubicBezTo>
                  <a:lnTo>
                    <a:pt x="8334" y="91678"/>
                  </a:lnTo>
                  <a:cubicBezTo>
                    <a:pt x="8334" y="96288"/>
                    <a:pt x="12059" y="100013"/>
                    <a:pt x="16669" y="100013"/>
                  </a:cubicBezTo>
                  <a:cubicBezTo>
                    <a:pt x="21279" y="100013"/>
                    <a:pt x="25003" y="96288"/>
                    <a:pt x="25003" y="91678"/>
                  </a:cubicBezTo>
                  <a:lnTo>
                    <a:pt x="25003" y="8334"/>
                  </a:lnTo>
                  <a:close/>
                  <a:moveTo>
                    <a:pt x="16669" y="133350"/>
                  </a:moveTo>
                  <a:cubicBezTo>
                    <a:pt x="22425" y="133350"/>
                    <a:pt x="27087" y="128688"/>
                    <a:pt x="27087" y="122932"/>
                  </a:cubicBezTo>
                  <a:cubicBezTo>
                    <a:pt x="27087" y="117176"/>
                    <a:pt x="22425" y="112514"/>
                    <a:pt x="16669" y="112514"/>
                  </a:cubicBezTo>
                  <a:cubicBezTo>
                    <a:pt x="10913" y="112514"/>
                    <a:pt x="6251" y="117176"/>
                    <a:pt x="6251" y="122932"/>
                  </a:cubicBezTo>
                  <a:cubicBezTo>
                    <a:pt x="6251" y="128688"/>
                    <a:pt x="10913" y="133350"/>
                    <a:pt x="16669" y="133350"/>
                  </a:cubicBezTo>
                  <a:close/>
                </a:path>
              </a:pathLst>
            </a:custGeom>
            <a:solidFill>
              <a:srgbClr val="E85D4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7029450" y="2762250"/>
              <a:ext cx="21812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Intended-use boundaries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029450" y="3028950"/>
              <a:ext cx="21621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Clear scope definition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572250" y="34861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85D4E">
                <a:alpha val="3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6710363" y="3571875"/>
              <a:ext cx="33338" cy="133350"/>
            </a:xfrm>
            <a:custGeom>
              <a:avLst/>
              <a:gdLst/>
              <a:ahLst/>
              <a:cxnLst/>
              <a:rect l="l" t="t" r="r" b="b"/>
              <a:pathLst>
                <a:path w="33338" h="133350">
                  <a:moveTo>
                    <a:pt x="25003" y="8334"/>
                  </a:moveTo>
                  <a:cubicBezTo>
                    <a:pt x="25003" y="3724"/>
                    <a:pt x="21279" y="0"/>
                    <a:pt x="16669" y="0"/>
                  </a:cubicBezTo>
                  <a:cubicBezTo>
                    <a:pt x="12059" y="0"/>
                    <a:pt x="8334" y="3724"/>
                    <a:pt x="8334" y="8334"/>
                  </a:cubicBezTo>
                  <a:lnTo>
                    <a:pt x="8334" y="91678"/>
                  </a:lnTo>
                  <a:cubicBezTo>
                    <a:pt x="8334" y="96288"/>
                    <a:pt x="12059" y="100013"/>
                    <a:pt x="16669" y="100013"/>
                  </a:cubicBezTo>
                  <a:cubicBezTo>
                    <a:pt x="21279" y="100013"/>
                    <a:pt x="25003" y="96288"/>
                    <a:pt x="25003" y="91678"/>
                  </a:cubicBezTo>
                  <a:lnTo>
                    <a:pt x="25003" y="8334"/>
                  </a:lnTo>
                  <a:close/>
                  <a:moveTo>
                    <a:pt x="16669" y="133350"/>
                  </a:moveTo>
                  <a:cubicBezTo>
                    <a:pt x="22425" y="133350"/>
                    <a:pt x="27087" y="128688"/>
                    <a:pt x="27087" y="122932"/>
                  </a:cubicBezTo>
                  <a:cubicBezTo>
                    <a:pt x="27087" y="117176"/>
                    <a:pt x="22425" y="112514"/>
                    <a:pt x="16669" y="112514"/>
                  </a:cubicBezTo>
                  <a:cubicBezTo>
                    <a:pt x="10913" y="112514"/>
                    <a:pt x="6251" y="117176"/>
                    <a:pt x="6251" y="122932"/>
                  </a:cubicBezTo>
                  <a:cubicBezTo>
                    <a:pt x="6251" y="128688"/>
                    <a:pt x="10913" y="133350"/>
                    <a:pt x="16669" y="133350"/>
                  </a:cubicBezTo>
                  <a:close/>
                </a:path>
              </a:pathLst>
            </a:custGeom>
            <a:solidFill>
              <a:srgbClr val="E85D4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7029450" y="3448050"/>
              <a:ext cx="22288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Human review &amp; override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029450" y="3714750"/>
              <a:ext cx="2209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Clinician oversight mechanisms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572250" y="41719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85D4E">
                <a:alpha val="3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6710363" y="4257675"/>
              <a:ext cx="33338" cy="133350"/>
            </a:xfrm>
            <a:custGeom>
              <a:avLst/>
              <a:gdLst/>
              <a:ahLst/>
              <a:cxnLst/>
              <a:rect l="l" t="t" r="r" b="b"/>
              <a:pathLst>
                <a:path w="33338" h="133350">
                  <a:moveTo>
                    <a:pt x="25003" y="8334"/>
                  </a:moveTo>
                  <a:cubicBezTo>
                    <a:pt x="25003" y="3724"/>
                    <a:pt x="21279" y="0"/>
                    <a:pt x="16669" y="0"/>
                  </a:cubicBezTo>
                  <a:cubicBezTo>
                    <a:pt x="12059" y="0"/>
                    <a:pt x="8334" y="3724"/>
                    <a:pt x="8334" y="8334"/>
                  </a:cubicBezTo>
                  <a:lnTo>
                    <a:pt x="8334" y="91678"/>
                  </a:lnTo>
                  <a:cubicBezTo>
                    <a:pt x="8334" y="96288"/>
                    <a:pt x="12059" y="100013"/>
                    <a:pt x="16669" y="100013"/>
                  </a:cubicBezTo>
                  <a:cubicBezTo>
                    <a:pt x="21279" y="100013"/>
                    <a:pt x="25003" y="96288"/>
                    <a:pt x="25003" y="91678"/>
                  </a:cubicBezTo>
                  <a:lnTo>
                    <a:pt x="25003" y="8334"/>
                  </a:lnTo>
                  <a:close/>
                  <a:moveTo>
                    <a:pt x="16669" y="133350"/>
                  </a:moveTo>
                  <a:cubicBezTo>
                    <a:pt x="22425" y="133350"/>
                    <a:pt x="27087" y="128688"/>
                    <a:pt x="27087" y="122932"/>
                  </a:cubicBezTo>
                  <a:cubicBezTo>
                    <a:pt x="27087" y="117176"/>
                    <a:pt x="22425" y="112514"/>
                    <a:pt x="16669" y="112514"/>
                  </a:cubicBezTo>
                  <a:cubicBezTo>
                    <a:pt x="10913" y="112514"/>
                    <a:pt x="6251" y="117176"/>
                    <a:pt x="6251" y="122932"/>
                  </a:cubicBezTo>
                  <a:cubicBezTo>
                    <a:pt x="6251" y="128688"/>
                    <a:pt x="10913" y="133350"/>
                    <a:pt x="16669" y="133350"/>
                  </a:cubicBezTo>
                  <a:close/>
                </a:path>
              </a:pathLst>
            </a:custGeom>
            <a:solidFill>
              <a:srgbClr val="E85D4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7029450" y="4133850"/>
              <a:ext cx="23050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Bias monitoring</a:t>
              </a:r>
              <a:endParaRPr lang="en-US" sz="16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029450" y="4400550"/>
              <a:ext cx="2286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Subgroup performance validation</a:t>
              </a:r>
              <a:endParaRPr lang="en-US" sz="16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572250" y="48577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52400" y="0"/>
                  </a:lnTo>
                  <a:cubicBezTo>
                    <a:pt x="236512" y="0"/>
                    <a:pt x="304800" y="68288"/>
                    <a:pt x="304800" y="152400"/>
                  </a:cubicBezTo>
                  <a:lnTo>
                    <a:pt x="304800" y="152400"/>
                  </a:lnTo>
                  <a:cubicBezTo>
                    <a:pt x="304800" y="236512"/>
                    <a:pt x="236512" y="304800"/>
                    <a:pt x="152400" y="304800"/>
                  </a:cubicBezTo>
                  <a:lnTo>
                    <a:pt x="152400" y="304800"/>
                  </a:lnTo>
                  <a:cubicBezTo>
                    <a:pt x="68288" y="304800"/>
                    <a:pt x="0" y="236512"/>
                    <a:pt x="0" y="1524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E85D4E">
                <a:alpha val="3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6710363" y="4943475"/>
              <a:ext cx="33338" cy="133350"/>
            </a:xfrm>
            <a:custGeom>
              <a:avLst/>
              <a:gdLst/>
              <a:ahLst/>
              <a:cxnLst/>
              <a:rect l="l" t="t" r="r" b="b"/>
              <a:pathLst>
                <a:path w="33338" h="133350">
                  <a:moveTo>
                    <a:pt x="25003" y="8334"/>
                  </a:moveTo>
                  <a:cubicBezTo>
                    <a:pt x="25003" y="3724"/>
                    <a:pt x="21279" y="0"/>
                    <a:pt x="16669" y="0"/>
                  </a:cubicBezTo>
                  <a:cubicBezTo>
                    <a:pt x="12059" y="0"/>
                    <a:pt x="8334" y="3724"/>
                    <a:pt x="8334" y="8334"/>
                  </a:cubicBezTo>
                  <a:lnTo>
                    <a:pt x="8334" y="91678"/>
                  </a:lnTo>
                  <a:cubicBezTo>
                    <a:pt x="8334" y="96288"/>
                    <a:pt x="12059" y="100013"/>
                    <a:pt x="16669" y="100013"/>
                  </a:cubicBezTo>
                  <a:cubicBezTo>
                    <a:pt x="21279" y="100013"/>
                    <a:pt x="25003" y="96288"/>
                    <a:pt x="25003" y="91678"/>
                  </a:cubicBezTo>
                  <a:lnTo>
                    <a:pt x="25003" y="8334"/>
                  </a:lnTo>
                  <a:close/>
                  <a:moveTo>
                    <a:pt x="16669" y="133350"/>
                  </a:moveTo>
                  <a:cubicBezTo>
                    <a:pt x="22425" y="133350"/>
                    <a:pt x="27087" y="128688"/>
                    <a:pt x="27087" y="122932"/>
                  </a:cubicBezTo>
                  <a:cubicBezTo>
                    <a:pt x="27087" y="117176"/>
                    <a:pt x="22425" y="112514"/>
                    <a:pt x="16669" y="112514"/>
                  </a:cubicBezTo>
                  <a:cubicBezTo>
                    <a:pt x="10913" y="112514"/>
                    <a:pt x="6251" y="117176"/>
                    <a:pt x="6251" y="122932"/>
                  </a:cubicBezTo>
                  <a:cubicBezTo>
                    <a:pt x="6251" y="128688"/>
                    <a:pt x="10913" y="133350"/>
                    <a:pt x="16669" y="133350"/>
                  </a:cubicBezTo>
                  <a:close/>
                </a:path>
              </a:pathLst>
            </a:custGeom>
            <a:solidFill>
              <a:srgbClr val="E85D4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029450" y="481965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Escalation &amp; auditability</a:t>
              </a:r>
              <a:endParaRPr lang="en-US" sz="16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029450" y="5086350"/>
              <a:ext cx="20383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rgbClr val="FFFFFF">
                      <a:alpha val="70000"/>
                    </a:srgbClr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Fail-safe pathways &amp; logging</a:t>
              </a:r>
              <a:endParaRPr lang="en-US" sz="1600" dirty="0"/>
            </a:p>
          </p:txBody>
        </p:sp>
      </p:grpSp>
      <p:sp>
        <p:nvSpPr>
          <p:cNvPr id="42" name="Shape 40"/>
          <p:cNvSpPr/>
          <p:nvPr/>
        </p:nvSpPr>
        <p:spPr>
          <a:xfrm>
            <a:off x="400050" y="5905500"/>
            <a:ext cx="11410950" cy="571500"/>
          </a:xfrm>
          <a:custGeom>
            <a:avLst/>
            <a:gdLst/>
            <a:ahLst/>
            <a:cxnLst/>
            <a:rect l="l" t="t" r="r" b="b"/>
            <a:pathLst>
              <a:path w="11410950" h="5715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457200"/>
                </a:lnTo>
                <a:cubicBezTo>
                  <a:pt x="11410950" y="520284"/>
                  <a:pt x="11359734" y="571500"/>
                  <a:pt x="11296650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5D4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0050" y="59055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1500" y="6057900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350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alone is not enough. </a:t>
            </a:r>
            <a:r>
              <a:rPr lang="en-US" sz="1350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 between </a:t>
            </a: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 </a:t>
            </a:r>
            <a:r>
              <a:rPr lang="en-US" sz="1350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safety </a:t>
            </a:r>
            <a:r>
              <a:rPr lang="en-US" sz="1350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where patient harm occurs.</a:t>
            </a:r>
            <a:endParaRPr lang="en-US" sz="16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C2A8F09-D4D0-D546-D3A6-6FAFD1242CA6}"/>
              </a:ext>
            </a:extLst>
          </p:cNvPr>
          <p:cNvGrpSpPr/>
          <p:nvPr/>
        </p:nvGrpSpPr>
        <p:grpSpPr>
          <a:xfrm>
            <a:off x="381000" y="4893915"/>
            <a:ext cx="11418540" cy="885825"/>
            <a:chOff x="385763" y="5586413"/>
            <a:chExt cx="11418540" cy="885825"/>
          </a:xfrm>
        </p:grpSpPr>
        <p:sp>
          <p:nvSpPr>
            <p:cNvPr id="47" name="Shape 5">
              <a:extLst>
                <a:ext uri="{FF2B5EF4-FFF2-40B4-BE49-F238E27FC236}">
                  <a16:creationId xmlns:a16="http://schemas.microsoft.com/office/drawing/2014/main" id="{FA58BAF7-63C4-C5C3-F0EF-663DF00D34E9}"/>
                </a:ext>
              </a:extLst>
            </p:cNvPr>
            <p:cNvSpPr/>
            <p:nvPr/>
          </p:nvSpPr>
          <p:spPr>
            <a:xfrm>
              <a:off x="385763" y="5586413"/>
              <a:ext cx="2152650" cy="885825"/>
            </a:xfrm>
            <a:custGeom>
              <a:avLst/>
              <a:gdLst/>
              <a:ahLst/>
              <a:cxnLst/>
              <a:rect l="l" t="t" r="r" b="b"/>
              <a:pathLst>
                <a:path w="2152650" h="885825">
                  <a:moveTo>
                    <a:pt x="76199" y="0"/>
                  </a:moveTo>
                  <a:lnTo>
                    <a:pt x="2076451" y="0"/>
                  </a:lnTo>
                  <a:cubicBezTo>
                    <a:pt x="2118535" y="0"/>
                    <a:pt x="2152650" y="34115"/>
                    <a:pt x="2152650" y="76199"/>
                  </a:cubicBezTo>
                  <a:lnTo>
                    <a:pt x="2152650" y="809626"/>
                  </a:lnTo>
                  <a:cubicBezTo>
                    <a:pt x="2152650" y="851710"/>
                    <a:pt x="2118535" y="885825"/>
                    <a:pt x="2076451" y="885825"/>
                  </a:cubicBezTo>
                  <a:lnTo>
                    <a:pt x="76199" y="885825"/>
                  </a:lnTo>
                  <a:cubicBezTo>
                    <a:pt x="34115" y="885825"/>
                    <a:pt x="0" y="851710"/>
                    <a:pt x="0" y="809626"/>
                  </a:cubicBezTo>
                  <a:lnTo>
                    <a:pt x="0" y="76199"/>
                  </a:lnTo>
                  <a:cubicBezTo>
                    <a:pt x="0" y="34143"/>
                    <a:pt x="34143" y="0"/>
                    <a:pt x="761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8900000" scaled="1"/>
              <a:tileRect/>
            </a:gra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6">
              <a:extLst>
                <a:ext uri="{FF2B5EF4-FFF2-40B4-BE49-F238E27FC236}">
                  <a16:creationId xmlns:a16="http://schemas.microsoft.com/office/drawing/2014/main" id="{57CB9874-37B6-103B-ACB8-A86E747C784C}"/>
                </a:ext>
              </a:extLst>
            </p:cNvPr>
            <p:cNvSpPr/>
            <p:nvPr/>
          </p:nvSpPr>
          <p:spPr>
            <a:xfrm>
              <a:off x="571500" y="5772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3578" y="25003"/>
                  </a:moveTo>
                  <a:cubicBezTo>
                    <a:pt x="53578" y="11207"/>
                    <a:pt x="64785" y="0"/>
                    <a:pt x="78581" y="0"/>
                  </a:cubicBezTo>
                  <a:lnTo>
                    <a:pt x="89297" y="0"/>
                  </a:lnTo>
                  <a:cubicBezTo>
                    <a:pt x="97200" y="0"/>
                    <a:pt x="103584" y="6385"/>
                    <a:pt x="103584" y="14288"/>
                  </a:cubicBezTo>
                  <a:lnTo>
                    <a:pt x="103584" y="214313"/>
                  </a:lnTo>
                  <a:cubicBezTo>
                    <a:pt x="103584" y="222215"/>
                    <a:pt x="97200" y="228600"/>
                    <a:pt x="89297" y="228600"/>
                  </a:cubicBezTo>
                  <a:lnTo>
                    <a:pt x="75009" y="228600"/>
                  </a:lnTo>
                  <a:cubicBezTo>
                    <a:pt x="61704" y="228600"/>
                    <a:pt x="50497" y="219492"/>
                    <a:pt x="47327" y="207169"/>
                  </a:cubicBezTo>
                  <a:cubicBezTo>
                    <a:pt x="47015" y="207169"/>
                    <a:pt x="46747" y="207169"/>
                    <a:pt x="46434" y="207169"/>
                  </a:cubicBezTo>
                  <a:cubicBezTo>
                    <a:pt x="26700" y="207169"/>
                    <a:pt x="10716" y="191185"/>
                    <a:pt x="10716" y="171450"/>
                  </a:cubicBezTo>
                  <a:cubicBezTo>
                    <a:pt x="10716" y="163413"/>
                    <a:pt x="13395" y="156002"/>
                    <a:pt x="17859" y="150019"/>
                  </a:cubicBezTo>
                  <a:cubicBezTo>
                    <a:pt x="9198" y="143500"/>
                    <a:pt x="3572" y="133142"/>
                    <a:pt x="3572" y="121444"/>
                  </a:cubicBezTo>
                  <a:cubicBezTo>
                    <a:pt x="3572" y="107647"/>
                    <a:pt x="11430" y="95637"/>
                    <a:pt x="22860" y="89699"/>
                  </a:cubicBezTo>
                  <a:cubicBezTo>
                    <a:pt x="19690" y="84341"/>
                    <a:pt x="17859" y="78090"/>
                    <a:pt x="17859" y="71438"/>
                  </a:cubicBezTo>
                  <a:cubicBezTo>
                    <a:pt x="17859" y="51703"/>
                    <a:pt x="33844" y="35719"/>
                    <a:pt x="53578" y="35719"/>
                  </a:cubicBezTo>
                  <a:lnTo>
                    <a:pt x="53578" y="25003"/>
                  </a:lnTo>
                  <a:close/>
                  <a:moveTo>
                    <a:pt x="175022" y="25003"/>
                  </a:moveTo>
                  <a:lnTo>
                    <a:pt x="175022" y="35719"/>
                  </a:lnTo>
                  <a:cubicBezTo>
                    <a:pt x="194756" y="35719"/>
                    <a:pt x="210741" y="51703"/>
                    <a:pt x="210741" y="71438"/>
                  </a:cubicBezTo>
                  <a:cubicBezTo>
                    <a:pt x="210741" y="78135"/>
                    <a:pt x="208910" y="84386"/>
                    <a:pt x="205740" y="89699"/>
                  </a:cubicBezTo>
                  <a:cubicBezTo>
                    <a:pt x="217215" y="95637"/>
                    <a:pt x="225028" y="107603"/>
                    <a:pt x="225028" y="121444"/>
                  </a:cubicBezTo>
                  <a:cubicBezTo>
                    <a:pt x="225028" y="133142"/>
                    <a:pt x="219402" y="143500"/>
                    <a:pt x="210741" y="150019"/>
                  </a:cubicBezTo>
                  <a:cubicBezTo>
                    <a:pt x="215205" y="156002"/>
                    <a:pt x="217884" y="163413"/>
                    <a:pt x="217884" y="171450"/>
                  </a:cubicBezTo>
                  <a:cubicBezTo>
                    <a:pt x="217884" y="191185"/>
                    <a:pt x="201900" y="207169"/>
                    <a:pt x="182166" y="207169"/>
                  </a:cubicBezTo>
                  <a:cubicBezTo>
                    <a:pt x="181853" y="207169"/>
                    <a:pt x="181585" y="207169"/>
                    <a:pt x="181273" y="207169"/>
                  </a:cubicBezTo>
                  <a:cubicBezTo>
                    <a:pt x="178103" y="219492"/>
                    <a:pt x="166896" y="228600"/>
                    <a:pt x="153591" y="228600"/>
                  </a:cubicBezTo>
                  <a:lnTo>
                    <a:pt x="139303" y="228600"/>
                  </a:lnTo>
                  <a:cubicBezTo>
                    <a:pt x="131400" y="228600"/>
                    <a:pt x="125016" y="222215"/>
                    <a:pt x="125016" y="214313"/>
                  </a:cubicBezTo>
                  <a:lnTo>
                    <a:pt x="125016" y="14288"/>
                  </a:lnTo>
                  <a:cubicBezTo>
                    <a:pt x="125016" y="6385"/>
                    <a:pt x="131400" y="0"/>
                    <a:pt x="139303" y="0"/>
                  </a:cubicBezTo>
                  <a:lnTo>
                    <a:pt x="150019" y="0"/>
                  </a:lnTo>
                  <a:cubicBezTo>
                    <a:pt x="163815" y="0"/>
                    <a:pt x="175022" y="11207"/>
                    <a:pt x="175022" y="25003"/>
                  </a:cubicBez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0EBBADDB-FF9D-EC36-9001-CD8CAF8BEB05}"/>
                </a:ext>
              </a:extLst>
            </p:cNvPr>
            <p:cNvSpPr/>
            <p:nvPr/>
          </p:nvSpPr>
          <p:spPr>
            <a:xfrm>
              <a:off x="542925" y="6124575"/>
              <a:ext cx="1905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Model</a:t>
              </a:r>
              <a:endParaRPr lang="en-US" sz="1600" dirty="0"/>
            </a:p>
          </p:txBody>
        </p:sp>
        <p:sp>
          <p:nvSpPr>
            <p:cNvPr id="50" name="Shape 8">
              <a:extLst>
                <a:ext uri="{FF2B5EF4-FFF2-40B4-BE49-F238E27FC236}">
                  <a16:creationId xmlns:a16="http://schemas.microsoft.com/office/drawing/2014/main" id="{09169C02-6440-E0A1-97C7-7FD72CC083D7}"/>
                </a:ext>
              </a:extLst>
            </p:cNvPr>
            <p:cNvSpPr/>
            <p:nvPr/>
          </p:nvSpPr>
          <p:spPr>
            <a:xfrm>
              <a:off x="2702198" y="5586413"/>
              <a:ext cx="2152650" cy="885825"/>
            </a:xfrm>
            <a:custGeom>
              <a:avLst/>
              <a:gdLst/>
              <a:ahLst/>
              <a:cxnLst/>
              <a:rect l="l" t="t" r="r" b="b"/>
              <a:pathLst>
                <a:path w="2152650" h="885825">
                  <a:moveTo>
                    <a:pt x="76199" y="0"/>
                  </a:moveTo>
                  <a:lnTo>
                    <a:pt x="2076451" y="0"/>
                  </a:lnTo>
                  <a:cubicBezTo>
                    <a:pt x="2118535" y="0"/>
                    <a:pt x="2152650" y="34115"/>
                    <a:pt x="2152650" y="76199"/>
                  </a:cubicBezTo>
                  <a:lnTo>
                    <a:pt x="2152650" y="809626"/>
                  </a:lnTo>
                  <a:cubicBezTo>
                    <a:pt x="2152650" y="851710"/>
                    <a:pt x="2118535" y="885825"/>
                    <a:pt x="2076451" y="885825"/>
                  </a:cubicBezTo>
                  <a:lnTo>
                    <a:pt x="76199" y="885825"/>
                  </a:lnTo>
                  <a:cubicBezTo>
                    <a:pt x="34115" y="885825"/>
                    <a:pt x="0" y="851710"/>
                    <a:pt x="0" y="809626"/>
                  </a:cubicBezTo>
                  <a:lnTo>
                    <a:pt x="0" y="76199"/>
                  </a:lnTo>
                  <a:cubicBezTo>
                    <a:pt x="0" y="34143"/>
                    <a:pt x="34143" y="0"/>
                    <a:pt x="761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8900000" scaled="1"/>
              <a:tileRect/>
            </a:gra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9">
              <a:extLst>
                <a:ext uri="{FF2B5EF4-FFF2-40B4-BE49-F238E27FC236}">
                  <a16:creationId xmlns:a16="http://schemas.microsoft.com/office/drawing/2014/main" id="{70BF6A99-FA6B-CF8D-E84D-102F9B55BF2D}"/>
                </a:ext>
              </a:extLst>
            </p:cNvPr>
            <p:cNvSpPr/>
            <p:nvPr/>
          </p:nvSpPr>
          <p:spPr>
            <a:xfrm>
              <a:off x="2887935" y="5772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00146" y="-1116"/>
                  </a:moveTo>
                  <a:cubicBezTo>
                    <a:pt x="108987" y="-6206"/>
                    <a:pt x="119881" y="-6206"/>
                    <a:pt x="128721" y="-1116"/>
                  </a:cubicBezTo>
                  <a:lnTo>
                    <a:pt x="207258" y="44202"/>
                  </a:lnTo>
                  <a:cubicBezTo>
                    <a:pt x="216098" y="49292"/>
                    <a:pt x="221546" y="58757"/>
                    <a:pt x="221546" y="68937"/>
                  </a:cubicBezTo>
                  <a:lnTo>
                    <a:pt x="221546" y="159574"/>
                  </a:lnTo>
                  <a:cubicBezTo>
                    <a:pt x="221546" y="169798"/>
                    <a:pt x="216098" y="179219"/>
                    <a:pt x="207258" y="184309"/>
                  </a:cubicBezTo>
                  <a:lnTo>
                    <a:pt x="128721" y="229716"/>
                  </a:lnTo>
                  <a:cubicBezTo>
                    <a:pt x="119881" y="234806"/>
                    <a:pt x="108987" y="234806"/>
                    <a:pt x="100146" y="229716"/>
                  </a:cubicBezTo>
                  <a:lnTo>
                    <a:pt x="21654" y="184398"/>
                  </a:lnTo>
                  <a:cubicBezTo>
                    <a:pt x="12814" y="179308"/>
                    <a:pt x="7367" y="169843"/>
                    <a:pt x="7367" y="159663"/>
                  </a:cubicBezTo>
                  <a:lnTo>
                    <a:pt x="7367" y="69026"/>
                  </a:lnTo>
                  <a:cubicBezTo>
                    <a:pt x="7367" y="58802"/>
                    <a:pt x="12814" y="49381"/>
                    <a:pt x="21654" y="44291"/>
                  </a:cubicBezTo>
                  <a:lnTo>
                    <a:pt x="100146" y="-1116"/>
                  </a:lnTo>
                  <a:close/>
                  <a:moveTo>
                    <a:pt x="192926" y="159618"/>
                  </a:moveTo>
                  <a:lnTo>
                    <a:pt x="192926" y="85457"/>
                  </a:lnTo>
                  <a:lnTo>
                    <a:pt x="128721" y="122515"/>
                  </a:lnTo>
                  <a:lnTo>
                    <a:pt x="128721" y="196676"/>
                  </a:lnTo>
                  <a:lnTo>
                    <a:pt x="192926" y="159618"/>
                  </a:ln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018B1A7D-930C-D874-9707-DAC717D561DB}"/>
                </a:ext>
              </a:extLst>
            </p:cNvPr>
            <p:cNvSpPr/>
            <p:nvPr/>
          </p:nvSpPr>
          <p:spPr>
            <a:xfrm>
              <a:off x="2859360" y="6124575"/>
              <a:ext cx="1905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Product</a:t>
              </a:r>
              <a:endParaRPr lang="en-US" sz="1600" dirty="0"/>
            </a:p>
          </p:txBody>
        </p:sp>
        <p:sp>
          <p:nvSpPr>
            <p:cNvPr id="53" name="Shape 11">
              <a:extLst>
                <a:ext uri="{FF2B5EF4-FFF2-40B4-BE49-F238E27FC236}">
                  <a16:creationId xmlns:a16="http://schemas.microsoft.com/office/drawing/2014/main" id="{41842497-5273-246C-D2D1-449DBBB2F9E9}"/>
                </a:ext>
              </a:extLst>
            </p:cNvPr>
            <p:cNvSpPr/>
            <p:nvPr/>
          </p:nvSpPr>
          <p:spPr>
            <a:xfrm>
              <a:off x="5018708" y="5586413"/>
              <a:ext cx="2152650" cy="885825"/>
            </a:xfrm>
            <a:custGeom>
              <a:avLst/>
              <a:gdLst/>
              <a:ahLst/>
              <a:cxnLst/>
              <a:rect l="l" t="t" r="r" b="b"/>
              <a:pathLst>
                <a:path w="2152650" h="885825">
                  <a:moveTo>
                    <a:pt x="76199" y="0"/>
                  </a:moveTo>
                  <a:lnTo>
                    <a:pt x="2076451" y="0"/>
                  </a:lnTo>
                  <a:cubicBezTo>
                    <a:pt x="2118535" y="0"/>
                    <a:pt x="2152650" y="34115"/>
                    <a:pt x="2152650" y="76199"/>
                  </a:cubicBezTo>
                  <a:lnTo>
                    <a:pt x="2152650" y="809626"/>
                  </a:lnTo>
                  <a:cubicBezTo>
                    <a:pt x="2152650" y="851710"/>
                    <a:pt x="2118535" y="885825"/>
                    <a:pt x="2076451" y="885825"/>
                  </a:cubicBezTo>
                  <a:lnTo>
                    <a:pt x="76199" y="885825"/>
                  </a:lnTo>
                  <a:cubicBezTo>
                    <a:pt x="34115" y="885825"/>
                    <a:pt x="0" y="851710"/>
                    <a:pt x="0" y="809626"/>
                  </a:cubicBezTo>
                  <a:lnTo>
                    <a:pt x="0" y="76199"/>
                  </a:lnTo>
                  <a:cubicBezTo>
                    <a:pt x="0" y="34143"/>
                    <a:pt x="34143" y="0"/>
                    <a:pt x="761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8900000" scaled="1"/>
              <a:tileRect/>
            </a:gra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12">
              <a:extLst>
                <a:ext uri="{FF2B5EF4-FFF2-40B4-BE49-F238E27FC236}">
                  <a16:creationId xmlns:a16="http://schemas.microsoft.com/office/drawing/2014/main" id="{9C94927C-B909-D42A-3203-EA5A297DF2AA}"/>
                </a:ext>
              </a:extLst>
            </p:cNvPr>
            <p:cNvSpPr/>
            <p:nvPr/>
          </p:nvSpPr>
          <p:spPr>
            <a:xfrm>
              <a:off x="5204445" y="5772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35719"/>
                  </a:moveTo>
                  <a:cubicBezTo>
                    <a:pt x="0" y="23887"/>
                    <a:pt x="9599" y="14288"/>
                    <a:pt x="21431" y="14288"/>
                  </a:cubicBezTo>
                  <a:lnTo>
                    <a:pt x="64294" y="14288"/>
                  </a:lnTo>
                  <a:cubicBezTo>
                    <a:pt x="76126" y="14288"/>
                    <a:pt x="85725" y="23887"/>
                    <a:pt x="85725" y="35719"/>
                  </a:cubicBezTo>
                  <a:lnTo>
                    <a:pt x="85725" y="42863"/>
                  </a:lnTo>
                  <a:lnTo>
                    <a:pt x="142875" y="42863"/>
                  </a:lnTo>
                  <a:lnTo>
                    <a:pt x="142875" y="35719"/>
                  </a:lnTo>
                  <a:cubicBezTo>
                    <a:pt x="142875" y="23887"/>
                    <a:pt x="152474" y="14288"/>
                    <a:pt x="164306" y="14288"/>
                  </a:cubicBezTo>
                  <a:lnTo>
                    <a:pt x="207169" y="14288"/>
                  </a:lnTo>
                  <a:cubicBezTo>
                    <a:pt x="219001" y="14288"/>
                    <a:pt x="228600" y="23887"/>
                    <a:pt x="228600" y="35719"/>
                  </a:cubicBezTo>
                  <a:lnTo>
                    <a:pt x="228600" y="78581"/>
                  </a:lnTo>
                  <a:cubicBezTo>
                    <a:pt x="228600" y="90413"/>
                    <a:pt x="219001" y="100013"/>
                    <a:pt x="207169" y="100013"/>
                  </a:cubicBezTo>
                  <a:lnTo>
                    <a:pt x="164306" y="100013"/>
                  </a:lnTo>
                  <a:cubicBezTo>
                    <a:pt x="152474" y="100013"/>
                    <a:pt x="142875" y="90413"/>
                    <a:pt x="142875" y="78581"/>
                  </a:cubicBezTo>
                  <a:lnTo>
                    <a:pt x="142875" y="71438"/>
                  </a:lnTo>
                  <a:lnTo>
                    <a:pt x="85725" y="71438"/>
                  </a:lnTo>
                  <a:lnTo>
                    <a:pt x="85725" y="78581"/>
                  </a:lnTo>
                  <a:cubicBezTo>
                    <a:pt x="85725" y="81841"/>
                    <a:pt x="84966" y="84966"/>
                    <a:pt x="83671" y="87734"/>
                  </a:cubicBezTo>
                  <a:lnTo>
                    <a:pt x="114300" y="128588"/>
                  </a:lnTo>
                  <a:lnTo>
                    <a:pt x="150019" y="128588"/>
                  </a:lnTo>
                  <a:cubicBezTo>
                    <a:pt x="161851" y="128588"/>
                    <a:pt x="171450" y="138187"/>
                    <a:pt x="171450" y="150019"/>
                  </a:cubicBezTo>
                  <a:lnTo>
                    <a:pt x="171450" y="192881"/>
                  </a:lnTo>
                  <a:cubicBezTo>
                    <a:pt x="171450" y="204713"/>
                    <a:pt x="161851" y="214313"/>
                    <a:pt x="150019" y="214313"/>
                  </a:cubicBezTo>
                  <a:lnTo>
                    <a:pt x="107156" y="214313"/>
                  </a:lnTo>
                  <a:cubicBezTo>
                    <a:pt x="95324" y="214313"/>
                    <a:pt x="85725" y="204713"/>
                    <a:pt x="85725" y="192881"/>
                  </a:cubicBezTo>
                  <a:lnTo>
                    <a:pt x="85725" y="150019"/>
                  </a:lnTo>
                  <a:cubicBezTo>
                    <a:pt x="85725" y="146759"/>
                    <a:pt x="86484" y="143634"/>
                    <a:pt x="87779" y="140866"/>
                  </a:cubicBezTo>
                  <a:lnTo>
                    <a:pt x="57150" y="100013"/>
                  </a:lnTo>
                  <a:lnTo>
                    <a:pt x="21431" y="100013"/>
                  </a:lnTo>
                  <a:cubicBezTo>
                    <a:pt x="9599" y="100013"/>
                    <a:pt x="0" y="90413"/>
                    <a:pt x="0" y="78581"/>
                  </a:cubicBezTo>
                  <a:lnTo>
                    <a:pt x="0" y="35719"/>
                  </a:ln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3">
              <a:extLst>
                <a:ext uri="{FF2B5EF4-FFF2-40B4-BE49-F238E27FC236}">
                  <a16:creationId xmlns:a16="http://schemas.microsoft.com/office/drawing/2014/main" id="{FB908574-1306-2A66-25CF-F54609731B3C}"/>
                </a:ext>
              </a:extLst>
            </p:cNvPr>
            <p:cNvSpPr/>
            <p:nvPr/>
          </p:nvSpPr>
          <p:spPr>
            <a:xfrm>
              <a:off x="5175870" y="6124575"/>
              <a:ext cx="1905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Workflow</a:t>
              </a:r>
              <a:endParaRPr lang="en-US" sz="1600" dirty="0"/>
            </a:p>
          </p:txBody>
        </p:sp>
        <p:sp>
          <p:nvSpPr>
            <p:cNvPr id="56" name="Shape 14">
              <a:extLst>
                <a:ext uri="{FF2B5EF4-FFF2-40B4-BE49-F238E27FC236}">
                  <a16:creationId xmlns:a16="http://schemas.microsoft.com/office/drawing/2014/main" id="{D5B8F9B6-6841-CBA2-1282-2877004494AB}"/>
                </a:ext>
              </a:extLst>
            </p:cNvPr>
            <p:cNvSpPr/>
            <p:nvPr/>
          </p:nvSpPr>
          <p:spPr>
            <a:xfrm>
              <a:off x="7335143" y="5586413"/>
              <a:ext cx="2152650" cy="885825"/>
            </a:xfrm>
            <a:custGeom>
              <a:avLst/>
              <a:gdLst/>
              <a:ahLst/>
              <a:cxnLst/>
              <a:rect l="l" t="t" r="r" b="b"/>
              <a:pathLst>
                <a:path w="2152650" h="885825">
                  <a:moveTo>
                    <a:pt x="76199" y="0"/>
                  </a:moveTo>
                  <a:lnTo>
                    <a:pt x="2076451" y="0"/>
                  </a:lnTo>
                  <a:cubicBezTo>
                    <a:pt x="2118535" y="0"/>
                    <a:pt x="2152650" y="34115"/>
                    <a:pt x="2152650" y="76199"/>
                  </a:cubicBezTo>
                  <a:lnTo>
                    <a:pt x="2152650" y="809626"/>
                  </a:lnTo>
                  <a:cubicBezTo>
                    <a:pt x="2152650" y="851710"/>
                    <a:pt x="2118535" y="885825"/>
                    <a:pt x="2076451" y="885825"/>
                  </a:cubicBezTo>
                  <a:lnTo>
                    <a:pt x="76199" y="885825"/>
                  </a:lnTo>
                  <a:cubicBezTo>
                    <a:pt x="34115" y="885825"/>
                    <a:pt x="0" y="851710"/>
                    <a:pt x="0" y="809626"/>
                  </a:cubicBezTo>
                  <a:lnTo>
                    <a:pt x="0" y="76199"/>
                  </a:lnTo>
                  <a:cubicBezTo>
                    <a:pt x="0" y="34143"/>
                    <a:pt x="34143" y="0"/>
                    <a:pt x="761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8900000" scaled="1"/>
              <a:tileRect/>
            </a:gra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15">
              <a:extLst>
                <a:ext uri="{FF2B5EF4-FFF2-40B4-BE49-F238E27FC236}">
                  <a16:creationId xmlns:a16="http://schemas.microsoft.com/office/drawing/2014/main" id="{0DE4E100-1435-B6BD-88E0-21C17EFF3096}"/>
                </a:ext>
              </a:extLst>
            </p:cNvPr>
            <p:cNvSpPr/>
            <p:nvPr/>
          </p:nvSpPr>
          <p:spPr>
            <a:xfrm>
              <a:off x="7535168" y="577215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3" y="3572"/>
                  </a:moveTo>
                  <a:cubicBezTo>
                    <a:pt x="70442" y="3572"/>
                    <a:pt x="46434" y="27579"/>
                    <a:pt x="46434" y="57150"/>
                  </a:cubicBezTo>
                  <a:cubicBezTo>
                    <a:pt x="46434" y="86721"/>
                    <a:pt x="70442" y="110728"/>
                    <a:pt x="100012" y="110728"/>
                  </a:cubicBezTo>
                  <a:cubicBezTo>
                    <a:pt x="129583" y="110728"/>
                    <a:pt x="153591" y="86721"/>
                    <a:pt x="153591" y="57150"/>
                  </a:cubicBezTo>
                  <a:cubicBezTo>
                    <a:pt x="153591" y="27579"/>
                    <a:pt x="129583" y="3572"/>
                    <a:pt x="100013" y="3572"/>
                  </a:cubicBezTo>
                  <a:close/>
                  <a:moveTo>
                    <a:pt x="126802" y="143232"/>
                  </a:moveTo>
                  <a:cubicBezTo>
                    <a:pt x="124391" y="143009"/>
                    <a:pt x="121890" y="142875"/>
                    <a:pt x="119390" y="142875"/>
                  </a:cubicBezTo>
                  <a:lnTo>
                    <a:pt x="80590" y="142875"/>
                  </a:lnTo>
                  <a:cubicBezTo>
                    <a:pt x="78090" y="142875"/>
                    <a:pt x="75634" y="143009"/>
                    <a:pt x="73179" y="143232"/>
                  </a:cubicBezTo>
                  <a:lnTo>
                    <a:pt x="73179" y="173370"/>
                  </a:lnTo>
                  <a:cubicBezTo>
                    <a:pt x="80546" y="176763"/>
                    <a:pt x="85680" y="184219"/>
                    <a:pt x="85680" y="192837"/>
                  </a:cubicBezTo>
                  <a:cubicBezTo>
                    <a:pt x="85680" y="204668"/>
                    <a:pt x="76081" y="214268"/>
                    <a:pt x="64249" y="214268"/>
                  </a:cubicBezTo>
                  <a:cubicBezTo>
                    <a:pt x="52417" y="214268"/>
                    <a:pt x="42818" y="204668"/>
                    <a:pt x="42818" y="192837"/>
                  </a:cubicBezTo>
                  <a:cubicBezTo>
                    <a:pt x="42818" y="184175"/>
                    <a:pt x="47952" y="176719"/>
                    <a:pt x="55319" y="173370"/>
                  </a:cubicBezTo>
                  <a:lnTo>
                    <a:pt x="55319" y="147295"/>
                  </a:lnTo>
                  <a:cubicBezTo>
                    <a:pt x="27236" y="157609"/>
                    <a:pt x="7144" y="184666"/>
                    <a:pt x="7144" y="216366"/>
                  </a:cubicBezTo>
                  <a:cubicBezTo>
                    <a:pt x="7144" y="223108"/>
                    <a:pt x="12636" y="228600"/>
                    <a:pt x="19377" y="228600"/>
                  </a:cubicBezTo>
                  <a:lnTo>
                    <a:pt x="180603" y="228600"/>
                  </a:lnTo>
                  <a:cubicBezTo>
                    <a:pt x="187345" y="228600"/>
                    <a:pt x="192837" y="223108"/>
                    <a:pt x="192837" y="216366"/>
                  </a:cubicBezTo>
                  <a:cubicBezTo>
                    <a:pt x="192837" y="184666"/>
                    <a:pt x="172745" y="157654"/>
                    <a:pt x="144616" y="147340"/>
                  </a:cubicBezTo>
                  <a:lnTo>
                    <a:pt x="144616" y="164038"/>
                  </a:lnTo>
                  <a:cubicBezTo>
                    <a:pt x="155019" y="167700"/>
                    <a:pt x="162476" y="177656"/>
                    <a:pt x="162476" y="189309"/>
                  </a:cubicBezTo>
                  <a:lnTo>
                    <a:pt x="162476" y="203597"/>
                  </a:lnTo>
                  <a:cubicBezTo>
                    <a:pt x="162476" y="208508"/>
                    <a:pt x="158457" y="212527"/>
                    <a:pt x="153546" y="212527"/>
                  </a:cubicBezTo>
                  <a:cubicBezTo>
                    <a:pt x="148635" y="212527"/>
                    <a:pt x="144616" y="208508"/>
                    <a:pt x="144616" y="203597"/>
                  </a:cubicBezTo>
                  <a:lnTo>
                    <a:pt x="144616" y="189309"/>
                  </a:lnTo>
                  <a:cubicBezTo>
                    <a:pt x="144616" y="184398"/>
                    <a:pt x="140598" y="180380"/>
                    <a:pt x="135687" y="180380"/>
                  </a:cubicBezTo>
                  <a:cubicBezTo>
                    <a:pt x="130775" y="180380"/>
                    <a:pt x="126757" y="184398"/>
                    <a:pt x="126757" y="189309"/>
                  </a:cubicBezTo>
                  <a:lnTo>
                    <a:pt x="126757" y="203597"/>
                  </a:lnTo>
                  <a:cubicBezTo>
                    <a:pt x="126757" y="208508"/>
                    <a:pt x="122739" y="212527"/>
                    <a:pt x="117827" y="212527"/>
                  </a:cubicBezTo>
                  <a:cubicBezTo>
                    <a:pt x="112916" y="212527"/>
                    <a:pt x="108898" y="208508"/>
                    <a:pt x="108898" y="203597"/>
                  </a:cubicBezTo>
                  <a:lnTo>
                    <a:pt x="108898" y="189309"/>
                  </a:lnTo>
                  <a:cubicBezTo>
                    <a:pt x="108898" y="177656"/>
                    <a:pt x="116354" y="167744"/>
                    <a:pt x="126757" y="164038"/>
                  </a:cubicBezTo>
                  <a:lnTo>
                    <a:pt x="126757" y="143232"/>
                  </a:ln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16">
              <a:extLst>
                <a:ext uri="{FF2B5EF4-FFF2-40B4-BE49-F238E27FC236}">
                  <a16:creationId xmlns:a16="http://schemas.microsoft.com/office/drawing/2014/main" id="{C1C35635-4FCE-F18A-E2E4-C12204BF98F5}"/>
                </a:ext>
              </a:extLst>
            </p:cNvPr>
            <p:cNvSpPr/>
            <p:nvPr/>
          </p:nvSpPr>
          <p:spPr>
            <a:xfrm>
              <a:off x="7492305" y="6124575"/>
              <a:ext cx="1905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Clinicians</a:t>
              </a:r>
              <a:endParaRPr lang="en-US" sz="1600" dirty="0"/>
            </a:p>
          </p:txBody>
        </p:sp>
        <p:sp>
          <p:nvSpPr>
            <p:cNvPr id="59" name="Shape 17">
              <a:extLst>
                <a:ext uri="{FF2B5EF4-FFF2-40B4-BE49-F238E27FC236}">
                  <a16:creationId xmlns:a16="http://schemas.microsoft.com/office/drawing/2014/main" id="{601EEFB6-1511-3447-EAE3-9C7CD964400B}"/>
                </a:ext>
              </a:extLst>
            </p:cNvPr>
            <p:cNvSpPr/>
            <p:nvPr/>
          </p:nvSpPr>
          <p:spPr>
            <a:xfrm>
              <a:off x="9651653" y="5586413"/>
              <a:ext cx="2152650" cy="885825"/>
            </a:xfrm>
            <a:custGeom>
              <a:avLst/>
              <a:gdLst/>
              <a:ahLst/>
              <a:cxnLst/>
              <a:rect l="l" t="t" r="r" b="b"/>
              <a:pathLst>
                <a:path w="2152650" h="885825">
                  <a:moveTo>
                    <a:pt x="76199" y="0"/>
                  </a:moveTo>
                  <a:lnTo>
                    <a:pt x="2076451" y="0"/>
                  </a:lnTo>
                  <a:cubicBezTo>
                    <a:pt x="2118535" y="0"/>
                    <a:pt x="2152650" y="34115"/>
                    <a:pt x="2152650" y="76199"/>
                  </a:cubicBezTo>
                  <a:lnTo>
                    <a:pt x="2152650" y="809626"/>
                  </a:lnTo>
                  <a:cubicBezTo>
                    <a:pt x="2152650" y="851710"/>
                    <a:pt x="2118535" y="885825"/>
                    <a:pt x="2076451" y="885825"/>
                  </a:cubicBezTo>
                  <a:lnTo>
                    <a:pt x="76199" y="885825"/>
                  </a:lnTo>
                  <a:cubicBezTo>
                    <a:pt x="34115" y="885825"/>
                    <a:pt x="0" y="851710"/>
                    <a:pt x="0" y="809626"/>
                  </a:cubicBezTo>
                  <a:lnTo>
                    <a:pt x="0" y="76199"/>
                  </a:lnTo>
                  <a:cubicBezTo>
                    <a:pt x="0" y="34143"/>
                    <a:pt x="34143" y="0"/>
                    <a:pt x="7619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8900000" scaled="1"/>
              <a:tileRect/>
            </a:gra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18">
              <a:extLst>
                <a:ext uri="{FF2B5EF4-FFF2-40B4-BE49-F238E27FC236}">
                  <a16:creationId xmlns:a16="http://schemas.microsoft.com/office/drawing/2014/main" id="{13D60F91-8637-87C5-7A08-9BE4DA6BBCC3}"/>
                </a:ext>
              </a:extLst>
            </p:cNvPr>
            <p:cNvSpPr/>
            <p:nvPr/>
          </p:nvSpPr>
          <p:spPr>
            <a:xfrm>
              <a:off x="9837390" y="5772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48176"/>
                  </a:moveTo>
                  <a:lnTo>
                    <a:pt x="107603" y="38889"/>
                  </a:lnTo>
                  <a:cubicBezTo>
                    <a:pt x="96441" y="23440"/>
                    <a:pt x="78537" y="14288"/>
                    <a:pt x="59427" y="14288"/>
                  </a:cubicBezTo>
                  <a:cubicBezTo>
                    <a:pt x="26610" y="14288"/>
                    <a:pt x="0" y="40898"/>
                    <a:pt x="0" y="73715"/>
                  </a:cubicBezTo>
                  <a:lnTo>
                    <a:pt x="0" y="74875"/>
                  </a:lnTo>
                  <a:cubicBezTo>
                    <a:pt x="0" y="85412"/>
                    <a:pt x="2768" y="96307"/>
                    <a:pt x="7412" y="107156"/>
                  </a:cubicBezTo>
                  <a:lnTo>
                    <a:pt x="54739" y="107156"/>
                  </a:lnTo>
                  <a:cubicBezTo>
                    <a:pt x="56168" y="107156"/>
                    <a:pt x="57463" y="106308"/>
                    <a:pt x="58043" y="104968"/>
                  </a:cubicBezTo>
                  <a:lnTo>
                    <a:pt x="72241" y="70902"/>
                  </a:lnTo>
                  <a:cubicBezTo>
                    <a:pt x="73893" y="66973"/>
                    <a:pt x="77733" y="64383"/>
                    <a:pt x="81975" y="64294"/>
                  </a:cubicBezTo>
                  <a:cubicBezTo>
                    <a:pt x="86216" y="64204"/>
                    <a:pt x="90145" y="66705"/>
                    <a:pt x="91886" y="70589"/>
                  </a:cubicBezTo>
                  <a:lnTo>
                    <a:pt x="114791" y="121444"/>
                  </a:lnTo>
                  <a:lnTo>
                    <a:pt x="133276" y="84475"/>
                  </a:lnTo>
                  <a:cubicBezTo>
                    <a:pt x="135106" y="80858"/>
                    <a:pt x="138812" y="78537"/>
                    <a:pt x="142875" y="78537"/>
                  </a:cubicBezTo>
                  <a:cubicBezTo>
                    <a:pt x="146938" y="78537"/>
                    <a:pt x="150644" y="80814"/>
                    <a:pt x="152474" y="84475"/>
                  </a:cubicBezTo>
                  <a:lnTo>
                    <a:pt x="162833" y="105147"/>
                  </a:lnTo>
                  <a:cubicBezTo>
                    <a:pt x="163458" y="106353"/>
                    <a:pt x="164663" y="107112"/>
                    <a:pt x="166048" y="107112"/>
                  </a:cubicBezTo>
                  <a:lnTo>
                    <a:pt x="221233" y="107112"/>
                  </a:lnTo>
                  <a:cubicBezTo>
                    <a:pt x="225921" y="96262"/>
                    <a:pt x="228645" y="85368"/>
                    <a:pt x="228645" y="74831"/>
                  </a:cubicBezTo>
                  <a:lnTo>
                    <a:pt x="228645" y="73670"/>
                  </a:lnTo>
                  <a:cubicBezTo>
                    <a:pt x="228600" y="40898"/>
                    <a:pt x="201990" y="14288"/>
                    <a:pt x="169173" y="14288"/>
                  </a:cubicBezTo>
                  <a:cubicBezTo>
                    <a:pt x="150108" y="14288"/>
                    <a:pt x="132159" y="23440"/>
                    <a:pt x="120997" y="38889"/>
                  </a:cubicBezTo>
                  <a:lnTo>
                    <a:pt x="114300" y="48131"/>
                  </a:lnTo>
                  <a:close/>
                  <a:moveTo>
                    <a:pt x="209669" y="128588"/>
                  </a:moveTo>
                  <a:lnTo>
                    <a:pt x="166003" y="128588"/>
                  </a:lnTo>
                  <a:cubicBezTo>
                    <a:pt x="156537" y="128588"/>
                    <a:pt x="147876" y="123230"/>
                    <a:pt x="143634" y="114746"/>
                  </a:cubicBezTo>
                  <a:lnTo>
                    <a:pt x="142875" y="113228"/>
                  </a:lnTo>
                  <a:lnTo>
                    <a:pt x="123899" y="151224"/>
                  </a:lnTo>
                  <a:cubicBezTo>
                    <a:pt x="122069" y="154930"/>
                    <a:pt x="118229" y="157252"/>
                    <a:pt x="114077" y="157163"/>
                  </a:cubicBezTo>
                  <a:cubicBezTo>
                    <a:pt x="109924" y="157073"/>
                    <a:pt x="106219" y="154618"/>
                    <a:pt x="104522" y="150867"/>
                  </a:cubicBezTo>
                  <a:lnTo>
                    <a:pt x="82510" y="101977"/>
                  </a:lnTo>
                  <a:lnTo>
                    <a:pt x="77822" y="113228"/>
                  </a:lnTo>
                  <a:cubicBezTo>
                    <a:pt x="73938" y="122560"/>
                    <a:pt x="64830" y="128632"/>
                    <a:pt x="54739" y="128632"/>
                  </a:cubicBezTo>
                  <a:lnTo>
                    <a:pt x="18931" y="128632"/>
                  </a:lnTo>
                  <a:cubicBezTo>
                    <a:pt x="40005" y="161583"/>
                    <a:pt x="73849" y="191899"/>
                    <a:pt x="95012" y="208062"/>
                  </a:cubicBezTo>
                  <a:cubicBezTo>
                    <a:pt x="100548" y="212259"/>
                    <a:pt x="107335" y="214357"/>
                    <a:pt x="114255" y="214357"/>
                  </a:cubicBezTo>
                  <a:cubicBezTo>
                    <a:pt x="121176" y="214357"/>
                    <a:pt x="128007" y="212303"/>
                    <a:pt x="133499" y="208062"/>
                  </a:cubicBezTo>
                  <a:cubicBezTo>
                    <a:pt x="154751" y="191854"/>
                    <a:pt x="188595" y="161538"/>
                    <a:pt x="209669" y="128588"/>
                  </a:cubicBezTo>
                  <a:close/>
                </a:path>
              </a:pathLst>
            </a:custGeom>
            <a:solidFill>
              <a:srgbClr val="00A3A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19">
              <a:extLst>
                <a:ext uri="{FF2B5EF4-FFF2-40B4-BE49-F238E27FC236}">
                  <a16:creationId xmlns:a16="http://schemas.microsoft.com/office/drawing/2014/main" id="{A6B16543-1251-C71C-6F6D-B014777EE551}"/>
                </a:ext>
              </a:extLst>
            </p:cNvPr>
            <p:cNvSpPr/>
            <p:nvPr/>
          </p:nvSpPr>
          <p:spPr>
            <a:xfrm>
              <a:off x="9808815" y="6124575"/>
              <a:ext cx="19050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Patient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461" y="452954"/>
            <a:ext cx="377461" cy="37746"/>
          </a:xfrm>
          <a:custGeom>
            <a:avLst/>
            <a:gdLst/>
            <a:ahLst/>
            <a:cxnLst/>
            <a:rect l="l" t="t" r="r" b="b"/>
            <a:pathLst>
              <a:path w="377461" h="37746">
                <a:moveTo>
                  <a:pt x="0" y="0"/>
                </a:moveTo>
                <a:lnTo>
                  <a:pt x="377461" y="0"/>
                </a:lnTo>
                <a:lnTo>
                  <a:pt x="377461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161" y="377461"/>
            <a:ext cx="94365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kern="0" spc="104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461" y="641684"/>
            <a:ext cx="11606935" cy="42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5" b="1" dirty="0">
                <a:solidFill>
                  <a:srgbClr val="0A25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healthcare AI needs safety boundaries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7461" y="1066328"/>
            <a:ext cx="1152200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Health — Nature Medicine stress test findings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7461" y="1481536"/>
            <a:ext cx="5152347" cy="2340260"/>
          </a:xfrm>
          <a:custGeom>
            <a:avLst/>
            <a:gdLst/>
            <a:ahLst/>
            <a:cxnLst/>
            <a:rect l="l" t="t" r="r" b="b"/>
            <a:pathLst>
              <a:path w="5152347" h="2340260">
                <a:moveTo>
                  <a:pt x="113245" y="0"/>
                </a:moveTo>
                <a:lnTo>
                  <a:pt x="5039102" y="0"/>
                </a:lnTo>
                <a:cubicBezTo>
                  <a:pt x="5101645" y="0"/>
                  <a:pt x="5152347" y="50702"/>
                  <a:pt x="5152347" y="113245"/>
                </a:cubicBezTo>
                <a:lnTo>
                  <a:pt x="5152347" y="2227015"/>
                </a:lnTo>
                <a:cubicBezTo>
                  <a:pt x="5152347" y="2289558"/>
                  <a:pt x="5101645" y="2340260"/>
                  <a:pt x="5039102" y="2340260"/>
                </a:cubicBezTo>
                <a:lnTo>
                  <a:pt x="113245" y="2340260"/>
                </a:lnTo>
                <a:cubicBezTo>
                  <a:pt x="50702" y="2340260"/>
                  <a:pt x="0" y="2289558"/>
                  <a:pt x="0" y="2227015"/>
                </a:cubicBezTo>
                <a:lnTo>
                  <a:pt x="0" y="113245"/>
                </a:lnTo>
                <a:cubicBezTo>
                  <a:pt x="0" y="50743"/>
                  <a:pt x="50743" y="0"/>
                  <a:pt x="11324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619" dist="3774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192" y="1670267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226477" y="0"/>
                </a:moveTo>
                <a:lnTo>
                  <a:pt x="226477" y="0"/>
                </a:lnTo>
                <a:cubicBezTo>
                  <a:pt x="351473" y="0"/>
                  <a:pt x="452954" y="101481"/>
                  <a:pt x="452954" y="226477"/>
                </a:cubicBezTo>
                <a:lnTo>
                  <a:pt x="452954" y="226477"/>
                </a:lnTo>
                <a:cubicBezTo>
                  <a:pt x="452954" y="351473"/>
                  <a:pt x="351473" y="452954"/>
                  <a:pt x="226477" y="452954"/>
                </a:cubicBezTo>
                <a:lnTo>
                  <a:pt x="226477" y="452954"/>
                </a:lnTo>
                <a:cubicBezTo>
                  <a:pt x="101481" y="452954"/>
                  <a:pt x="0" y="351473"/>
                  <a:pt x="0" y="226477"/>
                </a:cubicBezTo>
                <a:lnTo>
                  <a:pt x="0" y="226477"/>
                </a:lnTo>
                <a:cubicBezTo>
                  <a:pt x="0" y="101481"/>
                  <a:pt x="101481" y="0"/>
                  <a:pt x="226477" y="0"/>
                </a:cubicBezTo>
                <a:close/>
              </a:path>
            </a:pathLst>
          </a:cu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0099" y="1802378"/>
            <a:ext cx="165139" cy="188731"/>
          </a:xfrm>
          <a:custGeom>
            <a:avLst/>
            <a:gdLst/>
            <a:ahLst/>
            <a:cxnLst/>
            <a:rect l="l" t="t" r="r" b="b"/>
            <a:pathLst>
              <a:path w="165139" h="188731">
                <a:moveTo>
                  <a:pt x="106161" y="0"/>
                </a:moveTo>
                <a:lnTo>
                  <a:pt x="47183" y="0"/>
                </a:lnTo>
                <a:cubicBezTo>
                  <a:pt x="40658" y="0"/>
                  <a:pt x="35387" y="5271"/>
                  <a:pt x="35387" y="11796"/>
                </a:cubicBezTo>
                <a:cubicBezTo>
                  <a:pt x="35387" y="18320"/>
                  <a:pt x="40658" y="23591"/>
                  <a:pt x="47183" y="23591"/>
                </a:cubicBezTo>
                <a:lnTo>
                  <a:pt x="47183" y="79436"/>
                </a:lnTo>
                <a:lnTo>
                  <a:pt x="2765" y="157140"/>
                </a:lnTo>
                <a:cubicBezTo>
                  <a:pt x="958" y="160347"/>
                  <a:pt x="0" y="163923"/>
                  <a:pt x="0" y="167609"/>
                </a:cubicBezTo>
                <a:cubicBezTo>
                  <a:pt x="0" y="179294"/>
                  <a:pt x="9437" y="188731"/>
                  <a:pt x="21122" y="188731"/>
                </a:cubicBezTo>
                <a:lnTo>
                  <a:pt x="144018" y="188731"/>
                </a:lnTo>
                <a:cubicBezTo>
                  <a:pt x="155666" y="188731"/>
                  <a:pt x="165139" y="179294"/>
                  <a:pt x="165139" y="167609"/>
                </a:cubicBezTo>
                <a:cubicBezTo>
                  <a:pt x="165139" y="163923"/>
                  <a:pt x="164181" y="160310"/>
                  <a:pt x="162375" y="157140"/>
                </a:cubicBezTo>
                <a:lnTo>
                  <a:pt x="117957" y="79436"/>
                </a:lnTo>
                <a:lnTo>
                  <a:pt x="117957" y="23591"/>
                </a:lnTo>
                <a:cubicBezTo>
                  <a:pt x="124481" y="23591"/>
                  <a:pt x="129752" y="18320"/>
                  <a:pt x="129752" y="11796"/>
                </a:cubicBezTo>
                <a:cubicBezTo>
                  <a:pt x="129752" y="5271"/>
                  <a:pt x="124481" y="0"/>
                  <a:pt x="117957" y="0"/>
                </a:cubicBezTo>
                <a:lnTo>
                  <a:pt x="106161" y="0"/>
                </a:lnTo>
                <a:close/>
                <a:moveTo>
                  <a:pt x="70774" y="79436"/>
                </a:moveTo>
                <a:lnTo>
                  <a:pt x="70774" y="23591"/>
                </a:lnTo>
                <a:lnTo>
                  <a:pt x="94365" y="23591"/>
                </a:lnTo>
                <a:lnTo>
                  <a:pt x="94365" y="79436"/>
                </a:lnTo>
                <a:cubicBezTo>
                  <a:pt x="94365" y="83528"/>
                  <a:pt x="95434" y="87583"/>
                  <a:pt x="97462" y="91158"/>
                </a:cubicBezTo>
                <a:lnTo>
                  <a:pt x="112796" y="117957"/>
                </a:lnTo>
                <a:lnTo>
                  <a:pt x="52343" y="117957"/>
                </a:lnTo>
                <a:lnTo>
                  <a:pt x="67678" y="91158"/>
                </a:lnTo>
                <a:cubicBezTo>
                  <a:pt x="69705" y="87583"/>
                  <a:pt x="70774" y="83565"/>
                  <a:pt x="70774" y="794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32384" y="1764632"/>
            <a:ext cx="120787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0A25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Design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192" y="2274205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75492" y="0"/>
                </a:moveTo>
                <a:lnTo>
                  <a:pt x="301969" y="0"/>
                </a:lnTo>
                <a:cubicBezTo>
                  <a:pt x="343662" y="0"/>
                  <a:pt x="377461" y="33799"/>
                  <a:pt x="377461" y="75492"/>
                </a:cubicBezTo>
                <a:lnTo>
                  <a:pt x="377461" y="301969"/>
                </a:lnTo>
                <a:cubicBezTo>
                  <a:pt x="377461" y="343662"/>
                  <a:pt x="343662" y="377461"/>
                  <a:pt x="301969" y="377461"/>
                </a:cubicBezTo>
                <a:lnTo>
                  <a:pt x="75492" y="377461"/>
                </a:lnTo>
                <a:cubicBezTo>
                  <a:pt x="33799" y="377461"/>
                  <a:pt x="0" y="343662"/>
                  <a:pt x="0" y="30196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00A3A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941" y="2330824"/>
            <a:ext cx="29253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00A3A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6892" y="2349697"/>
            <a:ext cx="1915616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Clinician-authored vignettes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192" y="2764904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75492" y="0"/>
                </a:moveTo>
                <a:lnTo>
                  <a:pt x="301969" y="0"/>
                </a:lnTo>
                <a:cubicBezTo>
                  <a:pt x="343662" y="0"/>
                  <a:pt x="377461" y="33799"/>
                  <a:pt x="377461" y="75492"/>
                </a:cubicBezTo>
                <a:lnTo>
                  <a:pt x="377461" y="301969"/>
                </a:lnTo>
                <a:cubicBezTo>
                  <a:pt x="377461" y="343662"/>
                  <a:pt x="343662" y="377461"/>
                  <a:pt x="301969" y="377461"/>
                </a:cubicBezTo>
                <a:lnTo>
                  <a:pt x="75492" y="377461"/>
                </a:lnTo>
                <a:cubicBezTo>
                  <a:pt x="33799" y="377461"/>
                  <a:pt x="0" y="343662"/>
                  <a:pt x="0" y="30196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00A3A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1542" y="2821523"/>
            <a:ext cx="25478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00A3A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6892" y="2840397"/>
            <a:ext cx="1717449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domains covered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192" y="3255604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75492" y="0"/>
                </a:moveTo>
                <a:lnTo>
                  <a:pt x="301969" y="0"/>
                </a:lnTo>
                <a:cubicBezTo>
                  <a:pt x="343662" y="0"/>
                  <a:pt x="377461" y="33799"/>
                  <a:pt x="377461" y="75492"/>
                </a:cubicBezTo>
                <a:lnTo>
                  <a:pt x="377461" y="301969"/>
                </a:lnTo>
                <a:cubicBezTo>
                  <a:pt x="377461" y="343662"/>
                  <a:pt x="343662" y="377461"/>
                  <a:pt x="301969" y="377461"/>
                </a:cubicBezTo>
                <a:lnTo>
                  <a:pt x="75492" y="377461"/>
                </a:lnTo>
                <a:cubicBezTo>
                  <a:pt x="33799" y="377461"/>
                  <a:pt x="0" y="343662"/>
                  <a:pt x="0" y="30196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00A3A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9146" y="3312223"/>
            <a:ext cx="396334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00A3A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6892" y="3331096"/>
            <a:ext cx="1472099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test interactions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6334" y="3972780"/>
            <a:ext cx="5133474" cy="1453226"/>
          </a:xfrm>
          <a:custGeom>
            <a:avLst/>
            <a:gdLst/>
            <a:ahLst/>
            <a:cxnLst/>
            <a:rect l="l" t="t" r="r" b="b"/>
            <a:pathLst>
              <a:path w="5133474" h="1453226">
                <a:moveTo>
                  <a:pt x="37746" y="0"/>
                </a:moveTo>
                <a:lnTo>
                  <a:pt x="5020238" y="0"/>
                </a:lnTo>
                <a:cubicBezTo>
                  <a:pt x="5082776" y="0"/>
                  <a:pt x="5133474" y="50697"/>
                  <a:pt x="5133474" y="113235"/>
                </a:cubicBezTo>
                <a:lnTo>
                  <a:pt x="5133474" y="1339991"/>
                </a:lnTo>
                <a:cubicBezTo>
                  <a:pt x="5133474" y="1402529"/>
                  <a:pt x="5082776" y="1453226"/>
                  <a:pt x="5020238" y="1453226"/>
                </a:cubicBezTo>
                <a:lnTo>
                  <a:pt x="37746" y="1453226"/>
                </a:lnTo>
                <a:cubicBezTo>
                  <a:pt x="16900" y="1453226"/>
                  <a:pt x="0" y="1436326"/>
                  <a:pt x="0" y="1415480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E85D4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6334" y="3972780"/>
            <a:ext cx="37746" cy="1453226"/>
          </a:xfrm>
          <a:custGeom>
            <a:avLst/>
            <a:gdLst/>
            <a:ahLst/>
            <a:cxnLst/>
            <a:rect l="l" t="t" r="r" b="b"/>
            <a:pathLst>
              <a:path w="37746" h="1453226">
                <a:moveTo>
                  <a:pt x="37746" y="0"/>
                </a:moveTo>
                <a:lnTo>
                  <a:pt x="37746" y="0"/>
                </a:lnTo>
                <a:lnTo>
                  <a:pt x="37746" y="1453226"/>
                </a:lnTo>
                <a:lnTo>
                  <a:pt x="37746" y="1453226"/>
                </a:lnTo>
                <a:cubicBezTo>
                  <a:pt x="16900" y="1453226"/>
                  <a:pt x="0" y="1436326"/>
                  <a:pt x="0" y="1415480"/>
                </a:cubicBezTo>
                <a:lnTo>
                  <a:pt x="0" y="37746"/>
                </a:lnTo>
                <a:cubicBezTo>
                  <a:pt x="0" y="16913"/>
                  <a:pt x="16913" y="0"/>
                  <a:pt x="37746" y="0"/>
                </a:cubicBez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2248" y="4199257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cubicBezTo>
                  <a:pt x="119741" y="0"/>
                  <a:pt x="125712" y="3583"/>
                  <a:pt x="128809" y="9289"/>
                </a:cubicBezTo>
                <a:lnTo>
                  <a:pt x="224354" y="186224"/>
                </a:lnTo>
                <a:cubicBezTo>
                  <a:pt x="227317" y="191709"/>
                  <a:pt x="227185" y="198344"/>
                  <a:pt x="224000" y="203696"/>
                </a:cubicBezTo>
                <a:cubicBezTo>
                  <a:pt x="220815" y="209049"/>
                  <a:pt x="215020" y="212322"/>
                  <a:pt x="208783" y="212322"/>
                </a:cubicBezTo>
                <a:lnTo>
                  <a:pt x="17693" y="212322"/>
                </a:lnTo>
                <a:cubicBezTo>
                  <a:pt x="11457" y="212322"/>
                  <a:pt x="5706" y="209049"/>
                  <a:pt x="2477" y="203696"/>
                </a:cubicBezTo>
                <a:cubicBezTo>
                  <a:pt x="-752" y="198344"/>
                  <a:pt x="-840" y="191709"/>
                  <a:pt x="2123" y="186224"/>
                </a:cubicBezTo>
                <a:lnTo>
                  <a:pt x="97668" y="9289"/>
                </a:lnTo>
                <a:cubicBezTo>
                  <a:pt x="100764" y="3583"/>
                  <a:pt x="106736" y="0"/>
                  <a:pt x="113238" y="0"/>
                </a:cubicBezTo>
                <a:close/>
                <a:moveTo>
                  <a:pt x="113238" y="74313"/>
                </a:moveTo>
                <a:cubicBezTo>
                  <a:pt x="107355" y="74313"/>
                  <a:pt x="102622" y="79046"/>
                  <a:pt x="102622" y="84929"/>
                </a:cubicBezTo>
                <a:lnTo>
                  <a:pt x="102622" y="134471"/>
                </a:lnTo>
                <a:cubicBezTo>
                  <a:pt x="102622" y="140354"/>
                  <a:pt x="107355" y="145087"/>
                  <a:pt x="113238" y="145087"/>
                </a:cubicBezTo>
                <a:cubicBezTo>
                  <a:pt x="119121" y="145087"/>
                  <a:pt x="123854" y="140354"/>
                  <a:pt x="123854" y="134471"/>
                </a:cubicBezTo>
                <a:lnTo>
                  <a:pt x="123854" y="84929"/>
                </a:lnTo>
                <a:cubicBezTo>
                  <a:pt x="123854" y="79046"/>
                  <a:pt x="119121" y="74313"/>
                  <a:pt x="113238" y="74313"/>
                </a:cubicBezTo>
                <a:close/>
                <a:moveTo>
                  <a:pt x="125049" y="169858"/>
                </a:moveTo>
                <a:cubicBezTo>
                  <a:pt x="125317" y="165474"/>
                  <a:pt x="123131" y="161303"/>
                  <a:pt x="119373" y="159030"/>
                </a:cubicBezTo>
                <a:cubicBezTo>
                  <a:pt x="115615" y="156756"/>
                  <a:pt x="110906" y="156756"/>
                  <a:pt x="107148" y="159030"/>
                </a:cubicBezTo>
                <a:cubicBezTo>
                  <a:pt x="103390" y="161303"/>
                  <a:pt x="101204" y="165474"/>
                  <a:pt x="101472" y="169858"/>
                </a:cubicBezTo>
                <a:cubicBezTo>
                  <a:pt x="101204" y="174241"/>
                  <a:pt x="103390" y="178412"/>
                  <a:pt x="107148" y="180686"/>
                </a:cubicBezTo>
                <a:cubicBezTo>
                  <a:pt x="110906" y="182959"/>
                  <a:pt x="115615" y="182959"/>
                  <a:pt x="119373" y="180686"/>
                </a:cubicBezTo>
                <a:cubicBezTo>
                  <a:pt x="123131" y="178412"/>
                  <a:pt x="125317" y="174241"/>
                  <a:pt x="125049" y="169858"/>
                </a:cubicBez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0272" y="4161511"/>
            <a:ext cx="4425734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85D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0272" y="4501226"/>
            <a:ext cx="4416297" cy="7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b="1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52% of gold-standard emergency cases were under-triaged</a:t>
            </a:r>
            <a:r>
              <a:rPr lang="en-US" sz="1189" dirty="0">
                <a:solidFill>
                  <a:srgbClr val="1A2B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patients with diabetic ketoacidosis and impending respiratory failure were directed to 24-48 hour evaluation instead of the ER.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7461" y="5576991"/>
            <a:ext cx="5152347" cy="1207876"/>
          </a:xfrm>
          <a:custGeom>
            <a:avLst/>
            <a:gdLst/>
            <a:ahLst/>
            <a:cxnLst/>
            <a:rect l="l" t="t" r="r" b="b"/>
            <a:pathLst>
              <a:path w="5152347" h="1207876">
                <a:moveTo>
                  <a:pt x="113238" y="0"/>
                </a:moveTo>
                <a:lnTo>
                  <a:pt x="5039108" y="0"/>
                </a:lnTo>
                <a:cubicBezTo>
                  <a:pt x="5101648" y="0"/>
                  <a:pt x="5152347" y="50699"/>
                  <a:pt x="5152347" y="113238"/>
                </a:cubicBezTo>
                <a:lnTo>
                  <a:pt x="5152347" y="1094638"/>
                </a:lnTo>
                <a:cubicBezTo>
                  <a:pt x="5152347" y="1157178"/>
                  <a:pt x="5101648" y="1207876"/>
                  <a:pt x="5039108" y="1207876"/>
                </a:cubicBezTo>
                <a:lnTo>
                  <a:pt x="113238" y="1207876"/>
                </a:lnTo>
                <a:cubicBezTo>
                  <a:pt x="50699" y="1207876"/>
                  <a:pt x="0" y="1157178"/>
                  <a:pt x="0" y="10946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192" y="5765722"/>
            <a:ext cx="4859814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Lesson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192" y="6105437"/>
            <a:ext cx="4850378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performance is not enough in high-stakes settings. </a:t>
            </a:r>
            <a:r>
              <a:rPr lang="en-US" sz="1189" b="1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cases and safety controls matter.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52451" y="1481536"/>
            <a:ext cx="6067690" cy="5303331"/>
          </a:xfrm>
          <a:custGeom>
            <a:avLst/>
            <a:gdLst/>
            <a:ahLst/>
            <a:cxnLst/>
            <a:rect l="l" t="t" r="r" b="b"/>
            <a:pathLst>
              <a:path w="6067690" h="5303331">
                <a:moveTo>
                  <a:pt x="113226" y="0"/>
                </a:moveTo>
                <a:lnTo>
                  <a:pt x="5954464" y="0"/>
                </a:lnTo>
                <a:cubicBezTo>
                  <a:pt x="6016997" y="0"/>
                  <a:pt x="6067690" y="50693"/>
                  <a:pt x="6067690" y="113226"/>
                </a:cubicBezTo>
                <a:lnTo>
                  <a:pt x="6067690" y="5190105"/>
                </a:lnTo>
                <a:cubicBezTo>
                  <a:pt x="6067690" y="5252638"/>
                  <a:pt x="6016997" y="5303331"/>
                  <a:pt x="5954464" y="5303331"/>
                </a:cubicBezTo>
                <a:lnTo>
                  <a:pt x="113226" y="5303331"/>
                </a:lnTo>
                <a:cubicBezTo>
                  <a:pt x="50693" y="5303331"/>
                  <a:pt x="0" y="5252638"/>
                  <a:pt x="0" y="5190105"/>
                </a:cubicBezTo>
                <a:lnTo>
                  <a:pt x="0" y="113226"/>
                </a:lnTo>
                <a:cubicBezTo>
                  <a:pt x="0" y="50693"/>
                  <a:pt x="50693" y="0"/>
                  <a:pt x="1132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619" dist="3774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93999" y="1670267"/>
            <a:ext cx="5784594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dirty="0">
                <a:solidFill>
                  <a:srgbClr val="0A25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Follows an Inverted U-Shape</a:t>
            </a:r>
            <a:endParaRPr lang="en-US" sz="1600" dirty="0"/>
          </a:p>
        </p:txBody>
      </p:sp>
      <p:pic>
        <p:nvPicPr>
          <p:cNvPr id="29" name="Image 0" descr="https://kimi-img.moonshot.cn/pub/slides/26-03-07-03:09:55-d6lid0vhvlthbavrt2i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1182" y="2009982"/>
            <a:ext cx="5624173" cy="3868978"/>
          </a:xfrm>
          <a:prstGeom prst="roundRect">
            <a:avLst>
              <a:gd name="adj" fmla="val 0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5941182" y="5992198"/>
            <a:ext cx="1821251" cy="603938"/>
          </a:xfrm>
          <a:custGeom>
            <a:avLst/>
            <a:gdLst/>
            <a:ahLst/>
            <a:cxnLst/>
            <a:rect l="l" t="t" r="r" b="b"/>
            <a:pathLst>
              <a:path w="1821251" h="603938">
                <a:moveTo>
                  <a:pt x="75492" y="0"/>
                </a:moveTo>
                <a:lnTo>
                  <a:pt x="1745759" y="0"/>
                </a:lnTo>
                <a:cubicBezTo>
                  <a:pt x="1787452" y="0"/>
                  <a:pt x="1821251" y="33799"/>
                  <a:pt x="1821251" y="75492"/>
                </a:cubicBezTo>
                <a:lnTo>
                  <a:pt x="1821251" y="528446"/>
                </a:lnTo>
                <a:cubicBezTo>
                  <a:pt x="1821251" y="570139"/>
                  <a:pt x="1787452" y="603938"/>
                  <a:pt x="1745759" y="603938"/>
                </a:cubicBezTo>
                <a:lnTo>
                  <a:pt x="75492" y="603938"/>
                </a:lnTo>
                <a:cubicBezTo>
                  <a:pt x="33827" y="603938"/>
                  <a:pt x="0" y="570111"/>
                  <a:pt x="0" y="528446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E85D4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69491" y="6067691"/>
            <a:ext cx="176463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dirty="0">
                <a:solidFill>
                  <a:srgbClr val="E85D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983646" y="6331914"/>
            <a:ext cx="1736322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Non-urgent over-triage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875155" y="5992198"/>
            <a:ext cx="1821251" cy="603938"/>
          </a:xfrm>
          <a:custGeom>
            <a:avLst/>
            <a:gdLst/>
            <a:ahLst/>
            <a:cxnLst/>
            <a:rect l="l" t="t" r="r" b="b"/>
            <a:pathLst>
              <a:path w="1821251" h="603938">
                <a:moveTo>
                  <a:pt x="75492" y="0"/>
                </a:moveTo>
                <a:lnTo>
                  <a:pt x="1745759" y="0"/>
                </a:lnTo>
                <a:cubicBezTo>
                  <a:pt x="1787452" y="0"/>
                  <a:pt x="1821251" y="33799"/>
                  <a:pt x="1821251" y="75492"/>
                </a:cubicBezTo>
                <a:lnTo>
                  <a:pt x="1821251" y="528446"/>
                </a:lnTo>
                <a:cubicBezTo>
                  <a:pt x="1821251" y="570139"/>
                  <a:pt x="1787452" y="603938"/>
                  <a:pt x="1745759" y="603938"/>
                </a:cubicBezTo>
                <a:lnTo>
                  <a:pt x="75492" y="603938"/>
                </a:lnTo>
                <a:cubicBezTo>
                  <a:pt x="33827" y="603938"/>
                  <a:pt x="0" y="570111"/>
                  <a:pt x="0" y="528446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00A3A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903465" y="6067691"/>
            <a:ext cx="176463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dirty="0">
                <a:solidFill>
                  <a:srgbClr val="00A3A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917619" y="6331914"/>
            <a:ext cx="1736322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 cases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809128" y="5992198"/>
            <a:ext cx="1821251" cy="603938"/>
          </a:xfrm>
          <a:custGeom>
            <a:avLst/>
            <a:gdLst/>
            <a:ahLst/>
            <a:cxnLst/>
            <a:rect l="l" t="t" r="r" b="b"/>
            <a:pathLst>
              <a:path w="1821251" h="603938">
                <a:moveTo>
                  <a:pt x="75492" y="0"/>
                </a:moveTo>
                <a:lnTo>
                  <a:pt x="1745759" y="0"/>
                </a:lnTo>
                <a:cubicBezTo>
                  <a:pt x="1787452" y="0"/>
                  <a:pt x="1821251" y="33799"/>
                  <a:pt x="1821251" y="75492"/>
                </a:cubicBezTo>
                <a:lnTo>
                  <a:pt x="1821251" y="528446"/>
                </a:lnTo>
                <a:cubicBezTo>
                  <a:pt x="1821251" y="570139"/>
                  <a:pt x="1787452" y="603938"/>
                  <a:pt x="1745759" y="603938"/>
                </a:cubicBezTo>
                <a:lnTo>
                  <a:pt x="75492" y="603938"/>
                </a:lnTo>
                <a:cubicBezTo>
                  <a:pt x="33827" y="603938"/>
                  <a:pt x="0" y="570111"/>
                  <a:pt x="0" y="528446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E85D4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37438" y="6067691"/>
            <a:ext cx="176463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dirty="0">
                <a:solidFill>
                  <a:srgbClr val="E85D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851592" y="6331914"/>
            <a:ext cx="1736322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under-triage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6300" y="3810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0A25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practical Safety-by-Design framework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57350"/>
            <a:ext cx="2714625" cy="3686175"/>
          </a:xfrm>
          <a:custGeom>
            <a:avLst/>
            <a:gdLst/>
            <a:ahLst/>
            <a:cxnLst/>
            <a:rect l="l" t="t" r="r" b="b"/>
            <a:pathLst>
              <a:path w="2714625" h="3686175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533776"/>
                </a:lnTo>
                <a:cubicBezTo>
                  <a:pt x="2714625" y="3617944"/>
                  <a:pt x="2646394" y="3686175"/>
                  <a:pt x="2562226" y="3686175"/>
                </a:cubicBezTo>
                <a:lnTo>
                  <a:pt x="152399" y="3686175"/>
                </a:lnTo>
                <a:cubicBezTo>
                  <a:pt x="68231" y="3686175"/>
                  <a:pt x="0" y="3617944"/>
                  <a:pt x="0" y="353377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6573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1676400"/>
            <a:ext cx="2714625" cy="1409700"/>
          </a:xfrm>
          <a:custGeom>
            <a:avLst/>
            <a:gdLst/>
            <a:ahLst/>
            <a:cxnLst/>
            <a:rect l="l" t="t" r="r" b="b"/>
            <a:pathLst>
              <a:path w="2714625" h="1409700">
                <a:moveTo>
                  <a:pt x="0" y="0"/>
                </a:moveTo>
                <a:lnTo>
                  <a:pt x="2714625" y="0"/>
                </a:lnTo>
                <a:lnTo>
                  <a:pt x="2714625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33513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47292" y="198120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350" y="2590800"/>
            <a:ext cx="2447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3276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the use case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3657600"/>
            <a:ext cx="24098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B3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clear boundaries and intended use. Document what the system is designed </a:t>
            </a:r>
            <a:r>
              <a:rPr lang="en-US" sz="1200">
                <a:solidFill>
                  <a:srgbClr val="1A2B3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do </a:t>
            </a:r>
            <a:r>
              <a:rPr lang="en-US" sz="1200" dirty="0">
                <a:solidFill>
                  <a:srgbClr val="1A2B3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explicitly what it should not 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480536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0550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200" y="49625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boundaries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86125" y="1657350"/>
            <a:ext cx="2714625" cy="3686175"/>
          </a:xfrm>
          <a:custGeom>
            <a:avLst/>
            <a:gdLst/>
            <a:ahLst/>
            <a:cxnLst/>
            <a:rect l="l" t="t" r="r" b="b"/>
            <a:pathLst>
              <a:path w="2714625" h="3686175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533776"/>
                </a:lnTo>
                <a:cubicBezTo>
                  <a:pt x="2714625" y="3617944"/>
                  <a:pt x="2646394" y="3686175"/>
                  <a:pt x="2562226" y="3686175"/>
                </a:cubicBezTo>
                <a:lnTo>
                  <a:pt x="152399" y="3686175"/>
                </a:lnTo>
                <a:cubicBezTo>
                  <a:pt x="68231" y="3686175"/>
                  <a:pt x="0" y="3617944"/>
                  <a:pt x="0" y="353377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86125" y="16573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86125" y="1676400"/>
            <a:ext cx="2714625" cy="1409700"/>
          </a:xfrm>
          <a:custGeom>
            <a:avLst/>
            <a:gdLst/>
            <a:ahLst/>
            <a:cxnLst/>
            <a:rect l="l" t="t" r="r" b="b"/>
            <a:pathLst>
              <a:path w="2714625" h="1409700">
                <a:moveTo>
                  <a:pt x="0" y="0"/>
                </a:moveTo>
                <a:lnTo>
                  <a:pt x="2714625" y="0"/>
                </a:lnTo>
                <a:lnTo>
                  <a:pt x="2714625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38638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43115" y="1981200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19475" y="2590800"/>
            <a:ext cx="2447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6625" y="3276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human control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6625" y="3657600"/>
            <a:ext cx="24098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B3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in oversight and override mechanisms. Ensure clinicians can intervene, correct, and take control when needed.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76625" y="480536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05200" y="4981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2381"/>
                </a:move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lose/>
                <a:moveTo>
                  <a:pt x="84534" y="95488"/>
                </a:moveTo>
                <a:cubicBezTo>
                  <a:pt x="82927" y="95339"/>
                  <a:pt x="81260" y="95250"/>
                  <a:pt x="79593" y="95250"/>
                </a:cubicBezTo>
                <a:lnTo>
                  <a:pt x="53727" y="95250"/>
                </a:lnTo>
                <a:cubicBezTo>
                  <a:pt x="52060" y="95250"/>
                  <a:pt x="50423" y="95339"/>
                  <a:pt x="48786" y="95488"/>
                </a:cubicBezTo>
                <a:lnTo>
                  <a:pt x="48786" y="115580"/>
                </a:lnTo>
                <a:cubicBezTo>
                  <a:pt x="53697" y="117842"/>
                  <a:pt x="57120" y="122813"/>
                  <a:pt x="57120" y="128558"/>
                </a:cubicBezTo>
                <a:cubicBezTo>
                  <a:pt x="57120" y="136446"/>
                  <a:pt x="50721" y="142845"/>
                  <a:pt x="42833" y="142845"/>
                </a:cubicBezTo>
                <a:cubicBezTo>
                  <a:pt x="34945" y="142845"/>
                  <a:pt x="28545" y="136446"/>
                  <a:pt x="28545" y="128558"/>
                </a:cubicBezTo>
                <a:cubicBezTo>
                  <a:pt x="28545" y="122783"/>
                  <a:pt x="31968" y="117812"/>
                  <a:pt x="36880" y="115580"/>
                </a:cubicBezTo>
                <a:lnTo>
                  <a:pt x="36880" y="98197"/>
                </a:lnTo>
                <a:cubicBezTo>
                  <a:pt x="18157" y="105073"/>
                  <a:pt x="4763" y="123111"/>
                  <a:pt x="4763" y="144244"/>
                </a:cubicBezTo>
                <a:cubicBezTo>
                  <a:pt x="4763" y="148739"/>
                  <a:pt x="8424" y="152400"/>
                  <a:pt x="12918" y="152400"/>
                </a:cubicBezTo>
                <a:lnTo>
                  <a:pt x="120402" y="152400"/>
                </a:lnTo>
                <a:cubicBezTo>
                  <a:pt x="124897" y="152400"/>
                  <a:pt x="128558" y="148739"/>
                  <a:pt x="128558" y="144244"/>
                </a:cubicBezTo>
                <a:cubicBezTo>
                  <a:pt x="128558" y="123111"/>
                  <a:pt x="115163" y="105102"/>
                  <a:pt x="96411" y="98227"/>
                </a:cubicBezTo>
                <a:lnTo>
                  <a:pt x="96411" y="109359"/>
                </a:lnTo>
                <a:cubicBezTo>
                  <a:pt x="103346" y="111800"/>
                  <a:pt x="108317" y="118437"/>
                  <a:pt x="108317" y="126206"/>
                </a:cubicBezTo>
                <a:lnTo>
                  <a:pt x="108317" y="135731"/>
                </a:lnTo>
                <a:cubicBezTo>
                  <a:pt x="108317" y="139005"/>
                  <a:pt x="105638" y="141684"/>
                  <a:pt x="102364" y="141684"/>
                </a:cubicBezTo>
                <a:cubicBezTo>
                  <a:pt x="99090" y="141684"/>
                  <a:pt x="96411" y="139005"/>
                  <a:pt x="96411" y="135731"/>
                </a:cubicBezTo>
                <a:lnTo>
                  <a:pt x="96411" y="126206"/>
                </a:lnTo>
                <a:cubicBezTo>
                  <a:pt x="96411" y="122932"/>
                  <a:pt x="93732" y="120253"/>
                  <a:pt x="90458" y="120253"/>
                </a:cubicBezTo>
                <a:cubicBezTo>
                  <a:pt x="87184" y="120253"/>
                  <a:pt x="84505" y="122932"/>
                  <a:pt x="84505" y="126206"/>
                </a:cubicBezTo>
                <a:lnTo>
                  <a:pt x="84505" y="135731"/>
                </a:lnTo>
                <a:cubicBezTo>
                  <a:pt x="84505" y="139005"/>
                  <a:pt x="81826" y="141684"/>
                  <a:pt x="78551" y="141684"/>
                </a:cubicBezTo>
                <a:cubicBezTo>
                  <a:pt x="75277" y="141684"/>
                  <a:pt x="72598" y="139005"/>
                  <a:pt x="72598" y="135731"/>
                </a:cubicBezTo>
                <a:lnTo>
                  <a:pt x="72598" y="126206"/>
                </a:lnTo>
                <a:cubicBezTo>
                  <a:pt x="72598" y="118437"/>
                  <a:pt x="77569" y="111829"/>
                  <a:pt x="84505" y="109359"/>
                </a:cubicBezTo>
                <a:lnTo>
                  <a:pt x="84505" y="95488"/>
                </a:lnTo>
                <a:close/>
              </a:path>
            </a:pathLst>
          </a:cu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3325" y="49625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oversight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1250" y="1657350"/>
            <a:ext cx="2714625" cy="3686175"/>
          </a:xfrm>
          <a:custGeom>
            <a:avLst/>
            <a:gdLst/>
            <a:ahLst/>
            <a:cxnLst/>
            <a:rect l="l" t="t" r="r" b="b"/>
            <a:pathLst>
              <a:path w="2714625" h="3686175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533776"/>
                </a:lnTo>
                <a:cubicBezTo>
                  <a:pt x="2714625" y="3617944"/>
                  <a:pt x="2646394" y="3686175"/>
                  <a:pt x="2562226" y="3686175"/>
                </a:cubicBezTo>
                <a:lnTo>
                  <a:pt x="152399" y="3686175"/>
                </a:lnTo>
                <a:cubicBezTo>
                  <a:pt x="68231" y="3686175"/>
                  <a:pt x="0" y="3617944"/>
                  <a:pt x="0" y="353377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91250" y="16573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91250" y="1676400"/>
            <a:ext cx="2714625" cy="1409700"/>
          </a:xfrm>
          <a:custGeom>
            <a:avLst/>
            <a:gdLst/>
            <a:ahLst/>
            <a:cxnLst/>
            <a:rect l="l" t="t" r="r" b="b"/>
            <a:pathLst>
              <a:path w="2714625" h="1409700">
                <a:moveTo>
                  <a:pt x="0" y="0"/>
                </a:moveTo>
                <a:lnTo>
                  <a:pt x="2714625" y="0"/>
                </a:lnTo>
                <a:lnTo>
                  <a:pt x="2714625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43763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65727" y="1981200"/>
            <a:ext cx="36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24600" y="2590800"/>
            <a:ext cx="2447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1750" y="3276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bias &amp; failures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1750" y="3657600"/>
            <a:ext cx="24098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B3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Proactively test edge cases and subgroups. Identify failure modes before deployment, not after harm occurs.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1750" y="480536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48450" y="496252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case testing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96375" y="1657350"/>
            <a:ext cx="2714625" cy="3686175"/>
          </a:xfrm>
          <a:custGeom>
            <a:avLst/>
            <a:gdLst/>
            <a:ahLst/>
            <a:cxnLst/>
            <a:rect l="l" t="t" r="r" b="b"/>
            <a:pathLst>
              <a:path w="2714625" h="3686175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533776"/>
                </a:lnTo>
                <a:cubicBezTo>
                  <a:pt x="2714625" y="3617944"/>
                  <a:pt x="2646394" y="3686175"/>
                  <a:pt x="2562226" y="3686175"/>
                </a:cubicBezTo>
                <a:lnTo>
                  <a:pt x="152399" y="3686175"/>
                </a:lnTo>
                <a:cubicBezTo>
                  <a:pt x="68231" y="3686175"/>
                  <a:pt x="0" y="3617944"/>
                  <a:pt x="0" y="353377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096375" y="1657350"/>
            <a:ext cx="2714625" cy="38100"/>
          </a:xfrm>
          <a:custGeom>
            <a:avLst/>
            <a:gdLst/>
            <a:ahLst/>
            <a:cxnLst/>
            <a:rect l="l" t="t" r="r" b="b"/>
            <a:pathLst>
              <a:path w="2714625" h="38100">
                <a:moveTo>
                  <a:pt x="38100" y="0"/>
                </a:moveTo>
                <a:lnTo>
                  <a:pt x="2676525" y="0"/>
                </a:lnTo>
                <a:cubicBezTo>
                  <a:pt x="2697553" y="0"/>
                  <a:pt x="2714625" y="17072"/>
                  <a:pt x="2714625" y="38100"/>
                </a:cubicBezTo>
                <a:lnTo>
                  <a:pt x="27146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096375" y="1676400"/>
            <a:ext cx="2714625" cy="1409700"/>
          </a:xfrm>
          <a:custGeom>
            <a:avLst/>
            <a:gdLst/>
            <a:ahLst/>
            <a:cxnLst/>
            <a:rect l="l" t="t" r="r" b="b"/>
            <a:pathLst>
              <a:path w="2714625" h="1409700">
                <a:moveTo>
                  <a:pt x="0" y="0"/>
                </a:moveTo>
                <a:lnTo>
                  <a:pt x="2714625" y="0"/>
                </a:lnTo>
                <a:lnTo>
                  <a:pt x="2714625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148888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266462" y="1981200"/>
            <a:ext cx="371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29725" y="2590800"/>
            <a:ext cx="2447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86875" y="32766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A2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traceability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86875" y="3657600"/>
            <a:ext cx="24098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B3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trails and post-deployment surveillance. Monitor performance in real-world use and maintain accountability.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86875" y="480536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324975" y="49815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82272" y="77599"/>
                </a:moveTo>
                <a:cubicBezTo>
                  <a:pt x="84356" y="74265"/>
                  <a:pt x="83344" y="69860"/>
                  <a:pt x="80010" y="67747"/>
                </a:cubicBezTo>
                <a:cubicBezTo>
                  <a:pt x="76676" y="65633"/>
                  <a:pt x="72271" y="66675"/>
                  <a:pt x="70158" y="70009"/>
                </a:cubicBezTo>
                <a:lnTo>
                  <a:pt x="51881" y="99268"/>
                </a:lnTo>
                <a:lnTo>
                  <a:pt x="43845" y="88553"/>
                </a:lnTo>
                <a:cubicBezTo>
                  <a:pt x="41464" y="85398"/>
                  <a:pt x="36999" y="84743"/>
                  <a:pt x="33844" y="87124"/>
                </a:cubicBezTo>
                <a:cubicBezTo>
                  <a:pt x="30688" y="89505"/>
                  <a:pt x="30034" y="93970"/>
                  <a:pt x="32415" y="97125"/>
                </a:cubicBezTo>
                <a:lnTo>
                  <a:pt x="46702" y="116175"/>
                </a:lnTo>
                <a:cubicBezTo>
                  <a:pt x="48101" y="118050"/>
                  <a:pt x="50363" y="119122"/>
                  <a:pt x="52715" y="119033"/>
                </a:cubicBezTo>
                <a:cubicBezTo>
                  <a:pt x="55066" y="118943"/>
                  <a:pt x="57210" y="117693"/>
                  <a:pt x="58460" y="115669"/>
                </a:cubicBezTo>
                <a:lnTo>
                  <a:pt x="82272" y="77569"/>
                </a:ln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553575" y="4962525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B3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457200"/>
                </a:lnTo>
                <a:cubicBezTo>
                  <a:pt x="11430000" y="520284"/>
                  <a:pt x="11378784" y="571500"/>
                  <a:pt x="113157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405708" y="6076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86708" y="60579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SAFE framework: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 for the edges, not just the average case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f8f025ee3cf4b77e73814615120c53c069512b7.jpg"/>
          <p:cNvPicPr>
            <a:picLocks noChangeAspect="1"/>
          </p:cNvPicPr>
          <p:nvPr/>
        </p:nvPicPr>
        <p:blipFill>
          <a:blip r:embed="rId3">
            <a:alphaModFix amt="1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2540">
                  <a:alpha val="95000"/>
                </a:srgbClr>
              </a:gs>
              <a:gs pos="50000">
                <a:srgbClr val="0A2540">
                  <a:alpha val="90000"/>
                </a:srgbClr>
              </a:gs>
              <a:gs pos="100000">
                <a:srgbClr val="00A3A3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6300" y="3810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6477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safe healthcare AI products should include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233488"/>
            <a:ext cx="6276975" cy="809625"/>
          </a:xfrm>
          <a:custGeom>
            <a:avLst/>
            <a:gdLst/>
            <a:ahLst/>
            <a:cxnLst/>
            <a:rect l="l" t="t" r="r" b="b"/>
            <a:pathLst>
              <a:path w="6276975" h="809625">
                <a:moveTo>
                  <a:pt x="114303" y="0"/>
                </a:moveTo>
                <a:lnTo>
                  <a:pt x="6162672" y="0"/>
                </a:lnTo>
                <a:cubicBezTo>
                  <a:pt x="6225758" y="0"/>
                  <a:pt x="6276975" y="51217"/>
                  <a:pt x="6276975" y="114303"/>
                </a:cubicBezTo>
                <a:lnTo>
                  <a:pt x="6276975" y="695322"/>
                </a:lnTo>
                <a:cubicBezTo>
                  <a:pt x="6276975" y="758408"/>
                  <a:pt x="6225758" y="809625"/>
                  <a:pt x="61626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2925" y="1390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6750" y="1504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76325" y="139065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intended-use statement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6325" y="165735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scope and limitations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5763" y="2166938"/>
            <a:ext cx="6276975" cy="809625"/>
          </a:xfrm>
          <a:custGeom>
            <a:avLst/>
            <a:gdLst/>
            <a:ahLst/>
            <a:cxnLst/>
            <a:rect l="l" t="t" r="r" b="b"/>
            <a:pathLst>
              <a:path w="6276975" h="809625">
                <a:moveTo>
                  <a:pt x="114303" y="0"/>
                </a:moveTo>
                <a:lnTo>
                  <a:pt x="6162672" y="0"/>
                </a:lnTo>
                <a:cubicBezTo>
                  <a:pt x="6225758" y="0"/>
                  <a:pt x="6276975" y="51217"/>
                  <a:pt x="6276975" y="114303"/>
                </a:cubicBezTo>
                <a:lnTo>
                  <a:pt x="6276975" y="695322"/>
                </a:lnTo>
                <a:cubicBezTo>
                  <a:pt x="6276975" y="758408"/>
                  <a:pt x="6225758" y="809625"/>
                  <a:pt x="61626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2925" y="2324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66750" y="2438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76325" y="2324100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support, not autonomous diagnosis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6325" y="2590800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assists clinicians, never replaces judgment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3100388"/>
            <a:ext cx="6276975" cy="809625"/>
          </a:xfrm>
          <a:custGeom>
            <a:avLst/>
            <a:gdLst/>
            <a:ahLst/>
            <a:cxnLst/>
            <a:rect l="l" t="t" r="r" b="b"/>
            <a:pathLst>
              <a:path w="6276975" h="809625">
                <a:moveTo>
                  <a:pt x="114303" y="0"/>
                </a:moveTo>
                <a:lnTo>
                  <a:pt x="6162672" y="0"/>
                </a:lnTo>
                <a:cubicBezTo>
                  <a:pt x="6225758" y="0"/>
                  <a:pt x="6276975" y="51217"/>
                  <a:pt x="6276975" y="114303"/>
                </a:cubicBezTo>
                <a:lnTo>
                  <a:pt x="6276975" y="695322"/>
                </a:lnTo>
                <a:cubicBezTo>
                  <a:pt x="6276975" y="758408"/>
                  <a:pt x="6225758" y="809625"/>
                  <a:pt x="61626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2925" y="3257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66750" y="3371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76325" y="3257550"/>
            <a:ext cx="2933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 triggers &amp; escalation paths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6325" y="352425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handoff when confidence is low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5763" y="4033837"/>
            <a:ext cx="6276975" cy="809625"/>
          </a:xfrm>
          <a:custGeom>
            <a:avLst/>
            <a:gdLst/>
            <a:ahLst/>
            <a:cxnLst/>
            <a:rect l="l" t="t" r="r" b="b"/>
            <a:pathLst>
              <a:path w="6276975" h="809625">
                <a:moveTo>
                  <a:pt x="114303" y="0"/>
                </a:moveTo>
                <a:lnTo>
                  <a:pt x="6162672" y="0"/>
                </a:lnTo>
                <a:cubicBezTo>
                  <a:pt x="6225758" y="0"/>
                  <a:pt x="6276975" y="51217"/>
                  <a:pt x="6276975" y="114303"/>
                </a:cubicBezTo>
                <a:lnTo>
                  <a:pt x="6276975" y="695322"/>
                </a:lnTo>
                <a:cubicBezTo>
                  <a:pt x="6276975" y="758408"/>
                  <a:pt x="6225758" y="809625"/>
                  <a:pt x="61626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42925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66750" y="4305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76325" y="419100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override mechanisms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76325" y="44577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Clinicians can always take control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4967288"/>
            <a:ext cx="6276975" cy="809625"/>
          </a:xfrm>
          <a:custGeom>
            <a:avLst/>
            <a:gdLst/>
            <a:ahLst/>
            <a:cxnLst/>
            <a:rect l="l" t="t" r="r" b="b"/>
            <a:pathLst>
              <a:path w="6276975" h="809625">
                <a:moveTo>
                  <a:pt x="114303" y="0"/>
                </a:moveTo>
                <a:lnTo>
                  <a:pt x="6162672" y="0"/>
                </a:lnTo>
                <a:cubicBezTo>
                  <a:pt x="6225758" y="0"/>
                  <a:pt x="6276975" y="51217"/>
                  <a:pt x="6276975" y="114303"/>
                </a:cubicBezTo>
                <a:lnTo>
                  <a:pt x="6276975" y="695322"/>
                </a:lnTo>
                <a:cubicBezTo>
                  <a:pt x="6276975" y="758408"/>
                  <a:pt x="6225758" y="809625"/>
                  <a:pt x="61626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2925" y="5124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66750" y="5238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76325" y="512445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Subgroup bias validation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76325" y="539115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Tested across demographics and edge cases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900863" y="1233488"/>
            <a:ext cx="4905375" cy="809625"/>
          </a:xfrm>
          <a:custGeom>
            <a:avLst/>
            <a:gdLst/>
            <a:ahLst/>
            <a:cxnLst/>
            <a:rect l="l" t="t" r="r" b="b"/>
            <a:pathLst>
              <a:path w="4905375" h="809625">
                <a:moveTo>
                  <a:pt x="114303" y="0"/>
                </a:moveTo>
                <a:lnTo>
                  <a:pt x="4791072" y="0"/>
                </a:lnTo>
                <a:cubicBezTo>
                  <a:pt x="4854158" y="0"/>
                  <a:pt x="4905375" y="51217"/>
                  <a:pt x="4905375" y="114303"/>
                </a:cubicBezTo>
                <a:lnTo>
                  <a:pt x="4905375" y="695322"/>
                </a:lnTo>
                <a:cubicBezTo>
                  <a:pt x="4905375" y="758408"/>
                  <a:pt x="4854158" y="809625"/>
                  <a:pt x="47910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058025" y="1390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181850" y="1504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591425" y="13906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Privacy-first architecture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91425" y="165735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protection by design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900863" y="2166938"/>
            <a:ext cx="4905375" cy="809625"/>
          </a:xfrm>
          <a:custGeom>
            <a:avLst/>
            <a:gdLst/>
            <a:ahLst/>
            <a:cxnLst/>
            <a:rect l="l" t="t" r="r" b="b"/>
            <a:pathLst>
              <a:path w="4905375" h="809625">
                <a:moveTo>
                  <a:pt x="114303" y="0"/>
                </a:moveTo>
                <a:lnTo>
                  <a:pt x="4791072" y="0"/>
                </a:lnTo>
                <a:cubicBezTo>
                  <a:pt x="4854158" y="0"/>
                  <a:pt x="4905375" y="51217"/>
                  <a:pt x="4905375" y="114303"/>
                </a:cubicBezTo>
                <a:lnTo>
                  <a:pt x="4905375" y="695322"/>
                </a:lnTo>
                <a:cubicBezTo>
                  <a:pt x="4905375" y="758408"/>
                  <a:pt x="4854158" y="809625"/>
                  <a:pt x="47910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058025" y="2324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181850" y="2438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591425" y="23241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audit trails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591425" y="259080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decision logged and traceable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900863" y="3100388"/>
            <a:ext cx="4905375" cy="809625"/>
          </a:xfrm>
          <a:custGeom>
            <a:avLst/>
            <a:gdLst/>
            <a:ahLst/>
            <a:cxnLst/>
            <a:rect l="l" t="t" r="r" b="b"/>
            <a:pathLst>
              <a:path w="4905375" h="809625">
                <a:moveTo>
                  <a:pt x="114303" y="0"/>
                </a:moveTo>
                <a:lnTo>
                  <a:pt x="4791072" y="0"/>
                </a:lnTo>
                <a:cubicBezTo>
                  <a:pt x="4854158" y="0"/>
                  <a:pt x="4905375" y="51217"/>
                  <a:pt x="4905375" y="114303"/>
                </a:cubicBezTo>
                <a:lnTo>
                  <a:pt x="4905375" y="695322"/>
                </a:lnTo>
                <a:cubicBezTo>
                  <a:pt x="4905375" y="758408"/>
                  <a:pt x="4854158" y="809625"/>
                  <a:pt x="47910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058025" y="3257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181850" y="3371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591425" y="3257550"/>
            <a:ext cx="246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Post-deployment monitoring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591425" y="35242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surveillance after launch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905625" y="4038600"/>
            <a:ext cx="4895850" cy="1738313"/>
          </a:xfrm>
          <a:custGeom>
            <a:avLst/>
            <a:gdLst/>
            <a:ahLst/>
            <a:cxnLst/>
            <a:rect l="l" t="t" r="r" b="b"/>
            <a:pathLst>
              <a:path w="4895850" h="2124075">
                <a:moveTo>
                  <a:pt x="114296" y="0"/>
                </a:moveTo>
                <a:lnTo>
                  <a:pt x="4781554" y="0"/>
                </a:lnTo>
                <a:cubicBezTo>
                  <a:pt x="4844678" y="0"/>
                  <a:pt x="4895850" y="51172"/>
                  <a:pt x="4895850" y="114296"/>
                </a:cubicBezTo>
                <a:lnTo>
                  <a:pt x="4895850" y="2009779"/>
                </a:lnTo>
                <a:cubicBezTo>
                  <a:pt x="4895850" y="2072903"/>
                  <a:pt x="4844678" y="2124075"/>
                  <a:pt x="4781554" y="2124075"/>
                </a:cubicBezTo>
                <a:lnTo>
                  <a:pt x="114296" y="2124075"/>
                </a:lnTo>
                <a:cubicBezTo>
                  <a:pt x="51172" y="2124075"/>
                  <a:pt x="0" y="2072903"/>
                  <a:pt x="0" y="2009779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E85D4E">
              <a:alpha val="20000"/>
            </a:srgbClr>
          </a:solidFill>
          <a:ln w="254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7148513" y="46196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505700" y="4600575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Takeaway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105650" y="4981575"/>
            <a:ext cx="4591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healthcare AI is designed to </a:t>
            </a:r>
            <a:r>
              <a:rPr lang="en-US" sz="1500" b="1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 safely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500" b="1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escalate appropriately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500" b="1" dirty="0">
                <a:solidFill>
                  <a:srgbClr val="00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 accountable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launch.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214018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3404518" y="62865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Pre-build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4249043" y="63722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011043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5201543" y="62865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5898579" y="63722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6660579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851079" y="62865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7571184" y="63722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8333184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5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8523684" y="62865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441</Words>
  <Application>Microsoft Office PowerPoint</Application>
  <PresentationFormat>Widescreen</PresentationFormat>
  <Paragraphs>103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Quattrocento Sans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Safety-by-Design in Healthcare AI Products</dc:title>
  <dc:subject>Safety-by-Design in Healthcare AI Products</dc:subject>
  <dc:creator>Kimi</dc:creator>
  <cp:lastModifiedBy>MariJa Tepegjozova</cp:lastModifiedBy>
  <cp:revision>2</cp:revision>
  <dcterms:created xsi:type="dcterms:W3CDTF">2026-03-06T19:10:34Z</dcterms:created>
  <dcterms:modified xsi:type="dcterms:W3CDTF">2026-03-06T20:45:57Z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{"Label":"Safety-by-Design in Healthcare AI Products","ContentProducer":"001191110108MACG2KBH8F10000","ProduceID":"19cc48d7-6872-87c2-8000-0000da05d1f7","ReservedCode1":"","ContentPropagator":"001191110108MACG2KBH8F20000","PropagateID":"19cc48d7-6872-87c2-8000-0000da05d1f7","ReservedCode2":""}</vt:lpwstr>
  </property>
</Properties>
</file>