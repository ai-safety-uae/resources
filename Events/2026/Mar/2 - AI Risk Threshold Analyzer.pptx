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60" r:id="rId4"/>
    <p:sldId id="265" r:id="rId5"/>
    <p:sldId id="261" r:id="rId6"/>
    <p:sldId id="263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469050-F277-8B41-8694-88E55B48A1EF}" v="2" dt="2026-02-26T06:45:04.2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6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4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4039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180000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2700000">
            <a:off x="7498080" y="3657600"/>
            <a:ext cx="2286000" cy="2286000"/>
          </a:xfrm>
          <a:prstGeom prst="rect">
            <a:avLst/>
          </a:prstGeom>
          <a:solidFill>
            <a:srgbClr val="E5E7EB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8639" y="1920239"/>
            <a:ext cx="6551875" cy="807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0000"/>
                </a:solidFill>
                <a:latin typeface="Avenir Book" panose="02000503020000020003" pitchFamily="2" charset="0"/>
                <a:cs typeface="Cordia New" panose="020B0304020202020204" pitchFamily="34" charset="-34"/>
              </a:rPr>
              <a:t>Frontier AI Risk</a:t>
            </a:r>
            <a:endParaRPr lang="en-US" sz="3800" b="1" dirty="0">
              <a:latin typeface="Avenir Book" panose="02000503020000020003" pitchFamily="2" charset="0"/>
              <a:cs typeface="Cordia New" panose="020B0304020202020204" pitchFamily="34" charset="-34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251460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9E2E2E"/>
                </a:solidFill>
                <a:latin typeface="Avenir Book" panose="02000503020000020003" pitchFamily="2" charset="0"/>
                <a:ea typeface="Georgia" pitchFamily="34" charset="-122"/>
                <a:cs typeface="Cordia New" panose="020B0304020202020204" pitchFamily="34" charset="-34"/>
              </a:rPr>
              <a:t>Threshold Analyzer</a:t>
            </a:r>
            <a:endParaRPr lang="en-US" sz="3800" b="1" dirty="0">
              <a:latin typeface="Avenir Book" panose="02000503020000020003" pitchFamily="2" charset="0"/>
              <a:cs typeface="Cordia New" panose="020B0304020202020204" pitchFamily="34" charset="-34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48640" y="3291840"/>
            <a:ext cx="731520" cy="0"/>
          </a:xfrm>
          <a:prstGeom prst="line">
            <a:avLst/>
          </a:prstGeom>
          <a:noFill/>
          <a:ln w="38100">
            <a:solidFill>
              <a:srgbClr val="D3B48C"/>
            </a:solidFill>
            <a:prstDash val="solid"/>
          </a:ln>
        </p:spPr>
        <p:txBody>
          <a:bodyPr/>
          <a:lstStyle/>
          <a:p>
            <a:endParaRPr lang="en-US" b="1">
              <a:latin typeface="Avenir Book" panose="02000503020000020003" pitchFamily="2" charset="0"/>
              <a:cs typeface="Cordia New" panose="020B0304020202020204" pitchFamily="34" charset="-34"/>
            </a:endParaRPr>
          </a:p>
        </p:txBody>
      </p:sp>
      <p:sp>
        <p:nvSpPr>
          <p:cNvPr id="8" name="Text 5"/>
          <p:cNvSpPr/>
          <p:nvPr/>
        </p:nvSpPr>
        <p:spPr>
          <a:xfrm>
            <a:off x="548640" y="34747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cs typeface="Arial" pitchFamily="34" charset="-120"/>
              </a:rPr>
              <a:t>Standardizing risk comparability across AI safety frameworks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4480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D3B48C"/>
                </a:solidFill>
              </a:rPr>
              <a:t>PRESENTED BY</a:t>
            </a:r>
            <a:endParaRPr lang="en-US" sz="8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Swaleha Parveen, AI Safety Researcher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0" y="4480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200" dirty="0">
                <a:solidFill>
                  <a:srgbClr val="D3B48C"/>
                </a:solidFill>
              </a:rPr>
              <a:t>DATE</a:t>
            </a:r>
            <a:endParaRPr lang="en-US" sz="800" dirty="0"/>
          </a:p>
          <a:p>
            <a:pPr marL="0" indent="0" algn="r">
              <a:buNone/>
            </a:pPr>
            <a:r>
              <a:rPr lang="en-US" sz="1100" dirty="0">
                <a:solidFill>
                  <a:srgbClr val="4B5563"/>
                </a:solidFill>
              </a:rPr>
              <a:t>March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144000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3B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48640" y="1234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venir Book" panose="02000503020000020003" pitchFamily="2" charset="0"/>
                <a:ea typeface="Georgia" pitchFamily="34" charset="-122"/>
                <a:cs typeface="Georgia" pitchFamily="34" charset="-120"/>
              </a:rPr>
              <a:t>Fragmented Safety Frameworks</a:t>
            </a:r>
            <a:endParaRPr lang="en-US" sz="2800" dirty="0">
              <a:latin typeface="Avenir Book" panose="02000503020000020003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48640" y="1920239"/>
            <a:ext cx="5669280" cy="2560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common risk language</a:t>
            </a: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ASL-3, CCL-2, and CBRN-3 are incomparable across labs and policymakers cannot assess equivalence.</a:t>
            </a:r>
            <a:endParaRPr lang="en-US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ambiguity</a:t>
            </a: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 EU AI Act mandates action on systemic risk models but labs use different thresholds to define that boundary.</a:t>
            </a:r>
            <a:endParaRPr lang="en-US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arbitrage</a:t>
            </a: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Labs can exploit gap between permissive and strict frameworks, choosing whichever minimises obligations.</a:t>
            </a:r>
            <a:endParaRPr lang="en-US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vacuum</a:t>
            </a: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No machine-readable database of capability thresholds exists.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400800" y="914400"/>
            <a:ext cx="2286000" cy="3474720"/>
          </a:xfrm>
          <a:prstGeom prst="rect">
            <a:avLst/>
          </a:prstGeom>
          <a:solidFill>
            <a:srgbClr val="D3B48C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583680" y="1097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3B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GAP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583680" y="1463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9E2E2E"/>
                </a:solidFill>
                <a:latin typeface="Avenir Book" panose="02000503020000020003" pitchFamily="2" charset="0"/>
                <a:ea typeface="Georgia" pitchFamily="34" charset="-122"/>
                <a:cs typeface="Georgia" pitchFamily="34" charset="-120"/>
              </a:rPr>
              <a:t>4+</a:t>
            </a:r>
            <a:endParaRPr lang="en-US" sz="4200" dirty="0">
              <a:latin typeface="Avenir Book" panose="02000503020000020003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583680" y="2103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cs typeface="Arial" pitchFamily="34" charset="-120"/>
              </a:rPr>
              <a:t>Incompatible safety frameworks with no cross-reference standard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" y="4846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Safety UAE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144000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3B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48640" y="1234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venir Book" panose="02000503020000020003" pitchFamily="2" charset="0"/>
                <a:ea typeface="Georgia" pitchFamily="34" charset="-122"/>
                <a:cs typeface="Georgia" pitchFamily="34" charset="-120"/>
              </a:rPr>
              <a:t>Cross-Framework Risk Analyzer</a:t>
            </a:r>
            <a:endParaRPr lang="en-US" sz="2800" dirty="0">
              <a:latin typeface="Avenir Book" panose="02000503020000020003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48640" y="1737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core capabilities enabling global AI safety coordination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2377440"/>
            <a:ext cx="2560320" cy="2103120"/>
          </a:xfrm>
          <a:prstGeom prst="rect">
            <a:avLst/>
          </a:prstGeom>
          <a:solidFill>
            <a:srgbClr val="E5E7EB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2606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Extraction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3154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cs typeface="Arial" pitchFamily="34" charset="-120"/>
              </a:rPr>
              <a:t>Parses policy documents; normalises threshold definitions across labs automatically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83280" y="2377440"/>
            <a:ext cx="2560320" cy="2103120"/>
          </a:xfrm>
          <a:prstGeom prst="rect">
            <a:avLst/>
          </a:prstGeom>
          <a:solidFill>
            <a:srgbClr val="E5E7EB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566160" y="2606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Database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566160" y="3154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cs typeface="Arial" pitchFamily="34" charset="-120"/>
              </a:rPr>
              <a:t>Machine-readable schema mapping risk tiers, capabilities, and eval requirements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17920" y="2377440"/>
            <a:ext cx="2560320" cy="2103120"/>
          </a:xfrm>
          <a:prstGeom prst="rect">
            <a:avLst/>
          </a:prstGeom>
          <a:solidFill>
            <a:srgbClr val="E5E7EB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40080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Checker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00800" y="3154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cs typeface="Arial" pitchFamily="34" charset="-120"/>
              </a:rPr>
              <a:t>Flags regulatory arbitrage gaps and verifies EU AI Act alignment in real-time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48640" y="4846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Safety UAE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1440000" cy="365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4846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Safety UAE</a:t>
            </a:r>
            <a:endParaRPr lang="en-US" sz="800" dirty="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4119FEE-5974-0515-F012-79F23DE72452}"/>
              </a:ext>
            </a:extLst>
          </p:cNvPr>
          <p:cNvSpPr/>
          <p:nvPr/>
        </p:nvSpPr>
        <p:spPr>
          <a:xfrm>
            <a:off x="0" y="148590"/>
            <a:ext cx="9144000" cy="4846320"/>
          </a:xfrm>
          <a:custGeom>
            <a:avLst/>
            <a:gdLst/>
            <a:ahLst/>
            <a:cxnLst/>
            <a:rect l="l" t="t" r="r" b="b"/>
            <a:pathLst>
              <a:path w="17574097" h="9182466">
                <a:moveTo>
                  <a:pt x="0" y="0"/>
                </a:moveTo>
                <a:lnTo>
                  <a:pt x="17574097" y="0"/>
                </a:lnTo>
                <a:lnTo>
                  <a:pt x="17574097" y="9182466"/>
                </a:lnTo>
                <a:lnTo>
                  <a:pt x="0" y="91824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4B55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3B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39" y="1234440"/>
            <a:ext cx="67146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venir Book" panose="02000503020000020003" pitchFamily="2" charset="0"/>
                <a:ea typeface="Georgia" pitchFamily="34" charset="-122"/>
                <a:cs typeface="Georgia" pitchFamily="34" charset="-120"/>
              </a:rPr>
              <a:t>What Was Built</a:t>
            </a:r>
            <a:endParaRPr lang="en-US" sz="2800" b="1" dirty="0">
              <a:latin typeface="Avenir Book" panose="02000503020000020003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2468880" cy="777240"/>
          </a:xfrm>
          <a:prstGeom prst="rect">
            <a:avLst/>
          </a:prstGeom>
          <a:solidFill>
            <a:srgbClr val="1D1F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2011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venir Book" panose="02000503020000020003" pitchFamily="2" charset="0"/>
                <a:ea typeface="Georgia" pitchFamily="34" charset="-122"/>
                <a:cs typeface="Georgia" pitchFamily="34" charset="-120"/>
              </a:rPr>
              <a:t>47</a:t>
            </a:r>
            <a:endParaRPr lang="en-US" sz="2800" dirty="0">
              <a:latin typeface="Avenir Book" panose="02000503020000020003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737360" y="2011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tiers extracted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383280" y="1965960"/>
            <a:ext cx="2468880" cy="777240"/>
          </a:xfrm>
          <a:prstGeom prst="rect">
            <a:avLst/>
          </a:prstGeom>
          <a:solidFill>
            <a:srgbClr val="1D1F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566160" y="2011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venir Book" panose="02000503020000020003" pitchFamily="2" charset="0"/>
                <a:ea typeface="Georgia" pitchFamily="34" charset="-122"/>
                <a:cs typeface="Georgia" pitchFamily="34" charset="-120"/>
              </a:rPr>
              <a:t>156</a:t>
            </a:r>
            <a:endParaRPr lang="en-US" sz="2800" dirty="0">
              <a:latin typeface="Avenir Book" panose="02000503020000020003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0" y="2011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thresholds mapped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566160" y="24871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217920" y="1965960"/>
            <a:ext cx="2468880" cy="777240"/>
          </a:xfrm>
          <a:prstGeom prst="rect">
            <a:avLst/>
          </a:prstGeom>
          <a:solidFill>
            <a:srgbClr val="1D1F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0" y="2011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venir Book" panose="02000503020000020003" pitchFamily="2" charset="0"/>
                <a:ea typeface="Georgia" pitchFamily="34" charset="-122"/>
                <a:cs typeface="Georgia" pitchFamily="34" charset="-120"/>
              </a:rPr>
              <a:t>89</a:t>
            </a:r>
            <a:endParaRPr lang="en-US" sz="2800" dirty="0">
              <a:latin typeface="Avenir Book" panose="02000503020000020003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406640" y="2011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requirements codified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48640" y="3200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venir Book" panose="02000503020000020003" pitchFamily="2" charset="0"/>
                <a:ea typeface="Georgia" pitchFamily="34" charset="-122"/>
                <a:cs typeface="Georgia" pitchFamily="34" charset="-120"/>
              </a:rPr>
              <a:t>Database Coverage</a:t>
            </a:r>
            <a:endParaRPr lang="en-US" sz="1800" dirty="0">
              <a:latin typeface="Avenir Book" panose="02000503020000020003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48640" y="36576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spans ASL, CCL, CBRN, and EU AI Act risk tiers. It enables the first objective cross-framework comparison engine for AI safety policy.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48640" y="4846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Safety UAE</a:t>
            </a:r>
            <a:endParaRPr lang="en-US" sz="800" dirty="0"/>
          </a:p>
        </p:txBody>
      </p:sp>
      <p:pic>
        <p:nvPicPr>
          <p:cNvPr id="22" name="Picture 21" descr="A black background with white text  Description automatically generated">
            <a:extLst>
              <a:ext uri="{FF2B5EF4-FFF2-40B4-BE49-F238E27FC236}">
                <a16:creationId xmlns:a16="http://schemas.microsoft.com/office/drawing/2014/main" id="{A1CA41CB-2601-D337-4373-8776A595D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648" y="244078"/>
            <a:ext cx="1518884" cy="3919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144000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3B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48639" y="1234440"/>
            <a:ext cx="74734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venir Book" panose="02000503020000020003" pitchFamily="2" charset="0"/>
                <a:ea typeface="Georgia" pitchFamily="34" charset="-122"/>
                <a:cs typeface="Georgia" pitchFamily="34" charset="-120"/>
              </a:rPr>
              <a:t>Extraction Pipeline</a:t>
            </a:r>
            <a:endParaRPr lang="en-US" sz="2800" dirty="0">
              <a:latin typeface="Avenir Book" panose="02000503020000020003" pitchFamily="2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48640" y="2103120"/>
            <a:ext cx="2560320" cy="2103120"/>
          </a:xfrm>
          <a:prstGeom prst="rect">
            <a:avLst/>
          </a:prstGeom>
          <a:solidFill>
            <a:srgbClr val="E5E7EB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E2E2E"/>
                </a:solidFill>
                <a:latin typeface="Avenir Book" panose="02000503020000020003" pitchFamily="2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>
              <a:latin typeface="Avenir Book" panose="02000503020000020003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3152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3063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frontier lab policy documents using LLM-assisted extraction (PDF and HTML)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3703320"/>
            <a:ext cx="2194560" cy="0"/>
          </a:xfrm>
          <a:prstGeom prst="line">
            <a:avLst/>
          </a:prstGeom>
          <a:noFill/>
          <a:ln w="63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152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API · custom prompts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383280" y="2103120"/>
            <a:ext cx="2560320" cy="2103120"/>
          </a:xfrm>
          <a:prstGeom prst="rect">
            <a:avLst/>
          </a:prstGeom>
          <a:solidFill>
            <a:srgbClr val="E5E7EB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56616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E2E2E"/>
                </a:solidFill>
                <a:latin typeface="Avenir Book" panose="02000503020000020003" pitchFamily="2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>
              <a:latin typeface="Avenir Book" panose="02000503020000020003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56616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566160" y="3063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Normalise into typed schema: risk tier, threshold type, eval method, capability class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566160" y="3703320"/>
            <a:ext cx="2194560" cy="0"/>
          </a:xfrm>
          <a:prstGeom prst="line">
            <a:avLst/>
          </a:prstGeom>
          <a:noFill/>
          <a:ln w="63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56616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JSON schema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217920" y="2103120"/>
            <a:ext cx="2560320" cy="2103120"/>
          </a:xfrm>
          <a:prstGeom prst="rect">
            <a:avLst/>
          </a:prstGeom>
          <a:solidFill>
            <a:srgbClr val="E5E7EB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0080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E2E2E"/>
                </a:solidFill>
                <a:latin typeface="Avenir Book" panose="02000503020000020003" pitchFamily="2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>
              <a:latin typeface="Avenir Book" panose="02000503020000020003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40080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00800" y="3063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threshold comparison; flags gaps and regulatory arbitrage mismatches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00800" y="3703320"/>
            <a:ext cx="2194560" cy="0"/>
          </a:xfrm>
          <a:prstGeom prst="line">
            <a:avLst/>
          </a:prstGeom>
          <a:noFill/>
          <a:ln w="63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40080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· open-source 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48640" y="4846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Safety UAE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144000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731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3B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43811" y="9601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venir Book" panose="02000503020000020003" pitchFamily="2" charset="0"/>
                <a:ea typeface="Georgia" pitchFamily="34" charset="-122"/>
                <a:cs typeface="Georgia" pitchFamily="34" charset="-120"/>
              </a:rPr>
              <a:t>Who Benefits and How</a:t>
            </a:r>
            <a:endParaRPr lang="en-US" sz="2800" dirty="0">
              <a:latin typeface="Avenir Book" panose="02000503020000020003" pitchFamily="2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48640" y="1672688"/>
            <a:ext cx="3794760" cy="280787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17145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76507" y="2202087"/>
            <a:ext cx="3666893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labs self-assess compliance across multiple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Regulators objectively compare lab commitments and risk levels</a:t>
            </a:r>
            <a:endParaRPr lang="en-US" sz="11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Policymakers use structured data as treaty negotiation baseline</a:t>
            </a:r>
            <a:endParaRPr lang="en-US" sz="11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Researchers query and extend the open-source threshold dataset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09160" y="1672688"/>
            <a:ext cx="3886200" cy="2807872"/>
          </a:xfrm>
          <a:prstGeom prst="rect">
            <a:avLst/>
          </a:prstGeom>
          <a:solidFill>
            <a:srgbClr val="D3B48C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870853" y="17145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 Enabled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870853" y="233172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 framework shopping and regulatory arbitrage</a:t>
            </a:r>
            <a:endParaRPr lang="en-US" sz="11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 EU AI Act systemic risk compliance checks</a:t>
            </a:r>
            <a:endParaRPr lang="en-US" sz="11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a foundation for international AI safety treaties</a:t>
            </a:r>
            <a:endParaRPr lang="en-US" sz="11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manual overhead from policy threshold analysis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8640" y="4846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Safety UAE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88a8e79-f960-4885-9548-44c027780baf}" enabled="1" method="Standard" siteId="{73561903-7c11-4927-809d-b9a31fda7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362</Words>
  <Application>Microsoft Macintosh PowerPoint</Application>
  <PresentationFormat>On-screen Show (16:9)</PresentationFormat>
  <Paragraphs>74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Avenir 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Safety UAE - Presentation Template</dc:title>
  <dc:subject>PptxGenJS Presentation</dc:subject>
  <dc:creator>AI Safety UAE</dc:creator>
  <cp:lastModifiedBy>Swaleha Parveen</cp:lastModifiedBy>
  <cp:revision>4</cp:revision>
  <dcterms:created xsi:type="dcterms:W3CDTF">2026-02-25T04:47:04Z</dcterms:created>
  <dcterms:modified xsi:type="dcterms:W3CDTF">2026-03-10T20:04:18Z</dcterms:modified>
</cp:coreProperties>
</file>