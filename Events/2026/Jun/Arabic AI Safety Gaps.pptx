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378" y="3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3" name="Google Shape;44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hyperlink" Target="https://aclanthology.org/2024.emnlp-main.1034.pdf" TargetMode="External"/><Relationship Id="rId3" Type="http://schemas.openxmlformats.org/officeDocument/2006/relationships/image" Target="../media/image1.jpg"/><Relationship Id="rId7" Type="http://schemas.openxmlformats.org/officeDocument/2006/relationships/hyperlink" Target="https://aclanthology.org/2025.naacl-long.285.pdf" TargetMode="External"/><Relationship Id="rId12"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proceedings.iclr.cc/paper_files/paper/2024/file/6b396f766a50e0853a5164e68048540c-PaperConference.pdf" TargetMode="External"/><Relationship Id="rId11" Type="http://schemas.openxmlformats.org/officeDocument/2006/relationships/hyperlink" Target="https://aclanthology.org/2024.findings-acl.334/" TargetMode="External"/><Relationship Id="rId5" Type="http://schemas.openxmlformats.org/officeDocument/2006/relationships/hyperlink" Target="https://ai.gov.ae/wp-content/uploads/2026/05/Leading-Generative-AI-Applications-EN.pdf" TargetMode="External"/><Relationship Id="rId10" Type="http://schemas.openxmlformats.org/officeDocument/2006/relationships/hyperlink" Target="https://artificialintelligenceact.eu/article/13/" TargetMode="External"/><Relationship Id="rId4" Type="http://schemas.openxmlformats.org/officeDocument/2006/relationships/hyperlink" Target="https://www.mediaoffice.ae/en/news/2026/april/23-04/mohammed-bin-rashid-chairs-uae-cabinet-meeting" TargetMode="External"/><Relationship Id="rId9" Type="http://schemas.openxmlformats.org/officeDocument/2006/relationships/hyperlink" Target="https://www.anthropic.com/claude-opus-4-5-system-car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3"/>
          <p:cNvGrpSpPr/>
          <p:nvPr/>
        </p:nvGrpSpPr>
        <p:grpSpPr>
          <a:xfrm>
            <a:off x="13548300" y="-262173"/>
            <a:ext cx="4737263" cy="10561782"/>
            <a:chOff x="0" y="-38100"/>
            <a:chExt cx="1247666" cy="2797082"/>
          </a:xfrm>
        </p:grpSpPr>
        <p:sp>
          <p:nvSpPr>
            <p:cNvPr id="85" name="Google Shape;85;p13"/>
            <p:cNvSpPr/>
            <p:nvPr/>
          </p:nvSpPr>
          <p:spPr>
            <a:xfrm>
              <a:off x="0" y="0"/>
              <a:ext cx="1247666" cy="2758982"/>
            </a:xfrm>
            <a:custGeom>
              <a:avLst/>
              <a:gdLst/>
              <a:ahLst/>
              <a:cxnLst/>
              <a:rect l="l" t="t" r="r" b="b"/>
              <a:pathLst>
                <a:path w="1247666" h="2758982" extrusionOk="0">
                  <a:moveTo>
                    <a:pt x="0" y="0"/>
                  </a:moveTo>
                  <a:lnTo>
                    <a:pt x="1247666" y="0"/>
                  </a:lnTo>
                  <a:lnTo>
                    <a:pt x="1247666" y="2758982"/>
                  </a:lnTo>
                  <a:lnTo>
                    <a:pt x="0" y="2758982"/>
                  </a:lnTo>
                  <a:close/>
                </a:path>
              </a:pathLst>
            </a:custGeom>
            <a:solidFill>
              <a:srgbClr val="F7F4F0"/>
            </a:solidFill>
            <a:ln>
              <a:noFill/>
            </a:ln>
          </p:spPr>
        </p:sp>
        <p:sp>
          <p:nvSpPr>
            <p:cNvPr id="86" name="Google Shape;86;p13"/>
            <p:cNvSpPr txBox="1"/>
            <p:nvPr/>
          </p:nvSpPr>
          <p:spPr>
            <a:xfrm>
              <a:off x="0" y="-38100"/>
              <a:ext cx="1247666" cy="2797082"/>
            </a:xfrm>
            <a:prstGeom prst="rect">
              <a:avLst/>
            </a:prstGeom>
            <a:noFill/>
            <a:ln>
              <a:noFill/>
            </a:ln>
          </p:spPr>
          <p:txBody>
            <a:bodyPr spcFirstLastPara="1" wrap="square" lIns="50800" tIns="50800" rIns="50800" bIns="50800" anchor="ctr" anchorCtr="0">
              <a:noAutofit/>
            </a:bodyPr>
            <a:lstStyle/>
            <a:p>
              <a:pPr marL="0" marR="0" lvl="0" indent="0" algn="ctr" rtl="0">
                <a:lnSpc>
                  <a:spcPct val="12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7" name="Google Shape;87;p13"/>
          <p:cNvGrpSpPr/>
          <p:nvPr/>
        </p:nvGrpSpPr>
        <p:grpSpPr>
          <a:xfrm>
            <a:off x="914405" y="2913734"/>
            <a:ext cx="7315200" cy="554926"/>
            <a:chOff x="0" y="-57150"/>
            <a:chExt cx="9753600" cy="739902"/>
          </a:xfrm>
        </p:grpSpPr>
        <p:sp>
          <p:nvSpPr>
            <p:cNvPr id="88" name="Google Shape;88;p13"/>
            <p:cNvSpPr/>
            <p:nvPr/>
          </p:nvSpPr>
          <p:spPr>
            <a:xfrm>
              <a:off x="0" y="0"/>
              <a:ext cx="9753600" cy="682752"/>
            </a:xfrm>
            <a:custGeom>
              <a:avLst/>
              <a:gdLst/>
              <a:ahLst/>
              <a:cxnLst/>
              <a:rect l="l" t="t" r="r" b="b"/>
              <a:pathLst>
                <a:path w="9753600" h="682752" extrusionOk="0">
                  <a:moveTo>
                    <a:pt x="0" y="0"/>
                  </a:moveTo>
                  <a:lnTo>
                    <a:pt x="9753600" y="0"/>
                  </a:lnTo>
                  <a:lnTo>
                    <a:pt x="9753600" y="682752"/>
                  </a:lnTo>
                  <a:lnTo>
                    <a:pt x="0" y="682752"/>
                  </a:lnTo>
                  <a:close/>
                </a:path>
              </a:pathLst>
            </a:custGeom>
            <a:blipFill rotWithShape="1">
              <a:blip r:embed="rId3">
                <a:alphaModFix amt="0"/>
              </a:blip>
              <a:stretch>
                <a:fillRect t="-228365" b="-228365"/>
              </a:stretch>
            </a:blipFill>
            <a:ln>
              <a:noFill/>
            </a:ln>
          </p:spPr>
        </p:sp>
        <p:sp>
          <p:nvSpPr>
            <p:cNvPr id="89" name="Google Shape;89;p13"/>
            <p:cNvSpPr txBox="1"/>
            <p:nvPr/>
          </p:nvSpPr>
          <p:spPr>
            <a:xfrm>
              <a:off x="0" y="-57150"/>
              <a:ext cx="9753600" cy="739902"/>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699" b="1" i="0" u="none" strike="noStrike" cap="none">
                  <a:solidFill>
                    <a:srgbClr val="8B1A1A"/>
                  </a:solidFill>
                  <a:latin typeface="Calibri"/>
                  <a:ea typeface="Calibri"/>
                  <a:cs typeface="Calibri"/>
                  <a:sym typeface="Calibri"/>
                </a:rPr>
                <a:t>POLICY BRIEF</a:t>
              </a:r>
              <a:endParaRPr sz="1700"/>
            </a:p>
          </p:txBody>
        </p:sp>
      </p:grpSp>
      <p:sp>
        <p:nvSpPr>
          <p:cNvPr id="90" name="Google Shape;90;p13"/>
          <p:cNvSpPr txBox="1"/>
          <p:nvPr/>
        </p:nvSpPr>
        <p:spPr>
          <a:xfrm>
            <a:off x="816600" y="3429000"/>
            <a:ext cx="16642125" cy="18972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400" b="1" i="0" u="none" strike="noStrike" cap="none">
                <a:solidFill>
                  <a:srgbClr val="1A1A1A"/>
                </a:solidFill>
                <a:latin typeface="Arial"/>
                <a:ea typeface="Arial"/>
                <a:cs typeface="Arial"/>
                <a:sym typeface="Arial"/>
              </a:rPr>
              <a:t>Arabic AI Safety Gaps</a:t>
            </a:r>
            <a:endParaRPr/>
          </a:p>
        </p:txBody>
      </p:sp>
      <p:grpSp>
        <p:nvGrpSpPr>
          <p:cNvPr id="91" name="Google Shape;91;p13"/>
          <p:cNvGrpSpPr/>
          <p:nvPr/>
        </p:nvGrpSpPr>
        <p:grpSpPr>
          <a:xfrm>
            <a:off x="829308" y="5018929"/>
            <a:ext cx="14630400" cy="1655786"/>
            <a:chOff x="0" y="-135075"/>
            <a:chExt cx="19507200" cy="2207715"/>
          </a:xfrm>
        </p:grpSpPr>
        <p:sp>
          <p:nvSpPr>
            <p:cNvPr id="92" name="Google Shape;92;p13"/>
            <p:cNvSpPr/>
            <p:nvPr/>
          </p:nvSpPr>
          <p:spPr>
            <a:xfrm>
              <a:off x="0" y="0"/>
              <a:ext cx="19507200" cy="2072640"/>
            </a:xfrm>
            <a:custGeom>
              <a:avLst/>
              <a:gdLst/>
              <a:ahLst/>
              <a:cxnLst/>
              <a:rect l="l" t="t" r="r" b="b"/>
              <a:pathLst>
                <a:path w="19507200" h="2072640" extrusionOk="0">
                  <a:moveTo>
                    <a:pt x="0" y="0"/>
                  </a:moveTo>
                  <a:lnTo>
                    <a:pt x="19507200" y="0"/>
                  </a:lnTo>
                  <a:lnTo>
                    <a:pt x="19507200" y="2072640"/>
                  </a:lnTo>
                  <a:lnTo>
                    <a:pt x="0" y="2072640"/>
                  </a:lnTo>
                  <a:close/>
                </a:path>
              </a:pathLst>
            </a:custGeom>
            <a:blipFill rotWithShape="1">
              <a:blip r:embed="rId3">
                <a:alphaModFix amt="0"/>
              </a:blip>
              <a:stretch>
                <a:fillRect t="-133392" b="-133392"/>
              </a:stretch>
            </a:blipFill>
            <a:ln>
              <a:noFill/>
            </a:ln>
          </p:spPr>
        </p:sp>
        <p:sp>
          <p:nvSpPr>
            <p:cNvPr id="93" name="Google Shape;93;p13"/>
            <p:cNvSpPr txBox="1"/>
            <p:nvPr/>
          </p:nvSpPr>
          <p:spPr>
            <a:xfrm>
              <a:off x="0" y="-135075"/>
              <a:ext cx="19507200" cy="21393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3600" b="0" i="1" u="none" strike="noStrike" cap="none">
                  <a:solidFill>
                    <a:srgbClr val="2D2D2D"/>
                  </a:solidFill>
                  <a:latin typeface="Calibri"/>
                  <a:ea typeface="Calibri"/>
                  <a:cs typeface="Calibri"/>
                  <a:sym typeface="Calibri"/>
                </a:rPr>
                <a:t>What UAE Regulators Need to Know</a:t>
              </a:r>
              <a:endParaRPr/>
            </a:p>
            <a:p>
              <a:pPr marL="0" marR="0" lvl="0" indent="0" algn="l" rtl="0">
                <a:lnSpc>
                  <a:spcPct val="120000"/>
                </a:lnSpc>
                <a:spcBef>
                  <a:spcPts val="0"/>
                </a:spcBef>
                <a:spcAft>
                  <a:spcPts val="0"/>
                </a:spcAft>
                <a:buNone/>
              </a:pPr>
              <a:r>
                <a:rPr lang="en-US" sz="3600" b="0" i="1" u="none" strike="noStrike" cap="none">
                  <a:solidFill>
                    <a:srgbClr val="2D2D2D"/>
                  </a:solidFill>
                  <a:latin typeface="Calibri"/>
                  <a:ea typeface="Calibri"/>
                  <a:cs typeface="Calibri"/>
                  <a:sym typeface="Calibri"/>
                </a:rPr>
                <a:t>Before Deploying Agentic AI at Scale</a:t>
              </a:r>
              <a:endParaRPr/>
            </a:p>
          </p:txBody>
        </p:sp>
      </p:grpSp>
      <p:sp>
        <p:nvSpPr>
          <p:cNvPr id="94" name="Google Shape;94;p13"/>
          <p:cNvSpPr/>
          <p:nvPr/>
        </p:nvSpPr>
        <p:spPr>
          <a:xfrm>
            <a:off x="816600" y="6936347"/>
            <a:ext cx="12300484" cy="84453"/>
          </a:xfrm>
          <a:custGeom>
            <a:avLst/>
            <a:gdLst/>
            <a:ahLst/>
            <a:cxnLst/>
            <a:rect l="l" t="t" r="r" b="b"/>
            <a:pathLst>
              <a:path w="20760310" h="131445" extrusionOk="0">
                <a:moveTo>
                  <a:pt x="0" y="0"/>
                </a:moveTo>
                <a:lnTo>
                  <a:pt x="20760310" y="0"/>
                </a:lnTo>
                <a:lnTo>
                  <a:pt x="20760310" y="131445"/>
                </a:lnTo>
                <a:lnTo>
                  <a:pt x="0" y="131445"/>
                </a:lnTo>
                <a:close/>
              </a:path>
            </a:pathLst>
          </a:custGeom>
          <a:solidFill>
            <a:srgbClr val="CCCCCC"/>
          </a:solidFill>
          <a:ln w="25400" cap="sq" cmpd="sng">
            <a:solidFill>
              <a:srgbClr val="CCCCCC"/>
            </a:solidFill>
            <a:prstDash val="solid"/>
            <a:miter lim="8000"/>
            <a:headEnd type="none" w="sm" len="sm"/>
            <a:tailEnd type="none" w="sm" len="sm"/>
          </a:ln>
        </p:spPr>
      </p:sp>
      <p:grpSp>
        <p:nvGrpSpPr>
          <p:cNvPr id="95" name="Google Shape;95;p13"/>
          <p:cNvGrpSpPr/>
          <p:nvPr/>
        </p:nvGrpSpPr>
        <p:grpSpPr>
          <a:xfrm>
            <a:off x="816608" y="7385044"/>
            <a:ext cx="3657600" cy="430911"/>
            <a:chOff x="0" y="-38100"/>
            <a:chExt cx="4876800" cy="574548"/>
          </a:xfrm>
        </p:grpSpPr>
        <p:sp>
          <p:nvSpPr>
            <p:cNvPr id="96" name="Google Shape;96;p13"/>
            <p:cNvSpPr/>
            <p:nvPr/>
          </p:nvSpPr>
          <p:spPr>
            <a:xfrm>
              <a:off x="0" y="0"/>
              <a:ext cx="4876800" cy="536448"/>
            </a:xfrm>
            <a:custGeom>
              <a:avLst/>
              <a:gdLst/>
              <a:ahLst/>
              <a:cxnLst/>
              <a:rect l="l" t="t" r="r" b="b"/>
              <a:pathLst>
                <a:path w="4876800" h="536448" extrusionOk="0">
                  <a:moveTo>
                    <a:pt x="0" y="0"/>
                  </a:moveTo>
                  <a:lnTo>
                    <a:pt x="4876800" y="0"/>
                  </a:lnTo>
                  <a:lnTo>
                    <a:pt x="4876800" y="536448"/>
                  </a:lnTo>
                  <a:lnTo>
                    <a:pt x="0" y="536448"/>
                  </a:lnTo>
                  <a:close/>
                </a:path>
              </a:pathLst>
            </a:custGeom>
            <a:blipFill rotWithShape="1">
              <a:blip r:embed="rId3">
                <a:alphaModFix amt="0"/>
              </a:blip>
              <a:stretch>
                <a:fillRect t="-127142" b="-127142"/>
              </a:stretch>
            </a:blipFill>
            <a:ln>
              <a:noFill/>
            </a:ln>
          </p:spPr>
        </p:sp>
        <p:sp>
          <p:nvSpPr>
            <p:cNvPr id="97" name="Google Shape;97;p13"/>
            <p:cNvSpPr txBox="1"/>
            <p:nvPr/>
          </p:nvSpPr>
          <p:spPr>
            <a:xfrm>
              <a:off x="0" y="-38100"/>
              <a:ext cx="4876800" cy="5745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400" b="1" i="0" u="none" strike="noStrike" cap="none">
                  <a:solidFill>
                    <a:srgbClr val="8B1A1A"/>
                  </a:solidFill>
                  <a:latin typeface="Calibri"/>
                  <a:ea typeface="Calibri"/>
                  <a:cs typeface="Calibri"/>
                  <a:sym typeface="Calibri"/>
                </a:rPr>
                <a:t>PRESENTED BY</a:t>
              </a:r>
              <a:endParaRPr sz="2000"/>
            </a:p>
          </p:txBody>
        </p:sp>
      </p:grpSp>
      <p:grpSp>
        <p:nvGrpSpPr>
          <p:cNvPr id="98" name="Google Shape;98;p13"/>
          <p:cNvGrpSpPr/>
          <p:nvPr/>
        </p:nvGrpSpPr>
        <p:grpSpPr>
          <a:xfrm>
            <a:off x="816608" y="7784236"/>
            <a:ext cx="10972800" cy="732027"/>
            <a:chOff x="0" y="-66675"/>
            <a:chExt cx="14630400" cy="976036"/>
          </a:xfrm>
        </p:grpSpPr>
        <p:sp>
          <p:nvSpPr>
            <p:cNvPr id="99" name="Google Shape;99;p13"/>
            <p:cNvSpPr/>
            <p:nvPr/>
          </p:nvSpPr>
          <p:spPr>
            <a:xfrm>
              <a:off x="0" y="0"/>
              <a:ext cx="14630400" cy="909361"/>
            </a:xfrm>
            <a:custGeom>
              <a:avLst/>
              <a:gdLst/>
              <a:ahLst/>
              <a:cxnLst/>
              <a:rect l="l" t="t" r="r" b="b"/>
              <a:pathLst>
                <a:path w="14630400" h="909361" extrusionOk="0">
                  <a:moveTo>
                    <a:pt x="0" y="0"/>
                  </a:moveTo>
                  <a:lnTo>
                    <a:pt x="14630400" y="0"/>
                  </a:lnTo>
                  <a:lnTo>
                    <a:pt x="14630400" y="909361"/>
                  </a:lnTo>
                  <a:lnTo>
                    <a:pt x="0" y="909361"/>
                  </a:lnTo>
                  <a:close/>
                </a:path>
              </a:pathLst>
            </a:custGeom>
            <a:blipFill rotWithShape="1">
              <a:blip r:embed="rId3">
                <a:alphaModFix amt="0"/>
              </a:blip>
              <a:stretch>
                <a:fillRect t="-284005" b="-242993"/>
              </a:stretch>
            </a:blipFill>
            <a:ln>
              <a:noFill/>
            </a:ln>
          </p:spPr>
        </p:sp>
        <p:sp>
          <p:nvSpPr>
            <p:cNvPr id="100" name="Google Shape;100;p13"/>
            <p:cNvSpPr txBox="1"/>
            <p:nvPr/>
          </p:nvSpPr>
          <p:spPr>
            <a:xfrm>
              <a:off x="0" y="-66675"/>
              <a:ext cx="14630400" cy="976036"/>
            </a:xfrm>
            <a:prstGeom prst="rect">
              <a:avLst/>
            </a:prstGeom>
            <a:noFill/>
            <a:ln>
              <a:noFill/>
            </a:ln>
          </p:spPr>
          <p:txBody>
            <a:bodyPr spcFirstLastPara="1" wrap="square" lIns="0" tIns="0" rIns="0" bIns="0" anchor="ctr" anchorCtr="0">
              <a:noAutofit/>
            </a:bodyPr>
            <a:lstStyle/>
            <a:p>
              <a:pPr marL="0" marR="0" lvl="0" indent="0" algn="l" rtl="0">
                <a:lnSpc>
                  <a:spcPct val="120005"/>
                </a:lnSpc>
                <a:spcBef>
                  <a:spcPts val="0"/>
                </a:spcBef>
                <a:spcAft>
                  <a:spcPts val="0"/>
                </a:spcAft>
                <a:buNone/>
              </a:pPr>
              <a:r>
                <a:rPr lang="en-US" sz="3399" b="1" i="0" u="none" strike="noStrike" cap="none">
                  <a:solidFill>
                    <a:srgbClr val="2D2D2D"/>
                  </a:solidFill>
                  <a:latin typeface="Calibri"/>
                  <a:ea typeface="Calibri"/>
                  <a:cs typeface="Calibri"/>
                  <a:sym typeface="Calibri"/>
                </a:rPr>
                <a:t>AI Safety UAE</a:t>
              </a:r>
              <a:endParaRPr/>
            </a:p>
          </p:txBody>
        </p:sp>
      </p:grpSp>
      <p:grpSp>
        <p:nvGrpSpPr>
          <p:cNvPr id="101" name="Google Shape;101;p13"/>
          <p:cNvGrpSpPr/>
          <p:nvPr/>
        </p:nvGrpSpPr>
        <p:grpSpPr>
          <a:xfrm>
            <a:off x="13722348" y="7259931"/>
            <a:ext cx="2194650" cy="566288"/>
            <a:chOff x="0" y="0"/>
            <a:chExt cx="2926200" cy="755050"/>
          </a:xfrm>
        </p:grpSpPr>
        <p:sp>
          <p:nvSpPr>
            <p:cNvPr id="102" name="Google Shape;102;p13"/>
            <p:cNvSpPr/>
            <p:nvPr/>
          </p:nvSpPr>
          <p:spPr>
            <a:xfrm>
              <a:off x="0" y="0"/>
              <a:ext cx="2926080" cy="536448"/>
            </a:xfrm>
            <a:custGeom>
              <a:avLst/>
              <a:gdLst/>
              <a:ahLst/>
              <a:cxnLst/>
              <a:rect l="l" t="t" r="r" b="b"/>
              <a:pathLst>
                <a:path w="2926080" h="536448" extrusionOk="0">
                  <a:moveTo>
                    <a:pt x="0" y="0"/>
                  </a:moveTo>
                  <a:lnTo>
                    <a:pt x="2926080" y="0"/>
                  </a:lnTo>
                  <a:lnTo>
                    <a:pt x="2926080" y="536448"/>
                  </a:lnTo>
                  <a:lnTo>
                    <a:pt x="0" y="536448"/>
                  </a:lnTo>
                  <a:close/>
                </a:path>
              </a:pathLst>
            </a:custGeom>
            <a:blipFill rotWithShape="1">
              <a:blip r:embed="rId3">
                <a:alphaModFix amt="0"/>
              </a:blip>
              <a:stretch>
                <a:fillRect t="-56283" b="-56283"/>
              </a:stretch>
            </a:blipFill>
            <a:ln>
              <a:noFill/>
            </a:ln>
          </p:spPr>
        </p:sp>
        <p:sp>
          <p:nvSpPr>
            <p:cNvPr id="103" name="Google Shape;103;p13"/>
            <p:cNvSpPr txBox="1"/>
            <p:nvPr/>
          </p:nvSpPr>
          <p:spPr>
            <a:xfrm>
              <a:off x="0" y="180550"/>
              <a:ext cx="2926200" cy="57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800" b="1" i="0" u="none" strike="noStrike" cap="none">
                  <a:solidFill>
                    <a:srgbClr val="8B1A1A"/>
                  </a:solidFill>
                  <a:latin typeface="Calibri"/>
                  <a:ea typeface="Calibri"/>
                  <a:cs typeface="Calibri"/>
                  <a:sym typeface="Calibri"/>
                </a:rPr>
                <a:t>DATE:</a:t>
              </a:r>
              <a:endParaRPr/>
            </a:p>
          </p:txBody>
        </p:sp>
      </p:grpSp>
      <p:sp>
        <p:nvSpPr>
          <p:cNvPr id="104" name="Google Shape;104;p13"/>
          <p:cNvSpPr/>
          <p:nvPr/>
        </p:nvSpPr>
        <p:spPr>
          <a:xfrm>
            <a:off x="890405" y="753644"/>
            <a:ext cx="5425303" cy="1378027"/>
          </a:xfrm>
          <a:custGeom>
            <a:avLst/>
            <a:gdLst/>
            <a:ahLst/>
            <a:cxnLst/>
            <a:rect l="l" t="t" r="r" b="b"/>
            <a:pathLst>
              <a:path w="5425303" h="1378027" extrusionOk="0">
                <a:moveTo>
                  <a:pt x="0" y="0"/>
                </a:moveTo>
                <a:lnTo>
                  <a:pt x="5425303" y="0"/>
                </a:lnTo>
                <a:lnTo>
                  <a:pt x="5425303" y="1378027"/>
                </a:lnTo>
                <a:lnTo>
                  <a:pt x="0" y="1378027"/>
                </a:lnTo>
                <a:lnTo>
                  <a:pt x="0" y="0"/>
                </a:lnTo>
                <a:close/>
              </a:path>
            </a:pathLst>
          </a:custGeom>
          <a:blipFill rotWithShape="1">
            <a:blip r:embed="rId4">
              <a:alphaModFix/>
            </a:blip>
            <a:stretch>
              <a:fillRect/>
            </a:stretch>
          </a:blipFill>
          <a:ln>
            <a:noFill/>
          </a:ln>
        </p:spPr>
      </p:sp>
      <p:sp>
        <p:nvSpPr>
          <p:cNvPr id="105" name="Google Shape;105;p13"/>
          <p:cNvSpPr/>
          <p:nvPr/>
        </p:nvSpPr>
        <p:spPr>
          <a:xfrm>
            <a:off x="0" y="9837985"/>
            <a:ext cx="18252300" cy="18000"/>
          </a:xfrm>
          <a:prstGeom prst="rect">
            <a:avLst/>
          </a:prstGeom>
          <a:solidFill>
            <a:srgbClr val="E5E7EB"/>
          </a:solidFill>
          <a:ln>
            <a:noFill/>
          </a:ln>
        </p:spPr>
        <p:txBody>
          <a:bodyPr spcFirstLastPara="1" wrap="square" lIns="182500" tIns="182500" rIns="182500" bIns="182500" anchor="ctr" anchorCtr="0">
            <a:noAutofit/>
          </a:bodyPr>
          <a:lstStyle/>
          <a:p>
            <a:pPr marL="0" lvl="0" indent="0" algn="l" rtl="0">
              <a:spcBef>
                <a:spcPts val="0"/>
              </a:spcBef>
              <a:spcAft>
                <a:spcPts val="0"/>
              </a:spcAft>
              <a:buNone/>
            </a:pPr>
            <a:endParaRPr/>
          </a:p>
        </p:txBody>
      </p:sp>
      <p:sp>
        <p:nvSpPr>
          <p:cNvPr id="106" name="Google Shape;106;p13"/>
          <p:cNvSpPr txBox="1"/>
          <p:nvPr/>
        </p:nvSpPr>
        <p:spPr>
          <a:xfrm>
            <a:off x="13722348" y="7931705"/>
            <a:ext cx="3657600" cy="43080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a:solidFill>
                  <a:srgbClr val="2D2D2D"/>
                </a:solidFill>
                <a:latin typeface="Calibri"/>
                <a:ea typeface="Calibri"/>
                <a:cs typeface="Calibri"/>
                <a:sym typeface="Calibri"/>
              </a:rPr>
              <a:t>June 2026</a:t>
            </a:r>
            <a:endParaRPr/>
          </a:p>
        </p:txBody>
      </p:sp>
      <p:sp>
        <p:nvSpPr>
          <p:cNvPr id="107" name="Google Shape;107;p13"/>
          <p:cNvSpPr/>
          <p:nvPr/>
        </p:nvSpPr>
        <p:spPr>
          <a:xfrm>
            <a:off x="638830" y="9892742"/>
            <a:ext cx="5475600" cy="328800"/>
          </a:xfrm>
          <a:prstGeom prst="rect">
            <a:avLst/>
          </a:prstGeom>
          <a:noFill/>
          <a:ln>
            <a:noFill/>
          </a:ln>
        </p:spPr>
        <p:txBody>
          <a:bodyPr spcFirstLastPara="1" wrap="square" lIns="182500" tIns="91225" rIns="182500" bIns="91225" anchor="ctr" anchorCtr="0">
            <a:noAutofit/>
          </a:bodyPr>
          <a:lstStyle/>
          <a:p>
            <a:pPr marL="0" marR="0" lvl="0" indent="0" algn="l" rtl="0">
              <a:spcBef>
                <a:spcPts val="0"/>
              </a:spcBef>
              <a:spcAft>
                <a:spcPts val="0"/>
              </a:spcAft>
              <a:buClr>
                <a:srgbClr val="9CA3AF"/>
              </a:buClr>
              <a:buSzPts val="1597"/>
              <a:buFont typeface="Calibri"/>
              <a:buNone/>
            </a:pPr>
            <a:r>
              <a:rPr lang="en-US" sz="1597">
                <a:solidFill>
                  <a:srgbClr val="9CA3AF"/>
                </a:solidFill>
                <a:latin typeface="Calibri"/>
                <a:ea typeface="Calibri"/>
                <a:cs typeface="Calibri"/>
                <a:sym typeface="Calibri"/>
              </a:rPr>
              <a:t>AI Safety UAE</a:t>
            </a:r>
            <a:endParaRPr sz="1597">
              <a:solidFill>
                <a:srgbClr val="000000"/>
              </a:solidFill>
              <a:latin typeface="Calibri"/>
              <a:ea typeface="Calibri"/>
              <a:cs typeface="Calibri"/>
              <a:sym typeface="Calibri"/>
            </a:endParaRPr>
          </a:p>
        </p:txBody>
      </p:sp>
      <p:sp>
        <p:nvSpPr>
          <p:cNvPr id="108" name="Google Shape;108;p13"/>
          <p:cNvSpPr/>
          <p:nvPr/>
        </p:nvSpPr>
        <p:spPr>
          <a:xfrm>
            <a:off x="14057050" y="9895400"/>
            <a:ext cx="4195200" cy="325800"/>
          </a:xfrm>
          <a:prstGeom prst="rect">
            <a:avLst/>
          </a:prstGeom>
          <a:noFill/>
          <a:ln>
            <a:noFill/>
          </a:ln>
        </p:spPr>
        <p:txBody>
          <a:bodyPr spcFirstLastPara="1" wrap="square" lIns="182500" tIns="91225" rIns="182500" bIns="91225" anchor="ctr" anchorCtr="0">
            <a:noAutofit/>
          </a:bodyPr>
          <a:lstStyle/>
          <a:p>
            <a:pPr marL="0" marR="0" lvl="0" indent="0" algn="r" rtl="0">
              <a:spcBef>
                <a:spcPts val="0"/>
              </a:spcBef>
              <a:spcAft>
                <a:spcPts val="0"/>
              </a:spcAft>
              <a:buNone/>
            </a:pPr>
            <a:r>
              <a:rPr lang="en-US" sz="1597">
                <a:solidFill>
                  <a:srgbClr val="4B5563"/>
                </a:solidFill>
                <a:latin typeface="Calibri"/>
                <a:ea typeface="Calibri"/>
                <a:cs typeface="Calibri"/>
                <a:sym typeface="Calibri"/>
              </a:rPr>
              <a:t>1</a:t>
            </a:r>
            <a:endParaRPr sz="1597">
              <a:solidFill>
                <a:srgbClr val="000000"/>
              </a:solidFill>
              <a:latin typeface="Calibri"/>
              <a:ea typeface="Calibri"/>
              <a:cs typeface="Calibri"/>
              <a:sym typeface="Calibri"/>
            </a:endParaRPr>
          </a:p>
        </p:txBody>
      </p:sp>
      <p:sp>
        <p:nvSpPr>
          <p:cNvPr id="109" name="Google Shape;109;p13"/>
          <p:cNvSpPr/>
          <p:nvPr/>
        </p:nvSpPr>
        <p:spPr>
          <a:xfrm>
            <a:off x="-12697" y="-12697"/>
            <a:ext cx="427767" cy="10312432"/>
          </a:xfrm>
          <a:custGeom>
            <a:avLst/>
            <a:gdLst/>
            <a:ahLst/>
            <a:cxnLst/>
            <a:rect l="l" t="t" r="r" b="b"/>
            <a:pathLst>
              <a:path w="570357" h="13749910" extrusionOk="0">
                <a:moveTo>
                  <a:pt x="0" y="0"/>
                </a:moveTo>
                <a:lnTo>
                  <a:pt x="570357" y="0"/>
                </a:lnTo>
                <a:lnTo>
                  <a:pt x="570357" y="13749910"/>
                </a:lnTo>
                <a:lnTo>
                  <a:pt x="0" y="13749910"/>
                </a:lnTo>
                <a:close/>
              </a:path>
            </a:pathLst>
          </a:custGeom>
          <a:solidFill>
            <a:srgbClr val="8B1A1A"/>
          </a:solidFill>
          <a:ln w="25400" cap="sq" cmpd="sng">
            <a:solidFill>
              <a:srgbClr val="8B1A1A"/>
            </a:solidFill>
            <a:prstDash val="solid"/>
            <a:miter lim="8000"/>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113"/>
        <p:cNvGrpSpPr/>
        <p:nvPr/>
      </p:nvGrpSpPr>
      <p:grpSpPr>
        <a:xfrm>
          <a:off x="0" y="0"/>
          <a:ext cx="0" cy="0"/>
          <a:chOff x="0" y="0"/>
          <a:chExt cx="0" cy="0"/>
        </a:xfrm>
      </p:grpSpPr>
      <p:grpSp>
        <p:nvGrpSpPr>
          <p:cNvPr id="114" name="Google Shape;114;p14"/>
          <p:cNvGrpSpPr/>
          <p:nvPr/>
        </p:nvGrpSpPr>
        <p:grpSpPr>
          <a:xfrm>
            <a:off x="1005840" y="1595914"/>
            <a:ext cx="3657600" cy="2244566"/>
            <a:chOff x="0" y="-66675"/>
            <a:chExt cx="4876800" cy="2992755"/>
          </a:xfrm>
        </p:grpSpPr>
        <p:sp>
          <p:nvSpPr>
            <p:cNvPr id="115" name="Google Shape;115;p14"/>
            <p:cNvSpPr/>
            <p:nvPr/>
          </p:nvSpPr>
          <p:spPr>
            <a:xfrm>
              <a:off x="0" y="0"/>
              <a:ext cx="4876800" cy="2926080"/>
            </a:xfrm>
            <a:custGeom>
              <a:avLst/>
              <a:gdLst/>
              <a:ahLst/>
              <a:cxnLst/>
              <a:rect l="l" t="t" r="r" b="b"/>
              <a:pathLst>
                <a:path w="4876800" h="2926080" extrusionOk="0">
                  <a:moveTo>
                    <a:pt x="0" y="0"/>
                  </a:moveTo>
                  <a:lnTo>
                    <a:pt x="4876800" y="0"/>
                  </a:lnTo>
                  <a:lnTo>
                    <a:pt x="4876800" y="2926080"/>
                  </a:lnTo>
                  <a:lnTo>
                    <a:pt x="0" y="2926080"/>
                  </a:lnTo>
                  <a:close/>
                </a:path>
              </a:pathLst>
            </a:custGeom>
            <a:blipFill rotWithShape="1">
              <a:blip r:embed="rId3">
                <a:alphaModFix amt="0"/>
              </a:blip>
              <a:stretch>
                <a:fillRect l="-26982" r="-26982"/>
              </a:stretch>
            </a:blipFill>
            <a:ln>
              <a:noFill/>
            </a:ln>
          </p:spPr>
        </p:sp>
        <p:sp>
          <p:nvSpPr>
            <p:cNvPr id="116" name="Google Shape;116;p14"/>
            <p:cNvSpPr txBox="1"/>
            <p:nvPr/>
          </p:nvSpPr>
          <p:spPr>
            <a:xfrm>
              <a:off x="0" y="-66675"/>
              <a:ext cx="4876800" cy="29927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7600" b="1" i="0" u="none" strike="noStrike" cap="none">
                  <a:solidFill>
                    <a:srgbClr val="8B1A1A"/>
                  </a:solidFill>
                  <a:latin typeface="Arial"/>
                  <a:ea typeface="Arial"/>
                  <a:cs typeface="Arial"/>
                  <a:sym typeface="Arial"/>
                </a:rPr>
                <a:t>01</a:t>
              </a:r>
              <a:endParaRPr/>
            </a:p>
          </p:txBody>
        </p:sp>
      </p:grpSp>
      <p:grpSp>
        <p:nvGrpSpPr>
          <p:cNvPr id="117" name="Google Shape;117;p14"/>
          <p:cNvGrpSpPr/>
          <p:nvPr/>
        </p:nvGrpSpPr>
        <p:grpSpPr>
          <a:xfrm>
            <a:off x="1028700" y="3332098"/>
            <a:ext cx="15544800" cy="2954655"/>
            <a:chOff x="0" y="-38100"/>
            <a:chExt cx="20726400" cy="3939540"/>
          </a:xfrm>
        </p:grpSpPr>
        <p:sp>
          <p:nvSpPr>
            <p:cNvPr id="118" name="Google Shape;118;p14"/>
            <p:cNvSpPr/>
            <p:nvPr/>
          </p:nvSpPr>
          <p:spPr>
            <a:xfrm>
              <a:off x="0" y="0"/>
              <a:ext cx="20726400" cy="3901440"/>
            </a:xfrm>
            <a:custGeom>
              <a:avLst/>
              <a:gdLst/>
              <a:ahLst/>
              <a:cxnLst/>
              <a:rect l="l" t="t" r="r" b="b"/>
              <a:pathLst>
                <a:path w="20726400" h="3901440" extrusionOk="0">
                  <a:moveTo>
                    <a:pt x="0" y="0"/>
                  </a:moveTo>
                  <a:lnTo>
                    <a:pt x="20726400" y="0"/>
                  </a:lnTo>
                  <a:lnTo>
                    <a:pt x="20726400" y="3901440"/>
                  </a:lnTo>
                  <a:lnTo>
                    <a:pt x="0" y="3901440"/>
                  </a:lnTo>
                  <a:close/>
                </a:path>
              </a:pathLst>
            </a:custGeom>
            <a:blipFill rotWithShape="1">
              <a:blip r:embed="rId3">
                <a:alphaModFix amt="0"/>
              </a:blip>
              <a:stretch>
                <a:fillRect t="-53515" b="-53515"/>
              </a:stretch>
            </a:blipFill>
            <a:ln>
              <a:noFill/>
            </a:ln>
          </p:spPr>
        </p:sp>
        <p:sp>
          <p:nvSpPr>
            <p:cNvPr id="119" name="Google Shape;119;p14"/>
            <p:cNvSpPr txBox="1"/>
            <p:nvPr/>
          </p:nvSpPr>
          <p:spPr>
            <a:xfrm>
              <a:off x="0" y="-38100"/>
              <a:ext cx="20726400" cy="39395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The Issue</a:t>
              </a:r>
              <a:endParaRPr/>
            </a:p>
          </p:txBody>
        </p:sp>
      </p:grpSp>
      <p:sp>
        <p:nvSpPr>
          <p:cNvPr id="120" name="Google Shape;120;p14"/>
          <p:cNvSpPr/>
          <p:nvPr/>
        </p:nvSpPr>
        <p:spPr>
          <a:xfrm>
            <a:off x="1242643" y="6439553"/>
            <a:ext cx="2037111" cy="153447"/>
          </a:xfrm>
          <a:custGeom>
            <a:avLst/>
            <a:gdLst/>
            <a:ahLst/>
            <a:cxnLst/>
            <a:rect l="l" t="t" r="r" b="b"/>
            <a:pathLst>
              <a:path w="2716149" h="204597" extrusionOk="0">
                <a:moveTo>
                  <a:pt x="0" y="0"/>
                </a:moveTo>
                <a:lnTo>
                  <a:pt x="2716149" y="0"/>
                </a:lnTo>
                <a:lnTo>
                  <a:pt x="2716149" y="204597"/>
                </a:lnTo>
                <a:lnTo>
                  <a:pt x="0" y="204597"/>
                </a:lnTo>
                <a:close/>
              </a:path>
            </a:pathLst>
          </a:custGeom>
          <a:solidFill>
            <a:srgbClr val="A52020"/>
          </a:solidFill>
          <a:ln w="25400" cap="sq" cmpd="sng">
            <a:solidFill>
              <a:srgbClr val="A52020"/>
            </a:solidFill>
            <a:prstDash val="solid"/>
            <a:miter lim="8000"/>
            <a:headEnd type="none" w="sm" len="sm"/>
            <a:tailEnd type="none" w="sm" len="sm"/>
          </a:ln>
        </p:spPr>
      </p:sp>
      <p:grpSp>
        <p:nvGrpSpPr>
          <p:cNvPr id="121" name="Google Shape;121;p14"/>
          <p:cNvGrpSpPr/>
          <p:nvPr/>
        </p:nvGrpSpPr>
        <p:grpSpPr>
          <a:xfrm>
            <a:off x="1303020" y="6988974"/>
            <a:ext cx="14996160" cy="957263"/>
            <a:chOff x="0" y="-57150"/>
            <a:chExt cx="19994880" cy="1276350"/>
          </a:xfrm>
        </p:grpSpPr>
        <p:sp>
          <p:nvSpPr>
            <p:cNvPr id="122" name="Google Shape;122;p14"/>
            <p:cNvSpPr/>
            <p:nvPr/>
          </p:nvSpPr>
          <p:spPr>
            <a:xfrm>
              <a:off x="0" y="0"/>
              <a:ext cx="19994880" cy="1219200"/>
            </a:xfrm>
            <a:custGeom>
              <a:avLst/>
              <a:gdLst/>
              <a:ahLst/>
              <a:cxnLst/>
              <a:rect l="l" t="t" r="r" b="b"/>
              <a:pathLst>
                <a:path w="19994880" h="1219200" extrusionOk="0">
                  <a:moveTo>
                    <a:pt x="0" y="0"/>
                  </a:moveTo>
                  <a:lnTo>
                    <a:pt x="19994880" y="0"/>
                  </a:lnTo>
                  <a:lnTo>
                    <a:pt x="19994880" y="1219200"/>
                  </a:lnTo>
                  <a:lnTo>
                    <a:pt x="0" y="1219200"/>
                  </a:lnTo>
                  <a:close/>
                </a:path>
              </a:pathLst>
            </a:custGeom>
            <a:blipFill rotWithShape="1">
              <a:blip r:embed="rId3">
                <a:alphaModFix amt="0"/>
              </a:blip>
              <a:stretch>
                <a:fillRect t="-269570" b="-269570"/>
              </a:stretch>
            </a:blipFill>
            <a:ln>
              <a:noFill/>
            </a:ln>
          </p:spPr>
        </p:sp>
        <p:sp>
          <p:nvSpPr>
            <p:cNvPr id="123" name="Google Shape;123;p14"/>
            <p:cNvSpPr txBox="1"/>
            <p:nvPr/>
          </p:nvSpPr>
          <p:spPr>
            <a:xfrm>
              <a:off x="0" y="-57150"/>
              <a:ext cx="19994880" cy="1276350"/>
            </a:xfrm>
            <a:prstGeom prst="rect">
              <a:avLst/>
            </a:prstGeom>
            <a:noFill/>
            <a:ln>
              <a:noFill/>
            </a:ln>
          </p:spPr>
          <p:txBody>
            <a:bodyPr spcFirstLastPara="1" wrap="square" lIns="0" tIns="0" rIns="0" bIns="0" anchor="ctr" anchorCtr="0">
              <a:noAutofit/>
            </a:bodyPr>
            <a:lstStyle/>
            <a:p>
              <a:pPr marL="0" marR="0" lvl="0" indent="0" algn="l" rtl="0">
                <a:lnSpc>
                  <a:spcPct val="120006"/>
                </a:lnSpc>
                <a:spcBef>
                  <a:spcPts val="0"/>
                </a:spcBef>
                <a:spcAft>
                  <a:spcPts val="0"/>
                </a:spcAft>
                <a:buNone/>
              </a:pPr>
              <a:r>
                <a:rPr lang="en-US" sz="2999" b="0" i="0" u="none" strike="noStrike" cap="none">
                  <a:solidFill>
                    <a:srgbClr val="FFFFFF"/>
                  </a:solidFill>
                  <a:latin typeface="Calibri"/>
                  <a:ea typeface="Calibri"/>
                  <a:cs typeface="Calibri"/>
                  <a:sym typeface="Calibri"/>
                </a:rPr>
                <a:t>A two-year mandate, five AI tools, and zero Arabic safety documentation.</a:t>
              </a:r>
              <a:endParaRPr/>
            </a:p>
          </p:txBody>
        </p:sp>
      </p:grpSp>
      <p:sp>
        <p:nvSpPr>
          <p:cNvPr id="124" name="Google Shape;124;p14"/>
          <p:cNvSpPr/>
          <p:nvPr/>
        </p:nvSpPr>
        <p:spPr>
          <a:xfrm>
            <a:off x="12878380" y="693745"/>
            <a:ext cx="4418971" cy="1202350"/>
          </a:xfrm>
          <a:custGeom>
            <a:avLst/>
            <a:gdLst/>
            <a:ahLst/>
            <a:cxnLst/>
            <a:rect l="l" t="t" r="r" b="b"/>
            <a:pathLst>
              <a:path w="3079422" h="801567" extrusionOk="0">
                <a:moveTo>
                  <a:pt x="0" y="0"/>
                </a:moveTo>
                <a:lnTo>
                  <a:pt x="3079422" y="0"/>
                </a:lnTo>
                <a:lnTo>
                  <a:pt x="3079422" y="801567"/>
                </a:lnTo>
                <a:lnTo>
                  <a:pt x="0" y="801567"/>
                </a:lnTo>
                <a:lnTo>
                  <a:pt x="0" y="0"/>
                </a:lnTo>
                <a:close/>
              </a:path>
            </a:pathLst>
          </a:custGeom>
          <a:blipFill rotWithShape="1">
            <a:blip r:embed="rId4">
              <a:alphaModFix/>
            </a:blip>
            <a:stretch>
              <a:fillRect/>
            </a:stretch>
          </a:blipFill>
          <a:ln>
            <a:noFill/>
          </a:ln>
        </p:spPr>
      </p:sp>
      <p:sp>
        <p:nvSpPr>
          <p:cNvPr id="125" name="Google Shape;125;p14"/>
          <p:cNvSpPr/>
          <p:nvPr/>
        </p:nvSpPr>
        <p:spPr>
          <a:xfrm rot="10800000" flipH="1">
            <a:off x="0" y="9749042"/>
            <a:ext cx="18288000" cy="597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solidFill>
                <a:srgbClr val="AAAAAA"/>
              </a:solidFill>
            </a:endParaRPr>
          </a:p>
        </p:txBody>
      </p:sp>
      <p:sp>
        <p:nvSpPr>
          <p:cNvPr id="126" name="Google Shape;126;p14"/>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AAAAAA"/>
                </a:solidFill>
                <a:latin typeface="Calibri"/>
                <a:ea typeface="Calibri"/>
                <a:cs typeface="Calibri"/>
                <a:sym typeface="Calibri"/>
              </a:rPr>
              <a:t>AI Safety UAE</a:t>
            </a:r>
            <a:endParaRPr sz="1593">
              <a:solidFill>
                <a:srgbClr val="AAAAAA"/>
              </a:solidFill>
              <a:latin typeface="Calibri"/>
              <a:ea typeface="Calibri"/>
              <a:cs typeface="Calibri"/>
              <a:sym typeface="Calibri"/>
            </a:endParaRPr>
          </a:p>
        </p:txBody>
      </p:sp>
      <p:sp>
        <p:nvSpPr>
          <p:cNvPr id="127" name="Google Shape;127;p14"/>
          <p:cNvSpPr/>
          <p:nvPr/>
        </p:nvSpPr>
        <p:spPr>
          <a:xfrm>
            <a:off x="14022400" y="9871000"/>
            <a:ext cx="41850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2</a:t>
            </a:r>
            <a:endParaRPr sz="1593">
              <a:solidFill>
                <a:srgbClr val="AAAAAA"/>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F0"/>
        </a:solidFill>
        <a:effectLst/>
      </p:bgPr>
    </p:bg>
    <p:spTree>
      <p:nvGrpSpPr>
        <p:cNvPr id="1" name="Shape 131"/>
        <p:cNvGrpSpPr/>
        <p:nvPr/>
      </p:nvGrpSpPr>
      <p:grpSpPr>
        <a:xfrm>
          <a:off x="0" y="0"/>
          <a:ext cx="0" cy="0"/>
          <a:chOff x="0" y="0"/>
          <a:chExt cx="0" cy="0"/>
        </a:xfrm>
      </p:grpSpPr>
      <p:sp>
        <p:nvSpPr>
          <p:cNvPr id="132" name="Google Shape;132;p15"/>
          <p:cNvSpPr txBox="1"/>
          <p:nvPr/>
        </p:nvSpPr>
        <p:spPr>
          <a:xfrm>
            <a:off x="770830" y="1826658"/>
            <a:ext cx="7315200" cy="784800"/>
          </a:xfrm>
          <a:prstGeom prst="rect">
            <a:avLst/>
          </a:prstGeom>
          <a:noFill/>
          <a:ln>
            <a:noFill/>
          </a:ln>
        </p:spPr>
        <p:txBody>
          <a:bodyPr spcFirstLastPara="1" wrap="square" lIns="0" tIns="0" rIns="0" bIns="0" anchor="ctr" anchorCtr="0">
            <a:noAutofit/>
          </a:bodyPr>
          <a:lstStyle/>
          <a:p>
            <a:pPr marL="0" marR="0" lvl="0" indent="0" algn="l" rtl="0">
              <a:lnSpc>
                <a:spcPct val="120005"/>
              </a:lnSpc>
              <a:spcBef>
                <a:spcPts val="0"/>
              </a:spcBef>
              <a:spcAft>
                <a:spcPts val="0"/>
              </a:spcAft>
              <a:buNone/>
            </a:pPr>
            <a:r>
              <a:rPr lang="en-US" sz="3599" b="1" i="0" u="none" strike="noStrike" cap="none">
                <a:solidFill>
                  <a:srgbClr val="8B1A1A"/>
                </a:solidFill>
                <a:latin typeface="Calibri"/>
                <a:ea typeface="Calibri"/>
                <a:cs typeface="Calibri"/>
                <a:sym typeface="Calibri"/>
              </a:rPr>
              <a:t>INTRODUCTION</a:t>
            </a:r>
            <a:endParaRPr/>
          </a:p>
        </p:txBody>
      </p:sp>
      <p:sp>
        <p:nvSpPr>
          <p:cNvPr id="133" name="Google Shape;133;p15"/>
          <p:cNvSpPr txBox="1"/>
          <p:nvPr/>
        </p:nvSpPr>
        <p:spPr>
          <a:xfrm>
            <a:off x="684415" y="2683725"/>
            <a:ext cx="7488000" cy="2031600"/>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1" i="0" u="none" strike="noStrike" cap="none">
                <a:solidFill>
                  <a:srgbClr val="1A1A1A"/>
                </a:solidFill>
                <a:latin typeface="Arial"/>
                <a:ea typeface="Arial"/>
                <a:cs typeface="Arial"/>
                <a:sym typeface="Arial"/>
              </a:rPr>
              <a:t>The UAE's Agentic AI Mandate</a:t>
            </a:r>
            <a:endParaRPr/>
          </a:p>
        </p:txBody>
      </p:sp>
      <p:sp>
        <p:nvSpPr>
          <p:cNvPr id="134" name="Google Shape;134;p15"/>
          <p:cNvSpPr txBox="1"/>
          <p:nvPr/>
        </p:nvSpPr>
        <p:spPr>
          <a:xfrm>
            <a:off x="684430" y="4574291"/>
            <a:ext cx="8412600" cy="4790700"/>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499" b="0" i="0" u="none" strike="noStrike" cap="none">
                <a:solidFill>
                  <a:srgbClr val="2D2D2D"/>
                </a:solidFill>
                <a:latin typeface="Calibri"/>
                <a:ea typeface="Calibri"/>
                <a:cs typeface="Calibri"/>
                <a:sym typeface="Calibri"/>
              </a:rPr>
              <a:t>In April 2026, </a:t>
            </a:r>
            <a:r>
              <a:rPr lang="en-US" sz="2499" b="1" i="0" u="none" strike="noStrike" cap="none">
                <a:solidFill>
                  <a:srgbClr val="2D2D2D"/>
                </a:solidFill>
                <a:latin typeface="Calibri"/>
                <a:ea typeface="Calibri"/>
                <a:cs typeface="Calibri"/>
                <a:sym typeface="Calibri"/>
              </a:rPr>
              <a:t>Sheikh</a:t>
            </a:r>
            <a:r>
              <a:rPr lang="en-US" sz="2499" b="0" i="0" u="none" strike="noStrike" cap="none">
                <a:solidFill>
                  <a:srgbClr val="2D2D2D"/>
                </a:solidFill>
                <a:latin typeface="Calibri"/>
                <a:ea typeface="Calibri"/>
                <a:cs typeface="Calibri"/>
                <a:sym typeface="Calibri"/>
              </a:rPr>
              <a:t> </a:t>
            </a:r>
            <a:r>
              <a:rPr lang="en-US" sz="2499" b="1" i="0" u="none" strike="noStrike" cap="none">
                <a:solidFill>
                  <a:srgbClr val="2D2D2D"/>
                </a:solidFill>
                <a:latin typeface="Calibri"/>
                <a:ea typeface="Calibri"/>
                <a:cs typeface="Calibri"/>
                <a:sym typeface="Calibri"/>
              </a:rPr>
              <a:t>Mohammed bin Rashid Al Maktoum</a:t>
            </a:r>
            <a:r>
              <a:rPr lang="en-US" sz="2499" b="0" i="0" u="none" strike="noStrike" cap="none">
                <a:solidFill>
                  <a:srgbClr val="2D2D2D"/>
                </a:solidFill>
                <a:latin typeface="Calibri"/>
                <a:ea typeface="Calibri"/>
                <a:cs typeface="Calibri"/>
                <a:sym typeface="Calibri"/>
              </a:rPr>
              <a:t> announced that 50% of UAE federal government sectors, services, and operations will run on agentic AI within </a:t>
            </a:r>
            <a:r>
              <a:rPr lang="en-US" sz="2499" b="1" i="0" u="none" strike="noStrike" cap="none">
                <a:solidFill>
                  <a:srgbClr val="2D2D2D"/>
                </a:solidFill>
                <a:latin typeface="Calibri"/>
                <a:ea typeface="Calibri"/>
                <a:cs typeface="Calibri"/>
                <a:sym typeface="Calibri"/>
              </a:rPr>
              <a:t>two years</a:t>
            </a:r>
            <a:r>
              <a:rPr lang="en-US" sz="2499" i="0" u="none" strike="noStrike" cap="none">
                <a:solidFill>
                  <a:srgbClr val="2D2D2D"/>
                </a:solidFill>
                <a:latin typeface="Calibri"/>
                <a:ea typeface="Calibri"/>
                <a:cs typeface="Calibri"/>
                <a:sym typeface="Calibri"/>
              </a:rPr>
              <a:t>.</a:t>
            </a:r>
            <a:endParaRPr/>
          </a:p>
          <a:p>
            <a:pPr marL="0" marR="0" lvl="0" indent="0" algn="l" rtl="0">
              <a:lnSpc>
                <a:spcPct val="120008"/>
              </a:lnSpc>
              <a:spcBef>
                <a:spcPts val="0"/>
              </a:spcBef>
              <a:spcAft>
                <a:spcPts val="0"/>
              </a:spcAft>
              <a:buNone/>
            </a:pPr>
            <a:endParaRPr sz="2499" b="0" i="0" u="none" strike="noStrike" cap="none">
              <a:solidFill>
                <a:srgbClr val="2D2D2D"/>
              </a:solidFill>
              <a:latin typeface="Calibri"/>
              <a:ea typeface="Calibri"/>
              <a:cs typeface="Calibri"/>
              <a:sym typeface="Calibri"/>
            </a:endParaRPr>
          </a:p>
          <a:p>
            <a:pPr marL="0" marR="0" lvl="0" indent="0" algn="l" rtl="0">
              <a:lnSpc>
                <a:spcPct val="120008"/>
              </a:lnSpc>
              <a:spcBef>
                <a:spcPts val="0"/>
              </a:spcBef>
              <a:spcAft>
                <a:spcPts val="0"/>
              </a:spcAft>
              <a:buNone/>
            </a:pPr>
            <a:r>
              <a:rPr lang="en-US" sz="2499" b="0" i="0" u="none" strike="noStrike" cap="none">
                <a:solidFill>
                  <a:srgbClr val="2D2D2D"/>
                </a:solidFill>
                <a:latin typeface="Calibri"/>
                <a:ea typeface="Calibri"/>
                <a:cs typeface="Calibri"/>
                <a:sym typeface="Calibri"/>
              </a:rPr>
              <a:t>The UAE Ministry of AI's Leading Generative AI Applications guide l</a:t>
            </a:r>
            <a:r>
              <a:rPr lang="en-US" sz="2499">
                <a:solidFill>
                  <a:srgbClr val="2D2D2D"/>
                </a:solidFill>
                <a:latin typeface="Calibri"/>
                <a:ea typeface="Calibri"/>
                <a:cs typeface="Calibri"/>
                <a:sym typeface="Calibri"/>
              </a:rPr>
              <a:t>ist applications like</a:t>
            </a:r>
            <a:r>
              <a:rPr lang="en-US" sz="2499" b="0" i="0" u="none" strike="noStrike" cap="none">
                <a:solidFill>
                  <a:srgbClr val="2D2D2D"/>
                </a:solidFill>
                <a:latin typeface="Calibri"/>
                <a:ea typeface="Calibri"/>
                <a:cs typeface="Calibri"/>
                <a:sym typeface="Calibri"/>
              </a:rPr>
              <a:t> ChatGPT-5, Claude, Gemini, Manus, and Perplexity. Each publishes system cards, but </a:t>
            </a:r>
            <a:r>
              <a:rPr lang="en-US" sz="2499" b="1" i="0" u="none" strike="noStrike" cap="none">
                <a:solidFill>
                  <a:srgbClr val="2D2D2D"/>
                </a:solidFill>
                <a:latin typeface="Calibri"/>
                <a:ea typeface="Calibri"/>
                <a:cs typeface="Calibri"/>
                <a:sym typeface="Calibri"/>
              </a:rPr>
              <a:t>none </a:t>
            </a:r>
            <a:r>
              <a:rPr lang="en-US" sz="2499" b="0" i="0" u="none" strike="noStrike" cap="none">
                <a:solidFill>
                  <a:srgbClr val="2D2D2D"/>
                </a:solidFill>
                <a:latin typeface="Calibri"/>
                <a:ea typeface="Calibri"/>
                <a:cs typeface="Calibri"/>
                <a:sym typeface="Calibri"/>
              </a:rPr>
              <a:t>of that documentation addresses Arabic as an attack surface.</a:t>
            </a:r>
            <a:endParaRPr/>
          </a:p>
        </p:txBody>
      </p:sp>
      <p:sp>
        <p:nvSpPr>
          <p:cNvPr id="135" name="Google Shape;135;p15"/>
          <p:cNvSpPr/>
          <p:nvPr/>
        </p:nvSpPr>
        <p:spPr>
          <a:xfrm>
            <a:off x="10068563" y="1390879"/>
            <a:ext cx="7797832" cy="2311432"/>
          </a:xfrm>
          <a:custGeom>
            <a:avLst/>
            <a:gdLst/>
            <a:ahLst/>
            <a:cxnLst/>
            <a:rect l="l" t="t" r="r" b="b"/>
            <a:pathLst>
              <a:path w="10397109" h="3081909" extrusionOk="0">
                <a:moveTo>
                  <a:pt x="0" y="0"/>
                </a:moveTo>
                <a:lnTo>
                  <a:pt x="10397109" y="0"/>
                </a:lnTo>
                <a:lnTo>
                  <a:pt x="10397109" y="3081909"/>
                </a:lnTo>
                <a:lnTo>
                  <a:pt x="0" y="3081909"/>
                </a:lnTo>
                <a:close/>
              </a:path>
            </a:pathLst>
          </a:custGeom>
          <a:solidFill>
            <a:srgbClr val="8B1A1A"/>
          </a:solidFill>
          <a:ln w="25400" cap="sq" cmpd="sng">
            <a:solidFill>
              <a:srgbClr val="8B1A1A"/>
            </a:solidFill>
            <a:prstDash val="solid"/>
            <a:miter lim="8000"/>
            <a:headEnd type="none" w="sm" len="sm"/>
            <a:tailEnd type="none" w="sm" len="sm"/>
          </a:ln>
        </p:spPr>
      </p:sp>
      <p:grpSp>
        <p:nvGrpSpPr>
          <p:cNvPr id="136" name="Google Shape;136;p15"/>
          <p:cNvGrpSpPr/>
          <p:nvPr/>
        </p:nvGrpSpPr>
        <p:grpSpPr>
          <a:xfrm>
            <a:off x="10081260" y="1473585"/>
            <a:ext cx="7772400" cy="1210151"/>
            <a:chOff x="0" y="-28575"/>
            <a:chExt cx="10363200" cy="1613535"/>
          </a:xfrm>
        </p:grpSpPr>
        <p:sp>
          <p:nvSpPr>
            <p:cNvPr id="137" name="Google Shape;137;p15"/>
            <p:cNvSpPr/>
            <p:nvPr/>
          </p:nvSpPr>
          <p:spPr>
            <a:xfrm>
              <a:off x="0" y="0"/>
              <a:ext cx="10363200" cy="1584960"/>
            </a:xfrm>
            <a:custGeom>
              <a:avLst/>
              <a:gdLst/>
              <a:ahLst/>
              <a:cxnLst/>
              <a:rect l="l" t="t" r="r" b="b"/>
              <a:pathLst>
                <a:path w="10363200" h="1584960" extrusionOk="0">
                  <a:moveTo>
                    <a:pt x="0" y="0"/>
                  </a:moveTo>
                  <a:lnTo>
                    <a:pt x="10363200" y="0"/>
                  </a:lnTo>
                  <a:lnTo>
                    <a:pt x="10363200" y="1584960"/>
                  </a:lnTo>
                  <a:lnTo>
                    <a:pt x="0" y="1584960"/>
                  </a:lnTo>
                  <a:close/>
                </a:path>
              </a:pathLst>
            </a:custGeom>
            <a:blipFill rotWithShape="1">
              <a:blip r:embed="rId3">
                <a:alphaModFix amt="0"/>
              </a:blip>
              <a:stretch>
                <a:fillRect t="-77402" b="-77402"/>
              </a:stretch>
            </a:blipFill>
            <a:ln>
              <a:noFill/>
            </a:ln>
          </p:spPr>
        </p:sp>
        <p:sp>
          <p:nvSpPr>
            <p:cNvPr id="138" name="Google Shape;138;p15"/>
            <p:cNvSpPr txBox="1"/>
            <p:nvPr/>
          </p:nvSpPr>
          <p:spPr>
            <a:xfrm>
              <a:off x="0" y="-28575"/>
              <a:ext cx="10363200" cy="161353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8400" b="1" i="0" u="none" strike="noStrike" cap="none">
                  <a:solidFill>
                    <a:srgbClr val="FFFFFF"/>
                  </a:solidFill>
                  <a:latin typeface="Arial"/>
                  <a:ea typeface="Arial"/>
                  <a:cs typeface="Arial"/>
                  <a:sym typeface="Arial"/>
                </a:rPr>
                <a:t>50%</a:t>
              </a:r>
              <a:endParaRPr/>
            </a:p>
          </p:txBody>
        </p:sp>
      </p:grpSp>
      <p:grpSp>
        <p:nvGrpSpPr>
          <p:cNvPr id="139" name="Google Shape;139;p15"/>
          <p:cNvGrpSpPr/>
          <p:nvPr/>
        </p:nvGrpSpPr>
        <p:grpSpPr>
          <a:xfrm>
            <a:off x="10300716" y="2611441"/>
            <a:ext cx="7315200" cy="950119"/>
            <a:chOff x="0" y="-47625"/>
            <a:chExt cx="9753600" cy="1266825"/>
          </a:xfrm>
        </p:grpSpPr>
        <p:sp>
          <p:nvSpPr>
            <p:cNvPr id="140" name="Google Shape;140;p15"/>
            <p:cNvSpPr/>
            <p:nvPr/>
          </p:nvSpPr>
          <p:spPr>
            <a:xfrm>
              <a:off x="0" y="0"/>
              <a:ext cx="9753600" cy="1219200"/>
            </a:xfrm>
            <a:custGeom>
              <a:avLst/>
              <a:gdLst/>
              <a:ahLst/>
              <a:cxnLst/>
              <a:rect l="l" t="t" r="r" b="b"/>
              <a:pathLst>
                <a:path w="9753600" h="1219200" extrusionOk="0">
                  <a:moveTo>
                    <a:pt x="0" y="0"/>
                  </a:moveTo>
                  <a:lnTo>
                    <a:pt x="9753600" y="0"/>
                  </a:lnTo>
                  <a:lnTo>
                    <a:pt x="9753600" y="1219200"/>
                  </a:lnTo>
                  <a:lnTo>
                    <a:pt x="0" y="1219200"/>
                  </a:lnTo>
                  <a:close/>
                </a:path>
              </a:pathLst>
            </a:custGeom>
            <a:blipFill rotWithShape="1">
              <a:blip r:embed="rId3">
                <a:alphaModFix amt="0"/>
              </a:blip>
              <a:stretch>
                <a:fillRect t="-105880" b="-105880"/>
              </a:stretch>
            </a:blipFill>
            <a:ln>
              <a:noFill/>
            </a:ln>
          </p:spPr>
        </p:sp>
        <p:sp>
          <p:nvSpPr>
            <p:cNvPr id="141" name="Google Shape;141;p15"/>
            <p:cNvSpPr txBox="1"/>
            <p:nvPr/>
          </p:nvSpPr>
          <p:spPr>
            <a:xfrm>
              <a:off x="0" y="-47625"/>
              <a:ext cx="9753600" cy="126682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100" b="0" i="0" u="none" strike="noStrike" cap="none">
                  <a:solidFill>
                    <a:srgbClr val="EEEEEE"/>
                  </a:solidFill>
                  <a:latin typeface="Calibri"/>
                  <a:ea typeface="Calibri"/>
                  <a:cs typeface="Calibri"/>
                  <a:sym typeface="Calibri"/>
                </a:rPr>
                <a:t>of UAE federal government operations targeted for agentic AI within 2 years</a:t>
              </a:r>
              <a:endParaRPr/>
            </a:p>
          </p:txBody>
        </p:sp>
      </p:grpSp>
      <p:sp>
        <p:nvSpPr>
          <p:cNvPr id="142" name="Google Shape;142;p15"/>
          <p:cNvSpPr/>
          <p:nvPr/>
        </p:nvSpPr>
        <p:spPr>
          <a:xfrm>
            <a:off x="10068563" y="3987775"/>
            <a:ext cx="7797832" cy="2311432"/>
          </a:xfrm>
          <a:custGeom>
            <a:avLst/>
            <a:gdLst/>
            <a:ahLst/>
            <a:cxnLst/>
            <a:rect l="l" t="t" r="r" b="b"/>
            <a:pathLst>
              <a:path w="10397109" h="3081909" extrusionOk="0">
                <a:moveTo>
                  <a:pt x="0" y="0"/>
                </a:moveTo>
                <a:lnTo>
                  <a:pt x="10397109" y="0"/>
                </a:lnTo>
                <a:lnTo>
                  <a:pt x="10397109" y="3081909"/>
                </a:lnTo>
                <a:lnTo>
                  <a:pt x="0" y="3081909"/>
                </a:lnTo>
                <a:close/>
              </a:path>
            </a:pathLst>
          </a:custGeom>
          <a:solidFill>
            <a:srgbClr val="EEEBE6"/>
          </a:solidFill>
          <a:ln w="25400" cap="sq" cmpd="sng">
            <a:solidFill>
              <a:srgbClr val="DDDDDD"/>
            </a:solidFill>
            <a:prstDash val="solid"/>
            <a:miter lim="8000"/>
            <a:headEnd type="none" w="sm" len="sm"/>
            <a:tailEnd type="none" w="sm" len="sm"/>
          </a:ln>
        </p:spPr>
      </p:sp>
      <p:grpSp>
        <p:nvGrpSpPr>
          <p:cNvPr id="143" name="Google Shape;143;p15"/>
          <p:cNvGrpSpPr/>
          <p:nvPr/>
        </p:nvGrpSpPr>
        <p:grpSpPr>
          <a:xfrm>
            <a:off x="10081260" y="4070481"/>
            <a:ext cx="7772400" cy="1210151"/>
            <a:chOff x="0" y="-28575"/>
            <a:chExt cx="10363200" cy="1613535"/>
          </a:xfrm>
        </p:grpSpPr>
        <p:sp>
          <p:nvSpPr>
            <p:cNvPr id="144" name="Google Shape;144;p15"/>
            <p:cNvSpPr/>
            <p:nvPr/>
          </p:nvSpPr>
          <p:spPr>
            <a:xfrm>
              <a:off x="0" y="0"/>
              <a:ext cx="10363200" cy="1584960"/>
            </a:xfrm>
            <a:custGeom>
              <a:avLst/>
              <a:gdLst/>
              <a:ahLst/>
              <a:cxnLst/>
              <a:rect l="l" t="t" r="r" b="b"/>
              <a:pathLst>
                <a:path w="10363200" h="1584960" extrusionOk="0">
                  <a:moveTo>
                    <a:pt x="0" y="0"/>
                  </a:moveTo>
                  <a:lnTo>
                    <a:pt x="10363200" y="0"/>
                  </a:lnTo>
                  <a:lnTo>
                    <a:pt x="10363200" y="1584960"/>
                  </a:lnTo>
                  <a:lnTo>
                    <a:pt x="0" y="1584960"/>
                  </a:lnTo>
                  <a:close/>
                </a:path>
              </a:pathLst>
            </a:custGeom>
            <a:blipFill rotWithShape="1">
              <a:blip r:embed="rId3">
                <a:alphaModFix amt="0"/>
              </a:blip>
              <a:stretch>
                <a:fillRect t="-77402" b="-77402"/>
              </a:stretch>
            </a:blipFill>
            <a:ln>
              <a:noFill/>
            </a:ln>
          </p:spPr>
        </p:sp>
        <p:sp>
          <p:nvSpPr>
            <p:cNvPr id="145" name="Google Shape;145;p15"/>
            <p:cNvSpPr txBox="1"/>
            <p:nvPr/>
          </p:nvSpPr>
          <p:spPr>
            <a:xfrm>
              <a:off x="0" y="-28575"/>
              <a:ext cx="10363200" cy="161353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8400" b="1" i="0" u="none" strike="noStrike" cap="none">
                  <a:solidFill>
                    <a:srgbClr val="8B1A1A"/>
                  </a:solidFill>
                  <a:latin typeface="Arial"/>
                  <a:ea typeface="Arial"/>
                  <a:cs typeface="Arial"/>
                  <a:sym typeface="Arial"/>
                </a:rPr>
                <a:t>5</a:t>
              </a:r>
              <a:endParaRPr/>
            </a:p>
          </p:txBody>
        </p:sp>
      </p:grpSp>
      <p:grpSp>
        <p:nvGrpSpPr>
          <p:cNvPr id="146" name="Google Shape;146;p15"/>
          <p:cNvGrpSpPr/>
          <p:nvPr/>
        </p:nvGrpSpPr>
        <p:grpSpPr>
          <a:xfrm>
            <a:off x="10300716" y="5208337"/>
            <a:ext cx="7315200" cy="950119"/>
            <a:chOff x="0" y="-47625"/>
            <a:chExt cx="9753600" cy="1266825"/>
          </a:xfrm>
        </p:grpSpPr>
        <p:sp>
          <p:nvSpPr>
            <p:cNvPr id="147" name="Google Shape;147;p15"/>
            <p:cNvSpPr/>
            <p:nvPr/>
          </p:nvSpPr>
          <p:spPr>
            <a:xfrm>
              <a:off x="0" y="0"/>
              <a:ext cx="9753600" cy="1219200"/>
            </a:xfrm>
            <a:custGeom>
              <a:avLst/>
              <a:gdLst/>
              <a:ahLst/>
              <a:cxnLst/>
              <a:rect l="l" t="t" r="r" b="b"/>
              <a:pathLst>
                <a:path w="9753600" h="1219200" extrusionOk="0">
                  <a:moveTo>
                    <a:pt x="0" y="0"/>
                  </a:moveTo>
                  <a:lnTo>
                    <a:pt x="9753600" y="0"/>
                  </a:lnTo>
                  <a:lnTo>
                    <a:pt x="9753600" y="1219200"/>
                  </a:lnTo>
                  <a:lnTo>
                    <a:pt x="0" y="1219200"/>
                  </a:lnTo>
                  <a:close/>
                </a:path>
              </a:pathLst>
            </a:custGeom>
            <a:blipFill rotWithShape="1">
              <a:blip r:embed="rId3">
                <a:alphaModFix amt="0"/>
              </a:blip>
              <a:stretch>
                <a:fillRect t="-105880" b="-105880"/>
              </a:stretch>
            </a:blipFill>
            <a:ln>
              <a:noFill/>
            </a:ln>
          </p:spPr>
        </p:sp>
        <p:sp>
          <p:nvSpPr>
            <p:cNvPr id="148" name="Google Shape;148;p15"/>
            <p:cNvSpPr txBox="1"/>
            <p:nvPr/>
          </p:nvSpPr>
          <p:spPr>
            <a:xfrm>
              <a:off x="0" y="-47625"/>
              <a:ext cx="9753600" cy="126682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AI assistants listed in the Ministry of AI guide, none with Arabic safety coverage</a:t>
              </a:r>
              <a:endParaRPr/>
            </a:p>
          </p:txBody>
        </p:sp>
      </p:grpSp>
      <p:sp>
        <p:nvSpPr>
          <p:cNvPr id="149" name="Google Shape;149;p15"/>
          <p:cNvSpPr/>
          <p:nvPr/>
        </p:nvSpPr>
        <p:spPr>
          <a:xfrm>
            <a:off x="10068563" y="6584671"/>
            <a:ext cx="7797832" cy="2311432"/>
          </a:xfrm>
          <a:custGeom>
            <a:avLst/>
            <a:gdLst/>
            <a:ahLst/>
            <a:cxnLst/>
            <a:rect l="l" t="t" r="r" b="b"/>
            <a:pathLst>
              <a:path w="10397109" h="3081909" extrusionOk="0">
                <a:moveTo>
                  <a:pt x="0" y="0"/>
                </a:moveTo>
                <a:lnTo>
                  <a:pt x="10397109" y="0"/>
                </a:lnTo>
                <a:lnTo>
                  <a:pt x="10397109" y="3081909"/>
                </a:lnTo>
                <a:lnTo>
                  <a:pt x="0" y="3081909"/>
                </a:lnTo>
                <a:close/>
              </a:path>
            </a:pathLst>
          </a:custGeom>
          <a:solidFill>
            <a:srgbClr val="EEEBE6"/>
          </a:solidFill>
          <a:ln w="25400" cap="sq" cmpd="sng">
            <a:solidFill>
              <a:srgbClr val="DDDDDD"/>
            </a:solidFill>
            <a:prstDash val="solid"/>
            <a:miter lim="8000"/>
            <a:headEnd type="none" w="sm" len="sm"/>
            <a:tailEnd type="none" w="sm" len="sm"/>
          </a:ln>
        </p:spPr>
      </p:sp>
      <p:grpSp>
        <p:nvGrpSpPr>
          <p:cNvPr id="150" name="Google Shape;150;p15"/>
          <p:cNvGrpSpPr/>
          <p:nvPr/>
        </p:nvGrpSpPr>
        <p:grpSpPr>
          <a:xfrm>
            <a:off x="10081260" y="6667377"/>
            <a:ext cx="7772400" cy="1210151"/>
            <a:chOff x="0" y="-28575"/>
            <a:chExt cx="10363200" cy="1613535"/>
          </a:xfrm>
        </p:grpSpPr>
        <p:sp>
          <p:nvSpPr>
            <p:cNvPr id="151" name="Google Shape;151;p15"/>
            <p:cNvSpPr/>
            <p:nvPr/>
          </p:nvSpPr>
          <p:spPr>
            <a:xfrm>
              <a:off x="0" y="0"/>
              <a:ext cx="10363200" cy="1584960"/>
            </a:xfrm>
            <a:custGeom>
              <a:avLst/>
              <a:gdLst/>
              <a:ahLst/>
              <a:cxnLst/>
              <a:rect l="l" t="t" r="r" b="b"/>
              <a:pathLst>
                <a:path w="10363200" h="1584960" extrusionOk="0">
                  <a:moveTo>
                    <a:pt x="0" y="0"/>
                  </a:moveTo>
                  <a:lnTo>
                    <a:pt x="10363200" y="0"/>
                  </a:lnTo>
                  <a:lnTo>
                    <a:pt x="10363200" y="1584960"/>
                  </a:lnTo>
                  <a:lnTo>
                    <a:pt x="0" y="1584960"/>
                  </a:lnTo>
                  <a:close/>
                </a:path>
              </a:pathLst>
            </a:custGeom>
            <a:blipFill rotWithShape="1">
              <a:blip r:embed="rId3">
                <a:alphaModFix amt="0"/>
              </a:blip>
              <a:stretch>
                <a:fillRect t="-77402" b="-77402"/>
              </a:stretch>
            </a:blipFill>
            <a:ln>
              <a:noFill/>
            </a:ln>
          </p:spPr>
        </p:sp>
        <p:sp>
          <p:nvSpPr>
            <p:cNvPr id="152" name="Google Shape;152;p15"/>
            <p:cNvSpPr txBox="1"/>
            <p:nvPr/>
          </p:nvSpPr>
          <p:spPr>
            <a:xfrm>
              <a:off x="0" y="-28575"/>
              <a:ext cx="10363200" cy="161353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8400" b="1" i="0" u="none" strike="noStrike" cap="none">
                  <a:solidFill>
                    <a:srgbClr val="8B1A1A"/>
                  </a:solidFill>
                  <a:latin typeface="Arial"/>
                  <a:ea typeface="Arial"/>
                  <a:cs typeface="Arial"/>
                  <a:sym typeface="Arial"/>
                </a:rPr>
                <a:t>0</a:t>
              </a:r>
              <a:endParaRPr/>
            </a:p>
          </p:txBody>
        </p:sp>
      </p:grpSp>
      <p:grpSp>
        <p:nvGrpSpPr>
          <p:cNvPr id="153" name="Google Shape;153;p15"/>
          <p:cNvGrpSpPr/>
          <p:nvPr/>
        </p:nvGrpSpPr>
        <p:grpSpPr>
          <a:xfrm>
            <a:off x="10300716" y="7805233"/>
            <a:ext cx="7315200" cy="950119"/>
            <a:chOff x="0" y="-47625"/>
            <a:chExt cx="9753600" cy="1266825"/>
          </a:xfrm>
        </p:grpSpPr>
        <p:sp>
          <p:nvSpPr>
            <p:cNvPr id="154" name="Google Shape;154;p15"/>
            <p:cNvSpPr/>
            <p:nvPr/>
          </p:nvSpPr>
          <p:spPr>
            <a:xfrm>
              <a:off x="0" y="0"/>
              <a:ext cx="9753600" cy="1219200"/>
            </a:xfrm>
            <a:custGeom>
              <a:avLst/>
              <a:gdLst/>
              <a:ahLst/>
              <a:cxnLst/>
              <a:rect l="l" t="t" r="r" b="b"/>
              <a:pathLst>
                <a:path w="9753600" h="1219200" extrusionOk="0">
                  <a:moveTo>
                    <a:pt x="0" y="0"/>
                  </a:moveTo>
                  <a:lnTo>
                    <a:pt x="9753600" y="0"/>
                  </a:lnTo>
                  <a:lnTo>
                    <a:pt x="9753600" y="1219200"/>
                  </a:lnTo>
                  <a:lnTo>
                    <a:pt x="0" y="1219200"/>
                  </a:lnTo>
                  <a:close/>
                </a:path>
              </a:pathLst>
            </a:custGeom>
            <a:blipFill rotWithShape="1">
              <a:blip r:embed="rId3">
                <a:alphaModFix amt="0"/>
              </a:blip>
              <a:stretch>
                <a:fillRect t="-105880" b="-105880"/>
              </a:stretch>
            </a:blipFill>
            <a:ln>
              <a:noFill/>
            </a:ln>
          </p:spPr>
        </p:sp>
        <p:sp>
          <p:nvSpPr>
            <p:cNvPr id="155" name="Google Shape;155;p15"/>
            <p:cNvSpPr txBox="1"/>
            <p:nvPr/>
          </p:nvSpPr>
          <p:spPr>
            <a:xfrm>
              <a:off x="0" y="-47625"/>
              <a:ext cx="9753600" cy="1266825"/>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vendors have published safety documentation covering Arabic as an attack surface</a:t>
              </a:r>
              <a:endParaRPr/>
            </a:p>
          </p:txBody>
        </p:sp>
      </p:grpSp>
      <p:sp>
        <p:nvSpPr>
          <p:cNvPr id="156" name="Google Shape;156;p15"/>
          <p:cNvSpPr/>
          <p:nvPr/>
        </p:nvSpPr>
        <p:spPr>
          <a:xfrm>
            <a:off x="805872" y="427795"/>
            <a:ext cx="3015388" cy="765909"/>
          </a:xfrm>
          <a:custGeom>
            <a:avLst/>
            <a:gdLst/>
            <a:ahLst/>
            <a:cxnLst/>
            <a:rect l="l" t="t" r="r" b="b"/>
            <a:pathLst>
              <a:path w="3015388" h="765909" extrusionOk="0">
                <a:moveTo>
                  <a:pt x="0" y="0"/>
                </a:moveTo>
                <a:lnTo>
                  <a:pt x="3015388" y="0"/>
                </a:lnTo>
                <a:lnTo>
                  <a:pt x="3015388" y="765909"/>
                </a:lnTo>
                <a:lnTo>
                  <a:pt x="0" y="765909"/>
                </a:lnTo>
                <a:lnTo>
                  <a:pt x="0" y="0"/>
                </a:lnTo>
                <a:close/>
              </a:path>
            </a:pathLst>
          </a:custGeom>
          <a:blipFill rotWithShape="1">
            <a:blip r:embed="rId4">
              <a:alphaModFix/>
            </a:blip>
            <a:stretch>
              <a:fillRect/>
            </a:stretch>
          </a:blipFill>
          <a:ln>
            <a:noFill/>
          </a:ln>
        </p:spPr>
      </p:sp>
      <p:sp>
        <p:nvSpPr>
          <p:cNvPr id="157" name="Google Shape;157;p15"/>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158" name="Google Shape;158;p15"/>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159" name="Google Shape;159;p15"/>
          <p:cNvSpPr/>
          <p:nvPr/>
        </p:nvSpPr>
        <p:spPr>
          <a:xfrm>
            <a:off x="14754649" y="9930025"/>
            <a:ext cx="35334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4B5563"/>
                </a:solidFill>
                <a:latin typeface="Calibri"/>
                <a:ea typeface="Calibri"/>
                <a:cs typeface="Calibri"/>
                <a:sym typeface="Calibri"/>
              </a:rPr>
              <a:t>3</a:t>
            </a:r>
            <a:endParaRPr sz="1593">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163"/>
        <p:cNvGrpSpPr/>
        <p:nvPr/>
      </p:nvGrpSpPr>
      <p:grpSpPr>
        <a:xfrm>
          <a:off x="0" y="0"/>
          <a:ext cx="0" cy="0"/>
          <a:chOff x="0" y="0"/>
          <a:chExt cx="0" cy="0"/>
        </a:xfrm>
      </p:grpSpPr>
      <p:grpSp>
        <p:nvGrpSpPr>
          <p:cNvPr id="164" name="Google Shape;164;p16"/>
          <p:cNvGrpSpPr/>
          <p:nvPr/>
        </p:nvGrpSpPr>
        <p:grpSpPr>
          <a:xfrm>
            <a:off x="1005840" y="1595914"/>
            <a:ext cx="3657600" cy="2244566"/>
            <a:chOff x="0" y="-66675"/>
            <a:chExt cx="4876800" cy="2992755"/>
          </a:xfrm>
        </p:grpSpPr>
        <p:sp>
          <p:nvSpPr>
            <p:cNvPr id="165" name="Google Shape;165;p16"/>
            <p:cNvSpPr/>
            <p:nvPr/>
          </p:nvSpPr>
          <p:spPr>
            <a:xfrm>
              <a:off x="0" y="0"/>
              <a:ext cx="4876800" cy="2926080"/>
            </a:xfrm>
            <a:custGeom>
              <a:avLst/>
              <a:gdLst/>
              <a:ahLst/>
              <a:cxnLst/>
              <a:rect l="l" t="t" r="r" b="b"/>
              <a:pathLst>
                <a:path w="4876800" h="2926080" extrusionOk="0">
                  <a:moveTo>
                    <a:pt x="0" y="0"/>
                  </a:moveTo>
                  <a:lnTo>
                    <a:pt x="4876800" y="0"/>
                  </a:lnTo>
                  <a:lnTo>
                    <a:pt x="4876800" y="2926080"/>
                  </a:lnTo>
                  <a:lnTo>
                    <a:pt x="0" y="2926080"/>
                  </a:lnTo>
                  <a:close/>
                </a:path>
              </a:pathLst>
            </a:custGeom>
            <a:blipFill rotWithShape="1">
              <a:blip r:embed="rId3">
                <a:alphaModFix amt="0"/>
              </a:blip>
              <a:stretch>
                <a:fillRect l="-26982" r="-26982"/>
              </a:stretch>
            </a:blipFill>
            <a:ln>
              <a:noFill/>
            </a:ln>
          </p:spPr>
        </p:sp>
        <p:sp>
          <p:nvSpPr>
            <p:cNvPr id="166" name="Google Shape;166;p16"/>
            <p:cNvSpPr txBox="1"/>
            <p:nvPr/>
          </p:nvSpPr>
          <p:spPr>
            <a:xfrm>
              <a:off x="0" y="-66675"/>
              <a:ext cx="4876800" cy="29927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7600" b="1" i="0" u="none" strike="noStrike" cap="none">
                  <a:solidFill>
                    <a:srgbClr val="8B1A1A"/>
                  </a:solidFill>
                  <a:latin typeface="Arial"/>
                  <a:ea typeface="Arial"/>
                  <a:cs typeface="Arial"/>
                  <a:sym typeface="Arial"/>
                </a:rPr>
                <a:t>02</a:t>
              </a:r>
              <a:endParaRPr/>
            </a:p>
          </p:txBody>
        </p:sp>
      </p:grpSp>
      <p:grpSp>
        <p:nvGrpSpPr>
          <p:cNvPr id="167" name="Google Shape;167;p16"/>
          <p:cNvGrpSpPr/>
          <p:nvPr/>
        </p:nvGrpSpPr>
        <p:grpSpPr>
          <a:xfrm>
            <a:off x="1005840" y="3811905"/>
            <a:ext cx="15544800" cy="2954655"/>
            <a:chOff x="0" y="-38100"/>
            <a:chExt cx="20726400" cy="3939540"/>
          </a:xfrm>
        </p:grpSpPr>
        <p:sp>
          <p:nvSpPr>
            <p:cNvPr id="168" name="Google Shape;168;p16"/>
            <p:cNvSpPr/>
            <p:nvPr/>
          </p:nvSpPr>
          <p:spPr>
            <a:xfrm>
              <a:off x="0" y="0"/>
              <a:ext cx="20726400" cy="3901440"/>
            </a:xfrm>
            <a:custGeom>
              <a:avLst/>
              <a:gdLst/>
              <a:ahLst/>
              <a:cxnLst/>
              <a:rect l="l" t="t" r="r" b="b"/>
              <a:pathLst>
                <a:path w="20726400" h="3901440" extrusionOk="0">
                  <a:moveTo>
                    <a:pt x="0" y="0"/>
                  </a:moveTo>
                  <a:lnTo>
                    <a:pt x="20726400" y="0"/>
                  </a:lnTo>
                  <a:lnTo>
                    <a:pt x="20726400" y="3901440"/>
                  </a:lnTo>
                  <a:lnTo>
                    <a:pt x="0" y="3901440"/>
                  </a:lnTo>
                  <a:close/>
                </a:path>
              </a:pathLst>
            </a:custGeom>
            <a:blipFill rotWithShape="1">
              <a:blip r:embed="rId3">
                <a:alphaModFix amt="0"/>
              </a:blip>
              <a:stretch>
                <a:fillRect t="-53515" b="-53515"/>
              </a:stretch>
            </a:blipFill>
            <a:ln>
              <a:noFill/>
            </a:ln>
          </p:spPr>
        </p:sp>
        <p:sp>
          <p:nvSpPr>
            <p:cNvPr id="169" name="Google Shape;169;p16"/>
            <p:cNvSpPr txBox="1"/>
            <p:nvPr/>
          </p:nvSpPr>
          <p:spPr>
            <a:xfrm>
              <a:off x="0" y="-38100"/>
              <a:ext cx="20726400" cy="39395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What Our</a:t>
              </a:r>
              <a:endParaRPr/>
            </a:p>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Analysis Found</a:t>
              </a:r>
              <a:endParaRPr/>
            </a:p>
          </p:txBody>
        </p:sp>
      </p:grpSp>
      <p:sp>
        <p:nvSpPr>
          <p:cNvPr id="170" name="Google Shape;170;p16"/>
          <p:cNvSpPr/>
          <p:nvPr/>
        </p:nvSpPr>
        <p:spPr>
          <a:xfrm>
            <a:off x="993143" y="6900167"/>
            <a:ext cx="2037111" cy="153447"/>
          </a:xfrm>
          <a:custGeom>
            <a:avLst/>
            <a:gdLst/>
            <a:ahLst/>
            <a:cxnLst/>
            <a:rect l="l" t="t" r="r" b="b"/>
            <a:pathLst>
              <a:path w="2716149" h="204597" extrusionOk="0">
                <a:moveTo>
                  <a:pt x="0" y="0"/>
                </a:moveTo>
                <a:lnTo>
                  <a:pt x="2716149" y="0"/>
                </a:lnTo>
                <a:lnTo>
                  <a:pt x="2716149" y="204597"/>
                </a:lnTo>
                <a:lnTo>
                  <a:pt x="0" y="204597"/>
                </a:lnTo>
                <a:close/>
              </a:path>
            </a:pathLst>
          </a:custGeom>
          <a:solidFill>
            <a:srgbClr val="A52020"/>
          </a:solidFill>
          <a:ln w="25400" cap="sq" cmpd="sng">
            <a:solidFill>
              <a:srgbClr val="A52020"/>
            </a:solidFill>
            <a:prstDash val="solid"/>
            <a:miter lim="8000"/>
            <a:headEnd type="none" w="sm" len="sm"/>
            <a:tailEnd type="none" w="sm" len="sm"/>
          </a:ln>
        </p:spPr>
      </p:sp>
      <p:grpSp>
        <p:nvGrpSpPr>
          <p:cNvPr id="171" name="Google Shape;171;p16"/>
          <p:cNvGrpSpPr/>
          <p:nvPr/>
        </p:nvGrpSpPr>
        <p:grpSpPr>
          <a:xfrm>
            <a:off x="1005840" y="7180898"/>
            <a:ext cx="14996160" cy="957263"/>
            <a:chOff x="0" y="-57150"/>
            <a:chExt cx="19994880" cy="1276350"/>
          </a:xfrm>
        </p:grpSpPr>
        <p:sp>
          <p:nvSpPr>
            <p:cNvPr id="172" name="Google Shape;172;p16"/>
            <p:cNvSpPr/>
            <p:nvPr/>
          </p:nvSpPr>
          <p:spPr>
            <a:xfrm>
              <a:off x="0" y="0"/>
              <a:ext cx="19994880" cy="1219200"/>
            </a:xfrm>
            <a:custGeom>
              <a:avLst/>
              <a:gdLst/>
              <a:ahLst/>
              <a:cxnLst/>
              <a:rect l="l" t="t" r="r" b="b"/>
              <a:pathLst>
                <a:path w="19994880" h="1219200" extrusionOk="0">
                  <a:moveTo>
                    <a:pt x="0" y="0"/>
                  </a:moveTo>
                  <a:lnTo>
                    <a:pt x="19994880" y="0"/>
                  </a:lnTo>
                  <a:lnTo>
                    <a:pt x="19994880" y="1219200"/>
                  </a:lnTo>
                  <a:lnTo>
                    <a:pt x="0" y="1219200"/>
                  </a:lnTo>
                  <a:close/>
                </a:path>
              </a:pathLst>
            </a:custGeom>
            <a:blipFill rotWithShape="1">
              <a:blip r:embed="rId3">
                <a:alphaModFix amt="0"/>
              </a:blip>
              <a:stretch>
                <a:fillRect t="-269570" b="-269570"/>
              </a:stretch>
            </a:blipFill>
            <a:ln>
              <a:noFill/>
            </a:ln>
          </p:spPr>
        </p:sp>
        <p:sp>
          <p:nvSpPr>
            <p:cNvPr id="173" name="Google Shape;173;p16"/>
            <p:cNvSpPr txBox="1"/>
            <p:nvPr/>
          </p:nvSpPr>
          <p:spPr>
            <a:xfrm>
              <a:off x="0" y="-57150"/>
              <a:ext cx="19994880" cy="127635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0" i="0" u="none" strike="noStrike" cap="none">
                  <a:solidFill>
                    <a:srgbClr val="FFFFFF"/>
                  </a:solidFill>
                  <a:latin typeface="Calibri"/>
                  <a:ea typeface="Calibri"/>
                  <a:cs typeface="Calibri"/>
                  <a:sym typeface="Calibri"/>
                </a:rPr>
                <a:t>Three findings from peer-reviewed Arabic safety research.</a:t>
              </a:r>
              <a:endParaRPr/>
            </a:p>
          </p:txBody>
        </p:sp>
      </p:grpSp>
      <p:sp>
        <p:nvSpPr>
          <p:cNvPr id="174" name="Google Shape;174;p16"/>
          <p:cNvSpPr/>
          <p:nvPr/>
        </p:nvSpPr>
        <p:spPr>
          <a:xfrm>
            <a:off x="12878380" y="693745"/>
            <a:ext cx="4418971" cy="1202350"/>
          </a:xfrm>
          <a:custGeom>
            <a:avLst/>
            <a:gdLst/>
            <a:ahLst/>
            <a:cxnLst/>
            <a:rect l="l" t="t" r="r" b="b"/>
            <a:pathLst>
              <a:path w="3079422" h="801567" extrusionOk="0">
                <a:moveTo>
                  <a:pt x="0" y="0"/>
                </a:moveTo>
                <a:lnTo>
                  <a:pt x="3079422" y="0"/>
                </a:lnTo>
                <a:lnTo>
                  <a:pt x="3079422" y="801567"/>
                </a:lnTo>
                <a:lnTo>
                  <a:pt x="0" y="801567"/>
                </a:lnTo>
                <a:lnTo>
                  <a:pt x="0" y="0"/>
                </a:lnTo>
                <a:close/>
              </a:path>
            </a:pathLst>
          </a:custGeom>
          <a:blipFill rotWithShape="1">
            <a:blip r:embed="rId4">
              <a:alphaModFix/>
            </a:blip>
            <a:stretch>
              <a:fillRect/>
            </a:stretch>
          </a:blipFill>
          <a:ln>
            <a:noFill/>
          </a:ln>
        </p:spPr>
      </p:sp>
      <p:sp>
        <p:nvSpPr>
          <p:cNvPr id="175" name="Google Shape;175;p16"/>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176" name="Google Shape;176;p16"/>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177" name="Google Shape;177;p16"/>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4</a:t>
            </a:r>
            <a:endParaRPr sz="1593">
              <a:solidFill>
                <a:srgbClr val="AAAAAA"/>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grpSp>
        <p:nvGrpSpPr>
          <p:cNvPr id="182" name="Google Shape;182;p17"/>
          <p:cNvGrpSpPr/>
          <p:nvPr/>
        </p:nvGrpSpPr>
        <p:grpSpPr>
          <a:xfrm>
            <a:off x="731520" y="527714"/>
            <a:ext cx="7315200" cy="623925"/>
            <a:chOff x="0" y="-57150"/>
            <a:chExt cx="9753600" cy="831901"/>
          </a:xfrm>
        </p:grpSpPr>
        <p:sp>
          <p:nvSpPr>
            <p:cNvPr id="183" name="Google Shape;183;p17"/>
            <p:cNvSpPr/>
            <p:nvPr/>
          </p:nvSpPr>
          <p:spPr>
            <a:xfrm>
              <a:off x="0" y="0"/>
              <a:ext cx="9753600" cy="774750"/>
            </a:xfrm>
            <a:custGeom>
              <a:avLst/>
              <a:gdLst/>
              <a:ahLst/>
              <a:cxnLst/>
              <a:rect l="l" t="t" r="r" b="b"/>
              <a:pathLst>
                <a:path w="9753600" h="774750" extrusionOk="0">
                  <a:moveTo>
                    <a:pt x="0" y="0"/>
                  </a:moveTo>
                  <a:lnTo>
                    <a:pt x="9753600" y="0"/>
                  </a:lnTo>
                  <a:lnTo>
                    <a:pt x="9753600" y="774750"/>
                  </a:lnTo>
                  <a:lnTo>
                    <a:pt x="0" y="774750"/>
                  </a:lnTo>
                  <a:close/>
                </a:path>
              </a:pathLst>
            </a:custGeom>
            <a:blipFill rotWithShape="1">
              <a:blip r:embed="rId3">
                <a:alphaModFix amt="0"/>
              </a:blip>
              <a:stretch>
                <a:fillRect t="-204386" b="-186219"/>
              </a:stretch>
            </a:blipFill>
            <a:ln>
              <a:noFill/>
            </a:ln>
          </p:spPr>
        </p:sp>
        <p:sp>
          <p:nvSpPr>
            <p:cNvPr id="184" name="Google Shape;184;p17"/>
            <p:cNvSpPr txBox="1"/>
            <p:nvPr/>
          </p:nvSpPr>
          <p:spPr>
            <a:xfrm>
              <a:off x="0" y="-57150"/>
              <a:ext cx="9753600" cy="831901"/>
            </a:xfrm>
            <a:prstGeom prst="rect">
              <a:avLst/>
            </a:prstGeom>
            <a:noFill/>
            <a:ln>
              <a:noFill/>
            </a:ln>
          </p:spPr>
          <p:txBody>
            <a:bodyPr spcFirstLastPara="1" wrap="square" lIns="0" tIns="0" rIns="0" bIns="0" anchor="ctr" anchorCtr="0">
              <a:noAutofit/>
            </a:bodyPr>
            <a:lstStyle/>
            <a:p>
              <a:pPr marL="0" marR="0" lvl="0" indent="0" algn="l" rtl="0">
                <a:lnSpc>
                  <a:spcPct val="120006"/>
                </a:lnSpc>
                <a:spcBef>
                  <a:spcPts val="0"/>
                </a:spcBef>
                <a:spcAft>
                  <a:spcPts val="0"/>
                </a:spcAft>
                <a:buNone/>
              </a:pPr>
              <a:r>
                <a:rPr lang="en-US" sz="3599" b="1" i="0" u="none" strike="noStrike" cap="none">
                  <a:solidFill>
                    <a:srgbClr val="8B1A1A"/>
                  </a:solidFill>
                  <a:latin typeface="Calibri"/>
                  <a:ea typeface="Calibri"/>
                  <a:cs typeface="Calibri"/>
                  <a:sym typeface="Calibri"/>
                </a:rPr>
                <a:t>METHODOLOGY</a:t>
              </a:r>
              <a:endParaRPr sz="2100"/>
            </a:p>
          </p:txBody>
        </p:sp>
      </p:grpSp>
      <p:grpSp>
        <p:nvGrpSpPr>
          <p:cNvPr id="185" name="Google Shape;185;p17"/>
          <p:cNvGrpSpPr/>
          <p:nvPr/>
        </p:nvGrpSpPr>
        <p:grpSpPr>
          <a:xfrm>
            <a:off x="718823" y="1123064"/>
            <a:ext cx="16824960" cy="1089279"/>
            <a:chOff x="0" y="-38100"/>
            <a:chExt cx="22433280" cy="1452372"/>
          </a:xfrm>
        </p:grpSpPr>
        <p:sp>
          <p:nvSpPr>
            <p:cNvPr id="186" name="Google Shape;186;p17"/>
            <p:cNvSpPr/>
            <p:nvPr/>
          </p:nvSpPr>
          <p:spPr>
            <a:xfrm>
              <a:off x="0" y="0"/>
              <a:ext cx="22433280" cy="1414272"/>
            </a:xfrm>
            <a:custGeom>
              <a:avLst/>
              <a:gdLst/>
              <a:ahLst/>
              <a:cxnLst/>
              <a:rect l="l" t="t" r="r" b="b"/>
              <a:pathLst>
                <a:path w="22433280" h="1414272" extrusionOk="0">
                  <a:moveTo>
                    <a:pt x="0" y="0"/>
                  </a:moveTo>
                  <a:lnTo>
                    <a:pt x="22433280" y="0"/>
                  </a:lnTo>
                  <a:lnTo>
                    <a:pt x="22433280" y="1414272"/>
                  </a:lnTo>
                  <a:lnTo>
                    <a:pt x="0" y="1414272"/>
                  </a:lnTo>
                  <a:close/>
                </a:path>
              </a:pathLst>
            </a:custGeom>
            <a:blipFill rotWithShape="1">
              <a:blip r:embed="rId3">
                <a:alphaModFix amt="0"/>
              </a:blip>
              <a:stretch>
                <a:fillRect t="-259062" b="-259062"/>
              </a:stretch>
            </a:blipFill>
            <a:ln>
              <a:noFill/>
            </a:ln>
          </p:spPr>
        </p:sp>
        <p:sp>
          <p:nvSpPr>
            <p:cNvPr id="187" name="Google Shape;187;p17"/>
            <p:cNvSpPr txBox="1"/>
            <p:nvPr/>
          </p:nvSpPr>
          <p:spPr>
            <a:xfrm>
              <a:off x="0" y="-38100"/>
              <a:ext cx="22433280" cy="1452372"/>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1" i="0" u="none" strike="noStrike" cap="none">
                  <a:solidFill>
                    <a:srgbClr val="1A1A1A"/>
                  </a:solidFill>
                  <a:latin typeface="Arial"/>
                  <a:ea typeface="Arial"/>
                  <a:cs typeface="Arial"/>
                  <a:sym typeface="Arial"/>
                </a:rPr>
                <a:t>How We Evaluated the Safety Gap</a:t>
              </a:r>
              <a:endParaRPr/>
            </a:p>
          </p:txBody>
        </p:sp>
      </p:grpSp>
      <p:grpSp>
        <p:nvGrpSpPr>
          <p:cNvPr id="188" name="Google Shape;188;p17"/>
          <p:cNvGrpSpPr/>
          <p:nvPr/>
        </p:nvGrpSpPr>
        <p:grpSpPr>
          <a:xfrm>
            <a:off x="731520" y="2122265"/>
            <a:ext cx="16824960" cy="1352455"/>
            <a:chOff x="0" y="-47625"/>
            <a:chExt cx="22433280" cy="1803273"/>
          </a:xfrm>
        </p:grpSpPr>
        <p:sp>
          <p:nvSpPr>
            <p:cNvPr id="189" name="Google Shape;189;p17"/>
            <p:cNvSpPr/>
            <p:nvPr/>
          </p:nvSpPr>
          <p:spPr>
            <a:xfrm>
              <a:off x="0" y="0"/>
              <a:ext cx="22433280" cy="1755648"/>
            </a:xfrm>
            <a:custGeom>
              <a:avLst/>
              <a:gdLst/>
              <a:ahLst/>
              <a:cxnLst/>
              <a:rect l="l" t="t" r="r" b="b"/>
              <a:pathLst>
                <a:path w="22433280" h="1755648" extrusionOk="0">
                  <a:moveTo>
                    <a:pt x="0" y="0"/>
                  </a:moveTo>
                  <a:lnTo>
                    <a:pt x="22433280" y="0"/>
                  </a:lnTo>
                  <a:lnTo>
                    <a:pt x="22433280" y="1755648"/>
                  </a:lnTo>
                  <a:lnTo>
                    <a:pt x="0" y="1755648"/>
                  </a:lnTo>
                  <a:close/>
                </a:path>
              </a:pathLst>
            </a:custGeom>
            <a:blipFill rotWithShape="1">
              <a:blip r:embed="rId3">
                <a:alphaModFix amt="0"/>
              </a:blip>
              <a:stretch>
                <a:fillRect t="-198979" b="-198979"/>
              </a:stretch>
            </a:blipFill>
            <a:ln>
              <a:noFill/>
            </a:ln>
          </p:spPr>
        </p:sp>
        <p:sp>
          <p:nvSpPr>
            <p:cNvPr id="190" name="Google Shape;190;p17"/>
            <p:cNvSpPr txBox="1"/>
            <p:nvPr/>
          </p:nvSpPr>
          <p:spPr>
            <a:xfrm>
              <a:off x="0" y="-47625"/>
              <a:ext cx="22433280" cy="1803273"/>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499" b="0" i="0" u="none" strike="noStrike" cap="none">
                  <a:solidFill>
                    <a:srgbClr val="2D2D2D"/>
                  </a:solidFill>
                  <a:latin typeface="Calibri"/>
                  <a:ea typeface="Calibri"/>
                  <a:cs typeface="Calibri"/>
                  <a:sym typeface="Calibri"/>
                </a:rPr>
                <a:t>Using the Arabic Dataset for LLM Safeguard Evaluation (</a:t>
              </a:r>
              <a:r>
                <a:rPr lang="en-US" sz="2499" b="0" i="1" u="none" strike="noStrike" cap="none">
                  <a:solidFill>
                    <a:srgbClr val="2D2D2D"/>
                  </a:solidFill>
                  <a:latin typeface="Calibri"/>
                  <a:ea typeface="Calibri"/>
                  <a:cs typeface="Calibri"/>
                  <a:sym typeface="Calibri"/>
                </a:rPr>
                <a:t>Ashraf et al., NAACL 2025</a:t>
              </a:r>
              <a:r>
                <a:rPr lang="en-US" sz="2499" b="0" i="0" u="none" strike="noStrike" cap="none">
                  <a:solidFill>
                    <a:srgbClr val="2D2D2D"/>
                  </a:solidFill>
                  <a:latin typeface="Calibri"/>
                  <a:ea typeface="Calibri"/>
                  <a:cs typeface="Calibri"/>
                  <a:sym typeface="Calibri"/>
                </a:rPr>
                <a:t>), we evaluated the system cards of all </a:t>
              </a:r>
              <a:r>
                <a:rPr lang="en-US" sz="2499">
                  <a:solidFill>
                    <a:srgbClr val="2D2D2D"/>
                  </a:solidFill>
                  <a:latin typeface="Calibri"/>
                  <a:ea typeface="Calibri"/>
                  <a:cs typeface="Calibri"/>
                  <a:sym typeface="Calibri"/>
                </a:rPr>
                <a:t>major AI assistants</a:t>
              </a:r>
              <a:r>
                <a:rPr lang="en-US" sz="2499" b="0" i="0" u="none" strike="noStrike" cap="none">
                  <a:solidFill>
                    <a:srgbClr val="2D2D2D"/>
                  </a:solidFill>
                  <a:latin typeface="Calibri"/>
                  <a:ea typeface="Calibri"/>
                  <a:cs typeface="Calibri"/>
                  <a:sym typeface="Calibri"/>
                </a:rPr>
                <a:t> listed in the Ministry of AI's guide. We also reviewed research covering multilingual jailbreak success rates and Arabic transliteration-based attacks.</a:t>
              </a:r>
              <a:endParaRPr/>
            </a:p>
          </p:txBody>
        </p:sp>
      </p:grpSp>
      <p:sp>
        <p:nvSpPr>
          <p:cNvPr id="191" name="Google Shape;191;p17"/>
          <p:cNvSpPr/>
          <p:nvPr/>
        </p:nvSpPr>
        <p:spPr>
          <a:xfrm>
            <a:off x="718823" y="3736343"/>
            <a:ext cx="16850391" cy="1799367"/>
          </a:xfrm>
          <a:custGeom>
            <a:avLst/>
            <a:gdLst/>
            <a:ahLst/>
            <a:cxnLst/>
            <a:rect l="l" t="t" r="r" b="b"/>
            <a:pathLst>
              <a:path w="22467188" h="2399157" extrusionOk="0">
                <a:moveTo>
                  <a:pt x="0" y="0"/>
                </a:moveTo>
                <a:lnTo>
                  <a:pt x="22467188" y="0"/>
                </a:lnTo>
                <a:lnTo>
                  <a:pt x="22467188" y="2399157"/>
                </a:lnTo>
                <a:lnTo>
                  <a:pt x="0" y="2399157"/>
                </a:lnTo>
                <a:close/>
              </a:path>
            </a:pathLst>
          </a:custGeom>
          <a:solidFill>
            <a:srgbClr val="EEEBE6"/>
          </a:solidFill>
          <a:ln w="25400" cap="sq" cmpd="sng">
            <a:solidFill>
              <a:srgbClr val="DDDDDD"/>
            </a:solidFill>
            <a:prstDash val="solid"/>
            <a:miter lim="8000"/>
            <a:headEnd type="none" w="sm" len="sm"/>
            <a:tailEnd type="none" w="sm" len="sm"/>
          </a:ln>
        </p:spPr>
      </p:sp>
      <p:grpSp>
        <p:nvGrpSpPr>
          <p:cNvPr id="192" name="Google Shape;192;p17"/>
          <p:cNvGrpSpPr/>
          <p:nvPr/>
        </p:nvGrpSpPr>
        <p:grpSpPr>
          <a:xfrm>
            <a:off x="1005840" y="3848481"/>
            <a:ext cx="2743200" cy="467487"/>
            <a:chOff x="0" y="-38100"/>
            <a:chExt cx="3657600" cy="623316"/>
          </a:xfrm>
        </p:grpSpPr>
        <p:sp>
          <p:nvSpPr>
            <p:cNvPr id="193" name="Google Shape;193;p17"/>
            <p:cNvSpPr/>
            <p:nvPr/>
          </p:nvSpPr>
          <p:spPr>
            <a:xfrm>
              <a:off x="0" y="0"/>
              <a:ext cx="3657600" cy="585216"/>
            </a:xfrm>
            <a:custGeom>
              <a:avLst/>
              <a:gdLst/>
              <a:ahLst/>
              <a:cxnLst/>
              <a:rect l="l" t="t" r="r" b="b"/>
              <a:pathLst>
                <a:path w="3657600" h="585216" extrusionOk="0">
                  <a:moveTo>
                    <a:pt x="0" y="0"/>
                  </a:moveTo>
                  <a:lnTo>
                    <a:pt x="3657600" y="0"/>
                  </a:lnTo>
                  <a:lnTo>
                    <a:pt x="3657600" y="585216"/>
                  </a:lnTo>
                  <a:lnTo>
                    <a:pt x="0" y="585216"/>
                  </a:lnTo>
                  <a:close/>
                </a:path>
              </a:pathLst>
            </a:custGeom>
            <a:blipFill rotWithShape="1">
              <a:blip r:embed="rId3">
                <a:alphaModFix amt="0"/>
              </a:blip>
              <a:stretch>
                <a:fillRect t="-71779" b="-71779"/>
              </a:stretch>
            </a:blipFill>
            <a:ln>
              <a:noFill/>
            </a:ln>
          </p:spPr>
        </p:sp>
        <p:sp>
          <p:nvSpPr>
            <p:cNvPr id="194" name="Google Shape;194;p17"/>
            <p:cNvSpPr txBox="1"/>
            <p:nvPr/>
          </p:nvSpPr>
          <p:spPr>
            <a:xfrm>
              <a:off x="0" y="-38100"/>
              <a:ext cx="3657600" cy="623316"/>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900" b="1" i="0" u="none" strike="noStrike" cap="none">
                  <a:solidFill>
                    <a:srgbClr val="8B1A1A"/>
                  </a:solidFill>
                  <a:latin typeface="Calibri"/>
                  <a:ea typeface="Calibri"/>
                  <a:cs typeface="Calibri"/>
                  <a:sym typeface="Calibri"/>
                </a:rPr>
                <a:t>FINDING 01</a:t>
              </a:r>
              <a:endParaRPr/>
            </a:p>
          </p:txBody>
        </p:sp>
      </p:grpSp>
      <p:grpSp>
        <p:nvGrpSpPr>
          <p:cNvPr id="195" name="Google Shape;195;p17"/>
          <p:cNvGrpSpPr/>
          <p:nvPr/>
        </p:nvGrpSpPr>
        <p:grpSpPr>
          <a:xfrm>
            <a:off x="1005840" y="4353401"/>
            <a:ext cx="4754880" cy="986695"/>
            <a:chOff x="0" y="-47625"/>
            <a:chExt cx="6339840" cy="1315593"/>
          </a:xfrm>
        </p:grpSpPr>
        <p:sp>
          <p:nvSpPr>
            <p:cNvPr id="196" name="Google Shape;196;p17"/>
            <p:cNvSpPr/>
            <p:nvPr/>
          </p:nvSpPr>
          <p:spPr>
            <a:xfrm>
              <a:off x="0" y="0"/>
              <a:ext cx="6339840" cy="1267968"/>
            </a:xfrm>
            <a:custGeom>
              <a:avLst/>
              <a:gdLst/>
              <a:ahLst/>
              <a:cxnLst/>
              <a:rect l="l" t="t" r="r" b="b"/>
              <a:pathLst>
                <a:path w="6339840" h="1267968" extrusionOk="0">
                  <a:moveTo>
                    <a:pt x="0" y="0"/>
                  </a:moveTo>
                  <a:lnTo>
                    <a:pt x="6339840" y="0"/>
                  </a:lnTo>
                  <a:lnTo>
                    <a:pt x="6339840" y="1267968"/>
                  </a:lnTo>
                  <a:lnTo>
                    <a:pt x="0" y="1267968"/>
                  </a:lnTo>
                  <a:close/>
                </a:path>
              </a:pathLst>
            </a:custGeom>
            <a:blipFill rotWithShape="1">
              <a:blip r:embed="rId3">
                <a:alphaModFix amt="0"/>
              </a:blip>
              <a:stretch>
                <a:fillRect t="-47424" b="-47424"/>
              </a:stretch>
            </a:blipFill>
            <a:ln>
              <a:noFill/>
            </a:ln>
          </p:spPr>
        </p:sp>
        <p:sp>
          <p:nvSpPr>
            <p:cNvPr id="197" name="Google Shape;197;p17"/>
            <p:cNvSpPr txBox="1"/>
            <p:nvPr/>
          </p:nvSpPr>
          <p:spPr>
            <a:xfrm>
              <a:off x="0" y="-47625"/>
              <a:ext cx="6339840" cy="131559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1A1A1A"/>
                  </a:solidFill>
                  <a:latin typeface="Calibri"/>
                  <a:ea typeface="Calibri"/>
                  <a:cs typeface="Calibri"/>
                  <a:sym typeface="Calibri"/>
                </a:rPr>
                <a:t>Arabic is an active attack surface that vendors are not testing</a:t>
              </a:r>
              <a:endParaRPr/>
            </a:p>
          </p:txBody>
        </p:sp>
      </p:grpSp>
      <p:sp>
        <p:nvSpPr>
          <p:cNvPr id="198" name="Google Shape;198;p17"/>
          <p:cNvSpPr/>
          <p:nvPr/>
        </p:nvSpPr>
        <p:spPr>
          <a:xfrm>
            <a:off x="6025515" y="3922395"/>
            <a:ext cx="19050" cy="1408938"/>
          </a:xfrm>
          <a:custGeom>
            <a:avLst/>
            <a:gdLst/>
            <a:ahLst/>
            <a:cxnLst/>
            <a:rect l="l" t="t" r="r" b="b"/>
            <a:pathLst>
              <a:path w="25400" h="1878584" extrusionOk="0">
                <a:moveTo>
                  <a:pt x="0" y="0"/>
                </a:moveTo>
                <a:lnTo>
                  <a:pt x="25400" y="1878584"/>
                </a:lnTo>
              </a:path>
            </a:pathLst>
          </a:custGeom>
          <a:blipFill rotWithShape="1">
            <a:blip r:embed="rId3">
              <a:alphaModFix amt="0"/>
            </a:blip>
            <a:stretch>
              <a:fillRect l="-9455721" r="-9455721"/>
            </a:stretch>
          </a:blipFill>
          <a:ln w="19050" cap="sq" cmpd="sng">
            <a:solidFill>
              <a:srgbClr val="CCCCCC"/>
            </a:solidFill>
            <a:prstDash val="solid"/>
            <a:miter lim="8000"/>
            <a:headEnd type="none" w="sm" len="sm"/>
            <a:tailEnd type="none" w="sm" len="sm"/>
          </a:ln>
        </p:spPr>
      </p:sp>
      <p:grpSp>
        <p:nvGrpSpPr>
          <p:cNvPr id="199" name="Google Shape;199;p17"/>
          <p:cNvGrpSpPr/>
          <p:nvPr/>
        </p:nvGrpSpPr>
        <p:grpSpPr>
          <a:xfrm>
            <a:off x="6364224" y="3841337"/>
            <a:ext cx="10881360" cy="1553623"/>
            <a:chOff x="0" y="-47625"/>
            <a:chExt cx="14508480" cy="2071497"/>
          </a:xfrm>
        </p:grpSpPr>
        <p:sp>
          <p:nvSpPr>
            <p:cNvPr id="200" name="Google Shape;200;p17"/>
            <p:cNvSpPr/>
            <p:nvPr/>
          </p:nvSpPr>
          <p:spPr>
            <a:xfrm>
              <a:off x="0" y="0"/>
              <a:ext cx="14508480" cy="2023872"/>
            </a:xfrm>
            <a:custGeom>
              <a:avLst/>
              <a:gdLst/>
              <a:ahLst/>
              <a:cxnLst/>
              <a:rect l="l" t="t" r="r" b="b"/>
              <a:pathLst>
                <a:path w="14508480" h="2023872" extrusionOk="0">
                  <a:moveTo>
                    <a:pt x="0" y="0"/>
                  </a:moveTo>
                  <a:lnTo>
                    <a:pt x="14508480" y="0"/>
                  </a:lnTo>
                  <a:lnTo>
                    <a:pt x="14508480" y="2023872"/>
                  </a:lnTo>
                  <a:lnTo>
                    <a:pt x="0" y="2023872"/>
                  </a:lnTo>
                  <a:close/>
                </a:path>
              </a:pathLst>
            </a:custGeom>
            <a:blipFill rotWithShape="1">
              <a:blip r:embed="rId3">
                <a:alphaModFix amt="0"/>
              </a:blip>
              <a:stretch>
                <a:fillRect t="-89680" b="-89680"/>
              </a:stretch>
            </a:blipFill>
            <a:ln>
              <a:noFill/>
            </a:ln>
          </p:spPr>
        </p:sp>
        <p:sp>
          <p:nvSpPr>
            <p:cNvPr id="201" name="Google Shape;201;p17"/>
            <p:cNvSpPr txBox="1"/>
            <p:nvPr/>
          </p:nvSpPr>
          <p:spPr>
            <a:xfrm>
              <a:off x="0" y="-47625"/>
              <a:ext cx="14508480" cy="2071497"/>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a:solidFill>
                    <a:srgbClr val="2D2D2D"/>
                  </a:solidFill>
                  <a:latin typeface="Calibri"/>
                  <a:ea typeface="Calibri"/>
                  <a:cs typeface="Calibri"/>
                  <a:sym typeface="Calibri"/>
                </a:rPr>
                <a:t>Safety alignment training is conducted predominantly on English-language examples. Arabic adversarial inputs are not well represented, so threat-detection patterns do not transfer. Peer-reviewed testing documented bypass rates of 40% for GPT-4 and approaching 100% for ChatGPT when the same jailbreak prompt is translated into Arabic. </a:t>
              </a:r>
              <a:r>
                <a:rPr lang="en-US" sz="2200" b="1" i="0" u="none" strike="noStrike" cap="none">
                  <a:solidFill>
                    <a:srgbClr val="2D2D2D"/>
                  </a:solidFill>
                  <a:latin typeface="Calibri"/>
                  <a:ea typeface="Calibri"/>
                  <a:cs typeface="Calibri"/>
                  <a:sym typeface="Calibri"/>
                </a:rPr>
                <a:t>[3]</a:t>
              </a:r>
              <a:endParaRPr/>
            </a:p>
          </p:txBody>
        </p:sp>
      </p:grpSp>
      <p:sp>
        <p:nvSpPr>
          <p:cNvPr id="202" name="Google Shape;202;p17"/>
          <p:cNvSpPr/>
          <p:nvPr/>
        </p:nvSpPr>
        <p:spPr>
          <a:xfrm>
            <a:off x="718823" y="5656583"/>
            <a:ext cx="16850391" cy="1799367"/>
          </a:xfrm>
          <a:custGeom>
            <a:avLst/>
            <a:gdLst/>
            <a:ahLst/>
            <a:cxnLst/>
            <a:rect l="l" t="t" r="r" b="b"/>
            <a:pathLst>
              <a:path w="22467188" h="2399157" extrusionOk="0">
                <a:moveTo>
                  <a:pt x="0" y="0"/>
                </a:moveTo>
                <a:lnTo>
                  <a:pt x="22467188" y="0"/>
                </a:lnTo>
                <a:lnTo>
                  <a:pt x="22467188" y="2399157"/>
                </a:lnTo>
                <a:lnTo>
                  <a:pt x="0" y="2399157"/>
                </a:lnTo>
                <a:close/>
              </a:path>
            </a:pathLst>
          </a:custGeom>
          <a:solidFill>
            <a:srgbClr val="FFFFFF"/>
          </a:solidFill>
          <a:ln w="25400" cap="sq" cmpd="sng">
            <a:solidFill>
              <a:srgbClr val="DDDDDD"/>
            </a:solidFill>
            <a:prstDash val="solid"/>
            <a:miter lim="8000"/>
            <a:headEnd type="none" w="sm" len="sm"/>
            <a:tailEnd type="none" w="sm" len="sm"/>
          </a:ln>
        </p:spPr>
      </p:sp>
      <p:grpSp>
        <p:nvGrpSpPr>
          <p:cNvPr id="203" name="Google Shape;203;p17"/>
          <p:cNvGrpSpPr/>
          <p:nvPr/>
        </p:nvGrpSpPr>
        <p:grpSpPr>
          <a:xfrm>
            <a:off x="1005840" y="5768721"/>
            <a:ext cx="2743200" cy="467487"/>
            <a:chOff x="0" y="-38100"/>
            <a:chExt cx="3657600" cy="623316"/>
          </a:xfrm>
        </p:grpSpPr>
        <p:sp>
          <p:nvSpPr>
            <p:cNvPr id="204" name="Google Shape;204;p17"/>
            <p:cNvSpPr/>
            <p:nvPr/>
          </p:nvSpPr>
          <p:spPr>
            <a:xfrm>
              <a:off x="0" y="0"/>
              <a:ext cx="3657600" cy="585216"/>
            </a:xfrm>
            <a:custGeom>
              <a:avLst/>
              <a:gdLst/>
              <a:ahLst/>
              <a:cxnLst/>
              <a:rect l="l" t="t" r="r" b="b"/>
              <a:pathLst>
                <a:path w="3657600" h="585216" extrusionOk="0">
                  <a:moveTo>
                    <a:pt x="0" y="0"/>
                  </a:moveTo>
                  <a:lnTo>
                    <a:pt x="3657600" y="0"/>
                  </a:lnTo>
                  <a:lnTo>
                    <a:pt x="3657600" y="585216"/>
                  </a:lnTo>
                  <a:lnTo>
                    <a:pt x="0" y="585216"/>
                  </a:lnTo>
                  <a:close/>
                </a:path>
              </a:pathLst>
            </a:custGeom>
            <a:blipFill rotWithShape="1">
              <a:blip r:embed="rId3">
                <a:alphaModFix amt="0"/>
              </a:blip>
              <a:stretch>
                <a:fillRect t="-71779" b="-71779"/>
              </a:stretch>
            </a:blipFill>
            <a:ln>
              <a:noFill/>
            </a:ln>
          </p:spPr>
        </p:sp>
        <p:sp>
          <p:nvSpPr>
            <p:cNvPr id="205" name="Google Shape;205;p17"/>
            <p:cNvSpPr txBox="1"/>
            <p:nvPr/>
          </p:nvSpPr>
          <p:spPr>
            <a:xfrm>
              <a:off x="0" y="-38100"/>
              <a:ext cx="3657600" cy="623316"/>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900" b="1" i="0" u="none" strike="noStrike" cap="none">
                  <a:solidFill>
                    <a:srgbClr val="8B1A1A"/>
                  </a:solidFill>
                  <a:latin typeface="Calibri"/>
                  <a:ea typeface="Calibri"/>
                  <a:cs typeface="Calibri"/>
                  <a:sym typeface="Calibri"/>
                </a:rPr>
                <a:t>FINDING 02</a:t>
              </a:r>
              <a:endParaRPr/>
            </a:p>
          </p:txBody>
        </p:sp>
      </p:grpSp>
      <p:grpSp>
        <p:nvGrpSpPr>
          <p:cNvPr id="206" name="Google Shape;206;p17"/>
          <p:cNvGrpSpPr/>
          <p:nvPr/>
        </p:nvGrpSpPr>
        <p:grpSpPr>
          <a:xfrm>
            <a:off x="1005840" y="6273641"/>
            <a:ext cx="4754880" cy="986695"/>
            <a:chOff x="0" y="-47625"/>
            <a:chExt cx="6339840" cy="1315593"/>
          </a:xfrm>
        </p:grpSpPr>
        <p:sp>
          <p:nvSpPr>
            <p:cNvPr id="207" name="Google Shape;207;p17"/>
            <p:cNvSpPr/>
            <p:nvPr/>
          </p:nvSpPr>
          <p:spPr>
            <a:xfrm>
              <a:off x="0" y="0"/>
              <a:ext cx="6339840" cy="1267968"/>
            </a:xfrm>
            <a:custGeom>
              <a:avLst/>
              <a:gdLst/>
              <a:ahLst/>
              <a:cxnLst/>
              <a:rect l="l" t="t" r="r" b="b"/>
              <a:pathLst>
                <a:path w="6339840" h="1267968" extrusionOk="0">
                  <a:moveTo>
                    <a:pt x="0" y="0"/>
                  </a:moveTo>
                  <a:lnTo>
                    <a:pt x="6339840" y="0"/>
                  </a:lnTo>
                  <a:lnTo>
                    <a:pt x="6339840" y="1267968"/>
                  </a:lnTo>
                  <a:lnTo>
                    <a:pt x="0" y="1267968"/>
                  </a:lnTo>
                  <a:close/>
                </a:path>
              </a:pathLst>
            </a:custGeom>
            <a:blipFill rotWithShape="1">
              <a:blip r:embed="rId3">
                <a:alphaModFix amt="0"/>
              </a:blip>
              <a:stretch>
                <a:fillRect t="-47424" b="-47424"/>
              </a:stretch>
            </a:blipFill>
            <a:ln>
              <a:noFill/>
            </a:ln>
          </p:spPr>
        </p:sp>
        <p:sp>
          <p:nvSpPr>
            <p:cNvPr id="208" name="Google Shape;208;p17"/>
            <p:cNvSpPr txBox="1"/>
            <p:nvPr/>
          </p:nvSpPr>
          <p:spPr>
            <a:xfrm>
              <a:off x="0" y="-47625"/>
              <a:ext cx="6339840" cy="131559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1A1A1A"/>
                  </a:solidFill>
                  <a:latin typeface="Calibri"/>
                  <a:ea typeface="Calibri"/>
                  <a:cs typeface="Calibri"/>
                  <a:sym typeface="Calibri"/>
                </a:rPr>
                <a:t>Translating English safety prompts into Arabic is not a solution</a:t>
              </a:r>
              <a:endParaRPr/>
            </a:p>
          </p:txBody>
        </p:sp>
      </p:grpSp>
      <p:sp>
        <p:nvSpPr>
          <p:cNvPr id="209" name="Google Shape;209;p17"/>
          <p:cNvSpPr/>
          <p:nvPr/>
        </p:nvSpPr>
        <p:spPr>
          <a:xfrm>
            <a:off x="6025515" y="5842635"/>
            <a:ext cx="19050" cy="1408938"/>
          </a:xfrm>
          <a:custGeom>
            <a:avLst/>
            <a:gdLst/>
            <a:ahLst/>
            <a:cxnLst/>
            <a:rect l="l" t="t" r="r" b="b"/>
            <a:pathLst>
              <a:path w="25400" h="1878584" extrusionOk="0">
                <a:moveTo>
                  <a:pt x="0" y="0"/>
                </a:moveTo>
                <a:lnTo>
                  <a:pt x="25400" y="1878584"/>
                </a:lnTo>
              </a:path>
            </a:pathLst>
          </a:custGeom>
          <a:blipFill rotWithShape="1">
            <a:blip r:embed="rId3">
              <a:alphaModFix amt="0"/>
            </a:blip>
            <a:stretch>
              <a:fillRect l="-9455721" r="-9455721"/>
            </a:stretch>
          </a:blipFill>
          <a:ln w="19050" cap="sq" cmpd="sng">
            <a:solidFill>
              <a:srgbClr val="CCCCCC"/>
            </a:solidFill>
            <a:prstDash val="solid"/>
            <a:miter lim="8000"/>
            <a:headEnd type="none" w="sm" len="sm"/>
            <a:tailEnd type="none" w="sm" len="sm"/>
          </a:ln>
        </p:spPr>
      </p:sp>
      <p:grpSp>
        <p:nvGrpSpPr>
          <p:cNvPr id="210" name="Google Shape;210;p17"/>
          <p:cNvGrpSpPr/>
          <p:nvPr/>
        </p:nvGrpSpPr>
        <p:grpSpPr>
          <a:xfrm>
            <a:off x="6364224" y="5761577"/>
            <a:ext cx="10881360" cy="1553623"/>
            <a:chOff x="0" y="-47625"/>
            <a:chExt cx="14508480" cy="2071497"/>
          </a:xfrm>
        </p:grpSpPr>
        <p:sp>
          <p:nvSpPr>
            <p:cNvPr id="211" name="Google Shape;211;p17"/>
            <p:cNvSpPr/>
            <p:nvPr/>
          </p:nvSpPr>
          <p:spPr>
            <a:xfrm>
              <a:off x="0" y="0"/>
              <a:ext cx="14508480" cy="2023872"/>
            </a:xfrm>
            <a:custGeom>
              <a:avLst/>
              <a:gdLst/>
              <a:ahLst/>
              <a:cxnLst/>
              <a:rect l="l" t="t" r="r" b="b"/>
              <a:pathLst>
                <a:path w="14508480" h="2023872" extrusionOk="0">
                  <a:moveTo>
                    <a:pt x="0" y="0"/>
                  </a:moveTo>
                  <a:lnTo>
                    <a:pt x="14508480" y="0"/>
                  </a:lnTo>
                  <a:lnTo>
                    <a:pt x="14508480" y="2023872"/>
                  </a:lnTo>
                  <a:lnTo>
                    <a:pt x="0" y="2023872"/>
                  </a:lnTo>
                  <a:close/>
                </a:path>
              </a:pathLst>
            </a:custGeom>
            <a:blipFill rotWithShape="1">
              <a:blip r:embed="rId3">
                <a:alphaModFix amt="0"/>
              </a:blip>
              <a:stretch>
                <a:fillRect t="-89680" b="-89680"/>
              </a:stretch>
            </a:blipFill>
            <a:ln>
              <a:noFill/>
            </a:ln>
          </p:spPr>
        </p:sp>
        <p:sp>
          <p:nvSpPr>
            <p:cNvPr id="212" name="Google Shape;212;p17"/>
            <p:cNvSpPr txBox="1"/>
            <p:nvPr/>
          </p:nvSpPr>
          <p:spPr>
            <a:xfrm>
              <a:off x="0" y="-47625"/>
              <a:ext cx="14508480" cy="2071497"/>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a:solidFill>
                    <a:srgbClr val="2D2D2D"/>
                  </a:solidFill>
                  <a:latin typeface="Calibri"/>
                  <a:ea typeface="Calibri"/>
                  <a:cs typeface="Calibri"/>
                  <a:sym typeface="Calibri"/>
                </a:rPr>
                <a:t>Vendors that do test in Arabic</a:t>
              </a:r>
              <a:r>
                <a:rPr lang="en-US" sz="2200">
                  <a:solidFill>
                    <a:srgbClr val="2D2D2D"/>
                  </a:solidFill>
                  <a:latin typeface="Calibri"/>
                  <a:ea typeface="Calibri"/>
                  <a:cs typeface="Calibri"/>
                  <a:sym typeface="Calibri"/>
                </a:rPr>
                <a:t> (like Claude), </a:t>
              </a:r>
              <a:r>
                <a:rPr lang="en-US" sz="2200" b="0" i="0" u="none" strike="noStrike" cap="none">
                  <a:solidFill>
                    <a:srgbClr val="2D2D2D"/>
                  </a:solidFill>
                  <a:latin typeface="Calibri"/>
                  <a:ea typeface="Calibri"/>
                  <a:cs typeface="Calibri"/>
                  <a:sym typeface="Calibri"/>
                </a:rPr>
                <a:t>translate their existing English test prompts. A translated English probe does not test whether the model handles content that is legally or socially sensitive in the UAE. A test can pass while the deployment still fails in practice.</a:t>
              </a:r>
              <a:endParaRPr/>
            </a:p>
          </p:txBody>
        </p:sp>
      </p:grpSp>
      <p:sp>
        <p:nvSpPr>
          <p:cNvPr id="213" name="Google Shape;213;p17"/>
          <p:cNvSpPr/>
          <p:nvPr/>
        </p:nvSpPr>
        <p:spPr>
          <a:xfrm>
            <a:off x="718823" y="7576823"/>
            <a:ext cx="16850391" cy="1799367"/>
          </a:xfrm>
          <a:custGeom>
            <a:avLst/>
            <a:gdLst/>
            <a:ahLst/>
            <a:cxnLst/>
            <a:rect l="l" t="t" r="r" b="b"/>
            <a:pathLst>
              <a:path w="22467188" h="2399157" extrusionOk="0">
                <a:moveTo>
                  <a:pt x="0" y="0"/>
                </a:moveTo>
                <a:lnTo>
                  <a:pt x="22467188" y="0"/>
                </a:lnTo>
                <a:lnTo>
                  <a:pt x="22467188" y="2399157"/>
                </a:lnTo>
                <a:lnTo>
                  <a:pt x="0" y="2399157"/>
                </a:lnTo>
                <a:close/>
              </a:path>
            </a:pathLst>
          </a:custGeom>
          <a:solidFill>
            <a:srgbClr val="EEEBE6"/>
          </a:solidFill>
          <a:ln w="25400" cap="sq" cmpd="sng">
            <a:solidFill>
              <a:srgbClr val="DDDDDD"/>
            </a:solidFill>
            <a:prstDash val="solid"/>
            <a:miter lim="8000"/>
            <a:headEnd type="none" w="sm" len="sm"/>
            <a:tailEnd type="none" w="sm" len="sm"/>
          </a:ln>
        </p:spPr>
      </p:sp>
      <p:grpSp>
        <p:nvGrpSpPr>
          <p:cNvPr id="214" name="Google Shape;214;p17"/>
          <p:cNvGrpSpPr/>
          <p:nvPr/>
        </p:nvGrpSpPr>
        <p:grpSpPr>
          <a:xfrm>
            <a:off x="1005840" y="7688961"/>
            <a:ext cx="2743200" cy="467487"/>
            <a:chOff x="0" y="-38100"/>
            <a:chExt cx="3657600" cy="623316"/>
          </a:xfrm>
        </p:grpSpPr>
        <p:sp>
          <p:nvSpPr>
            <p:cNvPr id="215" name="Google Shape;215;p17"/>
            <p:cNvSpPr/>
            <p:nvPr/>
          </p:nvSpPr>
          <p:spPr>
            <a:xfrm>
              <a:off x="0" y="0"/>
              <a:ext cx="3657600" cy="585216"/>
            </a:xfrm>
            <a:custGeom>
              <a:avLst/>
              <a:gdLst/>
              <a:ahLst/>
              <a:cxnLst/>
              <a:rect l="l" t="t" r="r" b="b"/>
              <a:pathLst>
                <a:path w="3657600" h="585216" extrusionOk="0">
                  <a:moveTo>
                    <a:pt x="0" y="0"/>
                  </a:moveTo>
                  <a:lnTo>
                    <a:pt x="3657600" y="0"/>
                  </a:lnTo>
                  <a:lnTo>
                    <a:pt x="3657600" y="585216"/>
                  </a:lnTo>
                  <a:lnTo>
                    <a:pt x="0" y="585216"/>
                  </a:lnTo>
                  <a:close/>
                </a:path>
              </a:pathLst>
            </a:custGeom>
            <a:blipFill rotWithShape="1">
              <a:blip r:embed="rId3">
                <a:alphaModFix amt="0"/>
              </a:blip>
              <a:stretch>
                <a:fillRect t="-71779" b="-71779"/>
              </a:stretch>
            </a:blipFill>
            <a:ln>
              <a:noFill/>
            </a:ln>
          </p:spPr>
        </p:sp>
        <p:sp>
          <p:nvSpPr>
            <p:cNvPr id="216" name="Google Shape;216;p17"/>
            <p:cNvSpPr txBox="1"/>
            <p:nvPr/>
          </p:nvSpPr>
          <p:spPr>
            <a:xfrm>
              <a:off x="0" y="-38100"/>
              <a:ext cx="3657600" cy="623316"/>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900" b="1" i="0" u="none" strike="noStrike" cap="none">
                  <a:solidFill>
                    <a:srgbClr val="8B1A1A"/>
                  </a:solidFill>
                  <a:latin typeface="Calibri"/>
                  <a:ea typeface="Calibri"/>
                  <a:cs typeface="Calibri"/>
                  <a:sym typeface="Calibri"/>
                </a:rPr>
                <a:t>FINDING 03</a:t>
              </a:r>
              <a:endParaRPr/>
            </a:p>
          </p:txBody>
        </p:sp>
      </p:grpSp>
      <p:grpSp>
        <p:nvGrpSpPr>
          <p:cNvPr id="217" name="Google Shape;217;p17"/>
          <p:cNvGrpSpPr/>
          <p:nvPr/>
        </p:nvGrpSpPr>
        <p:grpSpPr>
          <a:xfrm>
            <a:off x="1005840" y="8193881"/>
            <a:ext cx="4754880" cy="986695"/>
            <a:chOff x="0" y="-47625"/>
            <a:chExt cx="6339840" cy="1315593"/>
          </a:xfrm>
        </p:grpSpPr>
        <p:sp>
          <p:nvSpPr>
            <p:cNvPr id="218" name="Google Shape;218;p17"/>
            <p:cNvSpPr/>
            <p:nvPr/>
          </p:nvSpPr>
          <p:spPr>
            <a:xfrm>
              <a:off x="0" y="0"/>
              <a:ext cx="6339840" cy="1267968"/>
            </a:xfrm>
            <a:custGeom>
              <a:avLst/>
              <a:gdLst/>
              <a:ahLst/>
              <a:cxnLst/>
              <a:rect l="l" t="t" r="r" b="b"/>
              <a:pathLst>
                <a:path w="6339840" h="1267968" extrusionOk="0">
                  <a:moveTo>
                    <a:pt x="0" y="0"/>
                  </a:moveTo>
                  <a:lnTo>
                    <a:pt x="6339840" y="0"/>
                  </a:lnTo>
                  <a:lnTo>
                    <a:pt x="6339840" y="1267968"/>
                  </a:lnTo>
                  <a:lnTo>
                    <a:pt x="0" y="1267968"/>
                  </a:lnTo>
                  <a:close/>
                </a:path>
              </a:pathLst>
            </a:custGeom>
            <a:blipFill rotWithShape="1">
              <a:blip r:embed="rId3">
                <a:alphaModFix amt="0"/>
              </a:blip>
              <a:stretch>
                <a:fillRect t="-47424" b="-47424"/>
              </a:stretch>
            </a:blipFill>
            <a:ln>
              <a:noFill/>
            </a:ln>
          </p:spPr>
        </p:sp>
        <p:sp>
          <p:nvSpPr>
            <p:cNvPr id="219" name="Google Shape;219;p17"/>
            <p:cNvSpPr txBox="1"/>
            <p:nvPr/>
          </p:nvSpPr>
          <p:spPr>
            <a:xfrm>
              <a:off x="0" y="-47625"/>
              <a:ext cx="6339840" cy="131559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1" i="0" u="none" strike="noStrike" cap="none">
                  <a:solidFill>
                    <a:srgbClr val="1A1A1A"/>
                  </a:solidFill>
                  <a:latin typeface="Calibri"/>
                  <a:ea typeface="Calibri"/>
                  <a:cs typeface="Calibri"/>
                  <a:sym typeface="Calibri"/>
                </a:rPr>
                <a:t>Arabic-specific harm categories are absent from every published safety benchmark</a:t>
              </a:r>
              <a:endParaRPr/>
            </a:p>
          </p:txBody>
        </p:sp>
      </p:grpSp>
      <p:sp>
        <p:nvSpPr>
          <p:cNvPr id="220" name="Google Shape;220;p17"/>
          <p:cNvSpPr/>
          <p:nvPr/>
        </p:nvSpPr>
        <p:spPr>
          <a:xfrm>
            <a:off x="6025515" y="7762875"/>
            <a:ext cx="19050" cy="1408938"/>
          </a:xfrm>
          <a:custGeom>
            <a:avLst/>
            <a:gdLst/>
            <a:ahLst/>
            <a:cxnLst/>
            <a:rect l="l" t="t" r="r" b="b"/>
            <a:pathLst>
              <a:path w="25400" h="1878584" extrusionOk="0">
                <a:moveTo>
                  <a:pt x="0" y="0"/>
                </a:moveTo>
                <a:lnTo>
                  <a:pt x="25400" y="1878584"/>
                </a:lnTo>
              </a:path>
            </a:pathLst>
          </a:custGeom>
          <a:blipFill rotWithShape="1">
            <a:blip r:embed="rId3">
              <a:alphaModFix amt="0"/>
            </a:blip>
            <a:stretch>
              <a:fillRect l="-9455721" r="-9455721"/>
            </a:stretch>
          </a:blipFill>
          <a:ln w="19050" cap="sq" cmpd="sng">
            <a:solidFill>
              <a:srgbClr val="CCCCCC"/>
            </a:solidFill>
            <a:prstDash val="solid"/>
            <a:miter lim="8000"/>
            <a:headEnd type="none" w="sm" len="sm"/>
            <a:tailEnd type="none" w="sm" len="sm"/>
          </a:ln>
        </p:spPr>
      </p:sp>
      <p:grpSp>
        <p:nvGrpSpPr>
          <p:cNvPr id="221" name="Google Shape;221;p17"/>
          <p:cNvGrpSpPr/>
          <p:nvPr/>
        </p:nvGrpSpPr>
        <p:grpSpPr>
          <a:xfrm>
            <a:off x="6364224" y="7681817"/>
            <a:ext cx="10881360" cy="1553623"/>
            <a:chOff x="0" y="-47625"/>
            <a:chExt cx="14508480" cy="2071497"/>
          </a:xfrm>
        </p:grpSpPr>
        <p:sp>
          <p:nvSpPr>
            <p:cNvPr id="222" name="Google Shape;222;p17"/>
            <p:cNvSpPr/>
            <p:nvPr/>
          </p:nvSpPr>
          <p:spPr>
            <a:xfrm>
              <a:off x="0" y="0"/>
              <a:ext cx="14508480" cy="2023872"/>
            </a:xfrm>
            <a:custGeom>
              <a:avLst/>
              <a:gdLst/>
              <a:ahLst/>
              <a:cxnLst/>
              <a:rect l="l" t="t" r="r" b="b"/>
              <a:pathLst>
                <a:path w="14508480" h="2023872" extrusionOk="0">
                  <a:moveTo>
                    <a:pt x="0" y="0"/>
                  </a:moveTo>
                  <a:lnTo>
                    <a:pt x="14508480" y="0"/>
                  </a:lnTo>
                  <a:lnTo>
                    <a:pt x="14508480" y="2023872"/>
                  </a:lnTo>
                  <a:lnTo>
                    <a:pt x="0" y="2023872"/>
                  </a:lnTo>
                  <a:close/>
                </a:path>
              </a:pathLst>
            </a:custGeom>
            <a:blipFill rotWithShape="1">
              <a:blip r:embed="rId3">
                <a:alphaModFix amt="0"/>
              </a:blip>
              <a:stretch>
                <a:fillRect t="-89680" b="-89680"/>
              </a:stretch>
            </a:blipFill>
            <a:ln>
              <a:noFill/>
            </a:ln>
          </p:spPr>
        </p:sp>
        <p:sp>
          <p:nvSpPr>
            <p:cNvPr id="223" name="Google Shape;223;p17"/>
            <p:cNvSpPr txBox="1"/>
            <p:nvPr/>
          </p:nvSpPr>
          <p:spPr>
            <a:xfrm>
              <a:off x="0" y="-47625"/>
              <a:ext cx="14508480" cy="2071497"/>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a:solidFill>
                    <a:srgbClr val="2D2D2D"/>
                  </a:solidFill>
                  <a:latin typeface="Calibri"/>
                  <a:ea typeface="Calibri"/>
                  <a:cs typeface="Calibri"/>
                  <a:sym typeface="Calibri"/>
                </a:rPr>
                <a:t>Ashraf et al. identify six harm types specific to the Arabic-speaking world: political governance, human rights, regional conflicts, economic policy, controversial history, and cultural preservation. None appear in any vendor's safety documentation. These categories account for 53% of their dataset. </a:t>
              </a:r>
              <a:r>
                <a:rPr lang="en-US" sz="2200" b="1" i="0" u="none" strike="noStrike" cap="none">
                  <a:solidFill>
                    <a:srgbClr val="2D2D2D"/>
                  </a:solidFill>
                  <a:latin typeface="Calibri"/>
                  <a:ea typeface="Calibri"/>
                  <a:cs typeface="Calibri"/>
                  <a:sym typeface="Calibri"/>
                </a:rPr>
                <a:t>[4]</a:t>
              </a:r>
              <a:endParaRPr/>
            </a:p>
          </p:txBody>
        </p:sp>
      </p:grpSp>
      <p:sp>
        <p:nvSpPr>
          <p:cNvPr id="224" name="Google Shape;224;p17"/>
          <p:cNvSpPr/>
          <p:nvPr/>
        </p:nvSpPr>
        <p:spPr>
          <a:xfrm>
            <a:off x="14838272" y="534945"/>
            <a:ext cx="3015388" cy="765909"/>
          </a:xfrm>
          <a:custGeom>
            <a:avLst/>
            <a:gdLst/>
            <a:ahLst/>
            <a:cxnLst/>
            <a:rect l="l" t="t" r="r" b="b"/>
            <a:pathLst>
              <a:path w="3015388" h="765909" extrusionOk="0">
                <a:moveTo>
                  <a:pt x="0" y="0"/>
                </a:moveTo>
                <a:lnTo>
                  <a:pt x="3015388" y="0"/>
                </a:lnTo>
                <a:lnTo>
                  <a:pt x="3015388" y="765909"/>
                </a:lnTo>
                <a:lnTo>
                  <a:pt x="0" y="765909"/>
                </a:lnTo>
                <a:lnTo>
                  <a:pt x="0" y="0"/>
                </a:lnTo>
                <a:close/>
              </a:path>
            </a:pathLst>
          </a:custGeom>
          <a:blipFill rotWithShape="1">
            <a:blip r:embed="rId4">
              <a:alphaModFix/>
            </a:blip>
            <a:stretch>
              <a:fillRect/>
            </a:stretch>
          </a:blipFill>
          <a:ln>
            <a:noFill/>
          </a:ln>
        </p:spPr>
      </p:sp>
      <p:sp>
        <p:nvSpPr>
          <p:cNvPr id="225" name="Google Shape;225;p17"/>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226" name="Google Shape;226;p17"/>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227" name="Google Shape;227;p17"/>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5</a:t>
            </a:r>
            <a:endParaRPr sz="1593">
              <a:solidFill>
                <a:srgbClr val="AAAAAA"/>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1"/>
        <p:cNvGrpSpPr/>
        <p:nvPr/>
      </p:nvGrpSpPr>
      <p:grpSpPr>
        <a:xfrm>
          <a:off x="0" y="0"/>
          <a:ext cx="0" cy="0"/>
          <a:chOff x="0" y="0"/>
          <a:chExt cx="0" cy="0"/>
        </a:xfrm>
      </p:grpSpPr>
      <p:grpSp>
        <p:nvGrpSpPr>
          <p:cNvPr id="232" name="Google Shape;232;p18"/>
          <p:cNvGrpSpPr/>
          <p:nvPr/>
        </p:nvGrpSpPr>
        <p:grpSpPr>
          <a:xfrm>
            <a:off x="1005840" y="1595914"/>
            <a:ext cx="3657600" cy="2244566"/>
            <a:chOff x="0" y="-66675"/>
            <a:chExt cx="4876800" cy="2992755"/>
          </a:xfrm>
        </p:grpSpPr>
        <p:sp>
          <p:nvSpPr>
            <p:cNvPr id="233" name="Google Shape;233;p18"/>
            <p:cNvSpPr/>
            <p:nvPr/>
          </p:nvSpPr>
          <p:spPr>
            <a:xfrm>
              <a:off x="0" y="0"/>
              <a:ext cx="4876800" cy="2926080"/>
            </a:xfrm>
            <a:custGeom>
              <a:avLst/>
              <a:gdLst/>
              <a:ahLst/>
              <a:cxnLst/>
              <a:rect l="l" t="t" r="r" b="b"/>
              <a:pathLst>
                <a:path w="4876800" h="2926080" extrusionOk="0">
                  <a:moveTo>
                    <a:pt x="0" y="0"/>
                  </a:moveTo>
                  <a:lnTo>
                    <a:pt x="4876800" y="0"/>
                  </a:lnTo>
                  <a:lnTo>
                    <a:pt x="4876800" y="2926080"/>
                  </a:lnTo>
                  <a:lnTo>
                    <a:pt x="0" y="2926080"/>
                  </a:lnTo>
                  <a:close/>
                </a:path>
              </a:pathLst>
            </a:custGeom>
            <a:blipFill rotWithShape="1">
              <a:blip r:embed="rId3">
                <a:alphaModFix amt="0"/>
              </a:blip>
              <a:stretch>
                <a:fillRect l="-26982" r="-26982"/>
              </a:stretch>
            </a:blipFill>
            <a:ln>
              <a:noFill/>
            </a:ln>
          </p:spPr>
        </p:sp>
        <p:sp>
          <p:nvSpPr>
            <p:cNvPr id="234" name="Google Shape;234;p18"/>
            <p:cNvSpPr txBox="1"/>
            <p:nvPr/>
          </p:nvSpPr>
          <p:spPr>
            <a:xfrm>
              <a:off x="0" y="-66675"/>
              <a:ext cx="4876800" cy="29927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7600" b="1" i="0" u="none" strike="noStrike" cap="none">
                  <a:solidFill>
                    <a:srgbClr val="8B1A1A"/>
                  </a:solidFill>
                  <a:latin typeface="Arial"/>
                  <a:ea typeface="Arial"/>
                  <a:cs typeface="Arial"/>
                  <a:sym typeface="Arial"/>
                </a:rPr>
                <a:t>03</a:t>
              </a:r>
              <a:endParaRPr/>
            </a:p>
          </p:txBody>
        </p:sp>
      </p:grpSp>
      <p:grpSp>
        <p:nvGrpSpPr>
          <p:cNvPr id="235" name="Google Shape;235;p18"/>
          <p:cNvGrpSpPr/>
          <p:nvPr/>
        </p:nvGrpSpPr>
        <p:grpSpPr>
          <a:xfrm>
            <a:off x="1005840" y="3811905"/>
            <a:ext cx="15544800" cy="2954655"/>
            <a:chOff x="0" y="-38100"/>
            <a:chExt cx="20726400" cy="3939540"/>
          </a:xfrm>
        </p:grpSpPr>
        <p:sp>
          <p:nvSpPr>
            <p:cNvPr id="236" name="Google Shape;236;p18"/>
            <p:cNvSpPr/>
            <p:nvPr/>
          </p:nvSpPr>
          <p:spPr>
            <a:xfrm>
              <a:off x="0" y="0"/>
              <a:ext cx="20726400" cy="3901440"/>
            </a:xfrm>
            <a:custGeom>
              <a:avLst/>
              <a:gdLst/>
              <a:ahLst/>
              <a:cxnLst/>
              <a:rect l="l" t="t" r="r" b="b"/>
              <a:pathLst>
                <a:path w="20726400" h="3901440" extrusionOk="0">
                  <a:moveTo>
                    <a:pt x="0" y="0"/>
                  </a:moveTo>
                  <a:lnTo>
                    <a:pt x="20726400" y="0"/>
                  </a:lnTo>
                  <a:lnTo>
                    <a:pt x="20726400" y="3901440"/>
                  </a:lnTo>
                  <a:lnTo>
                    <a:pt x="0" y="3901440"/>
                  </a:lnTo>
                  <a:close/>
                </a:path>
              </a:pathLst>
            </a:custGeom>
            <a:blipFill rotWithShape="1">
              <a:blip r:embed="rId3">
                <a:alphaModFix amt="0"/>
              </a:blip>
              <a:stretch>
                <a:fillRect t="-53515" b="-53515"/>
              </a:stretch>
            </a:blipFill>
            <a:ln>
              <a:noFill/>
            </a:ln>
          </p:spPr>
        </p:sp>
        <p:sp>
          <p:nvSpPr>
            <p:cNvPr id="237" name="Google Shape;237;p18"/>
            <p:cNvSpPr txBox="1"/>
            <p:nvPr/>
          </p:nvSpPr>
          <p:spPr>
            <a:xfrm>
              <a:off x="0" y="-38100"/>
              <a:ext cx="20726400" cy="39395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Missing Arabic</a:t>
              </a:r>
              <a:endParaRPr/>
            </a:p>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Harm Categories</a:t>
              </a:r>
              <a:endParaRPr/>
            </a:p>
          </p:txBody>
        </p:sp>
      </p:grpSp>
      <p:sp>
        <p:nvSpPr>
          <p:cNvPr id="238" name="Google Shape;238;p18"/>
          <p:cNvSpPr/>
          <p:nvPr/>
        </p:nvSpPr>
        <p:spPr>
          <a:xfrm>
            <a:off x="993143" y="6900167"/>
            <a:ext cx="2037111" cy="153447"/>
          </a:xfrm>
          <a:custGeom>
            <a:avLst/>
            <a:gdLst/>
            <a:ahLst/>
            <a:cxnLst/>
            <a:rect l="l" t="t" r="r" b="b"/>
            <a:pathLst>
              <a:path w="2716149" h="204597" extrusionOk="0">
                <a:moveTo>
                  <a:pt x="0" y="0"/>
                </a:moveTo>
                <a:lnTo>
                  <a:pt x="2716149" y="0"/>
                </a:lnTo>
                <a:lnTo>
                  <a:pt x="2716149" y="204597"/>
                </a:lnTo>
                <a:lnTo>
                  <a:pt x="0" y="204597"/>
                </a:lnTo>
                <a:close/>
              </a:path>
            </a:pathLst>
          </a:custGeom>
          <a:solidFill>
            <a:srgbClr val="A52020"/>
          </a:solidFill>
          <a:ln w="25400" cap="sq" cmpd="sng">
            <a:solidFill>
              <a:srgbClr val="A52020"/>
            </a:solidFill>
            <a:prstDash val="solid"/>
            <a:miter lim="8000"/>
            <a:headEnd type="none" w="sm" len="sm"/>
            <a:tailEnd type="none" w="sm" len="sm"/>
          </a:ln>
        </p:spPr>
      </p:sp>
      <p:grpSp>
        <p:nvGrpSpPr>
          <p:cNvPr id="239" name="Google Shape;239;p18"/>
          <p:cNvGrpSpPr/>
          <p:nvPr/>
        </p:nvGrpSpPr>
        <p:grpSpPr>
          <a:xfrm>
            <a:off x="1005840" y="7180898"/>
            <a:ext cx="14996160" cy="957263"/>
            <a:chOff x="0" y="-57150"/>
            <a:chExt cx="19994880" cy="1276350"/>
          </a:xfrm>
        </p:grpSpPr>
        <p:sp>
          <p:nvSpPr>
            <p:cNvPr id="240" name="Google Shape;240;p18"/>
            <p:cNvSpPr/>
            <p:nvPr/>
          </p:nvSpPr>
          <p:spPr>
            <a:xfrm>
              <a:off x="0" y="0"/>
              <a:ext cx="19994880" cy="1219200"/>
            </a:xfrm>
            <a:custGeom>
              <a:avLst/>
              <a:gdLst/>
              <a:ahLst/>
              <a:cxnLst/>
              <a:rect l="l" t="t" r="r" b="b"/>
              <a:pathLst>
                <a:path w="19994880" h="1219200" extrusionOk="0">
                  <a:moveTo>
                    <a:pt x="0" y="0"/>
                  </a:moveTo>
                  <a:lnTo>
                    <a:pt x="19994880" y="0"/>
                  </a:lnTo>
                  <a:lnTo>
                    <a:pt x="19994880" y="1219200"/>
                  </a:lnTo>
                  <a:lnTo>
                    <a:pt x="0" y="1219200"/>
                  </a:lnTo>
                  <a:close/>
                </a:path>
              </a:pathLst>
            </a:custGeom>
            <a:blipFill rotWithShape="1">
              <a:blip r:embed="rId3">
                <a:alphaModFix amt="0"/>
              </a:blip>
              <a:stretch>
                <a:fillRect t="-269570" b="-269570"/>
              </a:stretch>
            </a:blipFill>
            <a:ln>
              <a:noFill/>
            </a:ln>
          </p:spPr>
        </p:sp>
        <p:sp>
          <p:nvSpPr>
            <p:cNvPr id="241" name="Google Shape;241;p18"/>
            <p:cNvSpPr txBox="1"/>
            <p:nvPr/>
          </p:nvSpPr>
          <p:spPr>
            <a:xfrm>
              <a:off x="0" y="-57150"/>
              <a:ext cx="19994880" cy="127635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0" i="0" u="none" strike="noStrike" cap="none">
                  <a:solidFill>
                    <a:srgbClr val="FFFFFF"/>
                  </a:solidFill>
                  <a:latin typeface="Calibri"/>
                  <a:ea typeface="Calibri"/>
                  <a:cs typeface="Calibri"/>
                  <a:sym typeface="Calibri"/>
                </a:rPr>
                <a:t>Six harm types specific to the Arab world that are absent from every system card.</a:t>
              </a:r>
              <a:endParaRPr/>
            </a:p>
          </p:txBody>
        </p:sp>
      </p:grpSp>
      <p:sp>
        <p:nvSpPr>
          <p:cNvPr id="242" name="Google Shape;242;p18"/>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243" name="Google Shape;243;p18"/>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244" name="Google Shape;244;p18"/>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6</a:t>
            </a:r>
            <a:endParaRPr sz="1593">
              <a:solidFill>
                <a:srgbClr val="AAAAAA"/>
              </a:solidFill>
              <a:latin typeface="Calibri"/>
              <a:ea typeface="Calibri"/>
              <a:cs typeface="Calibri"/>
              <a:sym typeface="Calibri"/>
            </a:endParaRPr>
          </a:p>
        </p:txBody>
      </p:sp>
      <p:sp>
        <p:nvSpPr>
          <p:cNvPr id="245" name="Google Shape;245;p18"/>
          <p:cNvSpPr/>
          <p:nvPr/>
        </p:nvSpPr>
        <p:spPr>
          <a:xfrm>
            <a:off x="12878380" y="693745"/>
            <a:ext cx="4418971" cy="1202350"/>
          </a:xfrm>
          <a:custGeom>
            <a:avLst/>
            <a:gdLst/>
            <a:ahLst/>
            <a:cxnLst/>
            <a:rect l="l" t="t" r="r" b="b"/>
            <a:pathLst>
              <a:path w="3079422" h="801567" extrusionOk="0">
                <a:moveTo>
                  <a:pt x="0" y="0"/>
                </a:moveTo>
                <a:lnTo>
                  <a:pt x="3079422" y="0"/>
                </a:lnTo>
                <a:lnTo>
                  <a:pt x="3079422" y="801567"/>
                </a:lnTo>
                <a:lnTo>
                  <a:pt x="0" y="801567"/>
                </a:lnTo>
                <a:lnTo>
                  <a:pt x="0" y="0"/>
                </a:lnTo>
                <a:close/>
              </a:path>
            </a:pathLst>
          </a:custGeom>
          <a:blipFill rotWithShape="1">
            <a:blip r:embed="rId4">
              <a:alphaModFix/>
            </a:blip>
            <a:stretch>
              <a:fillRect/>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pSp>
        <p:nvGrpSpPr>
          <p:cNvPr id="250" name="Google Shape;250;p19"/>
          <p:cNvGrpSpPr/>
          <p:nvPr/>
        </p:nvGrpSpPr>
        <p:grpSpPr>
          <a:xfrm>
            <a:off x="731520" y="510771"/>
            <a:ext cx="7315200" cy="798093"/>
            <a:chOff x="0" y="0"/>
            <a:chExt cx="9753600" cy="1064125"/>
          </a:xfrm>
        </p:grpSpPr>
        <p:sp>
          <p:nvSpPr>
            <p:cNvPr id="251" name="Google Shape;251;p19"/>
            <p:cNvSpPr/>
            <p:nvPr/>
          </p:nvSpPr>
          <p:spPr>
            <a:xfrm>
              <a:off x="0" y="0"/>
              <a:ext cx="9753600" cy="877351"/>
            </a:xfrm>
            <a:custGeom>
              <a:avLst/>
              <a:gdLst/>
              <a:ahLst/>
              <a:cxnLst/>
              <a:rect l="l" t="t" r="r" b="b"/>
              <a:pathLst>
                <a:path w="9753600" h="877351" extrusionOk="0">
                  <a:moveTo>
                    <a:pt x="0" y="0"/>
                  </a:moveTo>
                  <a:lnTo>
                    <a:pt x="9753600" y="0"/>
                  </a:lnTo>
                  <a:lnTo>
                    <a:pt x="9753600" y="877351"/>
                  </a:lnTo>
                  <a:lnTo>
                    <a:pt x="0" y="877351"/>
                  </a:lnTo>
                  <a:close/>
                </a:path>
              </a:pathLst>
            </a:custGeom>
            <a:blipFill rotWithShape="1">
              <a:blip r:embed="rId3">
                <a:alphaModFix amt="0"/>
              </a:blip>
              <a:stretch>
                <a:fillRect t="-180479" b="-152740"/>
              </a:stretch>
            </a:blipFill>
            <a:ln>
              <a:noFill/>
            </a:ln>
          </p:spPr>
        </p:sp>
        <p:sp>
          <p:nvSpPr>
            <p:cNvPr id="252" name="Google Shape;252;p19"/>
            <p:cNvSpPr txBox="1"/>
            <p:nvPr/>
          </p:nvSpPr>
          <p:spPr>
            <a:xfrm>
              <a:off x="0" y="120025"/>
              <a:ext cx="9753600" cy="944100"/>
            </a:xfrm>
            <a:prstGeom prst="rect">
              <a:avLst/>
            </a:prstGeom>
            <a:noFill/>
            <a:ln>
              <a:noFill/>
            </a:ln>
          </p:spPr>
          <p:txBody>
            <a:bodyPr spcFirstLastPara="1" wrap="square" lIns="0" tIns="0" rIns="0" bIns="0" anchor="ctr" anchorCtr="0">
              <a:noAutofit/>
            </a:bodyPr>
            <a:lstStyle/>
            <a:p>
              <a:pPr marL="0" marR="0" lvl="0" indent="0" algn="l" rtl="0">
                <a:lnSpc>
                  <a:spcPct val="120006"/>
                </a:lnSpc>
                <a:spcBef>
                  <a:spcPts val="0"/>
                </a:spcBef>
                <a:spcAft>
                  <a:spcPts val="0"/>
                </a:spcAft>
                <a:buNone/>
              </a:pPr>
              <a:r>
                <a:rPr lang="en-US" sz="3799" b="1" i="0" u="none" strike="noStrike" cap="none">
                  <a:solidFill>
                    <a:srgbClr val="8B1A1A"/>
                  </a:solidFill>
                  <a:latin typeface="Calibri"/>
                  <a:ea typeface="Calibri"/>
                  <a:cs typeface="Calibri"/>
                  <a:sym typeface="Calibri"/>
                </a:rPr>
                <a:t>KEY FINDINGS</a:t>
              </a:r>
              <a:endParaRPr sz="1900"/>
            </a:p>
          </p:txBody>
        </p:sp>
      </p:grpSp>
      <p:grpSp>
        <p:nvGrpSpPr>
          <p:cNvPr id="253" name="Google Shape;253;p19"/>
          <p:cNvGrpSpPr/>
          <p:nvPr/>
        </p:nvGrpSpPr>
        <p:grpSpPr>
          <a:xfrm>
            <a:off x="731520" y="1140209"/>
            <a:ext cx="16824960" cy="1089279"/>
            <a:chOff x="0" y="-38100"/>
            <a:chExt cx="22433280" cy="1452372"/>
          </a:xfrm>
        </p:grpSpPr>
        <p:sp>
          <p:nvSpPr>
            <p:cNvPr id="254" name="Google Shape;254;p19"/>
            <p:cNvSpPr/>
            <p:nvPr/>
          </p:nvSpPr>
          <p:spPr>
            <a:xfrm>
              <a:off x="0" y="0"/>
              <a:ext cx="22433280" cy="1414272"/>
            </a:xfrm>
            <a:custGeom>
              <a:avLst/>
              <a:gdLst/>
              <a:ahLst/>
              <a:cxnLst/>
              <a:rect l="l" t="t" r="r" b="b"/>
              <a:pathLst>
                <a:path w="22433280" h="1414272" extrusionOk="0">
                  <a:moveTo>
                    <a:pt x="0" y="0"/>
                  </a:moveTo>
                  <a:lnTo>
                    <a:pt x="22433280" y="0"/>
                  </a:lnTo>
                  <a:lnTo>
                    <a:pt x="22433280" y="1414272"/>
                  </a:lnTo>
                  <a:lnTo>
                    <a:pt x="0" y="1414272"/>
                  </a:lnTo>
                  <a:close/>
                </a:path>
              </a:pathLst>
            </a:custGeom>
            <a:blipFill rotWithShape="1">
              <a:blip r:embed="rId3">
                <a:alphaModFix amt="0"/>
              </a:blip>
              <a:stretch>
                <a:fillRect t="-259062" b="-259062"/>
              </a:stretch>
            </a:blipFill>
            <a:ln>
              <a:noFill/>
            </a:ln>
          </p:spPr>
        </p:sp>
        <p:sp>
          <p:nvSpPr>
            <p:cNvPr id="255" name="Google Shape;255;p19"/>
            <p:cNvSpPr txBox="1"/>
            <p:nvPr/>
          </p:nvSpPr>
          <p:spPr>
            <a:xfrm>
              <a:off x="0" y="-38100"/>
              <a:ext cx="22433280" cy="1452372"/>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1" i="0" u="none" strike="noStrike" cap="none">
                  <a:solidFill>
                    <a:srgbClr val="1A1A1A"/>
                  </a:solidFill>
                  <a:latin typeface="Arial"/>
                  <a:ea typeface="Arial"/>
                  <a:cs typeface="Arial"/>
                  <a:sym typeface="Arial"/>
                </a:rPr>
                <a:t>Six Arabic-Specific Harm Categories:</a:t>
              </a:r>
              <a:endParaRPr/>
            </a:p>
          </p:txBody>
        </p:sp>
      </p:grpSp>
      <p:grpSp>
        <p:nvGrpSpPr>
          <p:cNvPr id="256" name="Google Shape;256;p19"/>
          <p:cNvGrpSpPr/>
          <p:nvPr/>
        </p:nvGrpSpPr>
        <p:grpSpPr>
          <a:xfrm>
            <a:off x="731520" y="2067401"/>
            <a:ext cx="16824960" cy="1224439"/>
            <a:chOff x="0" y="-47625"/>
            <a:chExt cx="22433280" cy="1632585"/>
          </a:xfrm>
        </p:grpSpPr>
        <p:sp>
          <p:nvSpPr>
            <p:cNvPr id="257" name="Google Shape;257;p19"/>
            <p:cNvSpPr/>
            <p:nvPr/>
          </p:nvSpPr>
          <p:spPr>
            <a:xfrm>
              <a:off x="0" y="0"/>
              <a:ext cx="22433280" cy="1584960"/>
            </a:xfrm>
            <a:custGeom>
              <a:avLst/>
              <a:gdLst/>
              <a:ahLst/>
              <a:cxnLst/>
              <a:rect l="l" t="t" r="r" b="b"/>
              <a:pathLst>
                <a:path w="22433280" h="1584960" extrusionOk="0">
                  <a:moveTo>
                    <a:pt x="0" y="0"/>
                  </a:moveTo>
                  <a:lnTo>
                    <a:pt x="22433280" y="0"/>
                  </a:lnTo>
                  <a:lnTo>
                    <a:pt x="22433280" y="1584960"/>
                  </a:lnTo>
                  <a:lnTo>
                    <a:pt x="0" y="1584960"/>
                  </a:lnTo>
                  <a:close/>
                </a:path>
              </a:pathLst>
            </a:custGeom>
            <a:blipFill rotWithShape="1">
              <a:blip r:embed="rId3">
                <a:alphaModFix amt="0"/>
              </a:blip>
              <a:stretch>
                <a:fillRect t="-225786" b="-225786"/>
              </a:stretch>
            </a:blipFill>
            <a:ln>
              <a:noFill/>
            </a:ln>
          </p:spPr>
        </p:sp>
        <p:sp>
          <p:nvSpPr>
            <p:cNvPr id="258" name="Google Shape;258;p19"/>
            <p:cNvSpPr txBox="1"/>
            <p:nvPr/>
          </p:nvSpPr>
          <p:spPr>
            <a:xfrm>
              <a:off x="0" y="-47625"/>
              <a:ext cx="22433280" cy="1632585"/>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499" b="0" i="0" u="none" strike="noStrike" cap="none">
                  <a:solidFill>
                    <a:srgbClr val="2D2D2D"/>
                  </a:solidFill>
                  <a:latin typeface="Calibri"/>
                  <a:ea typeface="Calibri"/>
                  <a:cs typeface="Calibri"/>
                  <a:sym typeface="Calibri"/>
                </a:rPr>
                <a:t>Ashraf et al. (</a:t>
              </a:r>
              <a:r>
                <a:rPr lang="en-US" sz="2499" b="0" i="1" u="none" strike="noStrike" cap="none">
                  <a:solidFill>
                    <a:srgbClr val="2D2D2D"/>
                  </a:solidFill>
                  <a:latin typeface="Calibri"/>
                  <a:ea typeface="Calibri"/>
                  <a:cs typeface="Calibri"/>
                  <a:sym typeface="Calibri"/>
                </a:rPr>
                <a:t>NAACL 2025</a:t>
              </a:r>
              <a:r>
                <a:rPr lang="en-US" sz="2499" b="0" i="0" u="none" strike="noStrike" cap="none">
                  <a:solidFill>
                    <a:srgbClr val="2D2D2D"/>
                  </a:solidFill>
                  <a:latin typeface="Calibri"/>
                  <a:ea typeface="Calibri"/>
                  <a:cs typeface="Calibri"/>
                  <a:sym typeface="Calibri"/>
                </a:rPr>
                <a:t>) identify six harm categories specific to the Arabic-speaking world accounting for 53% of their evaluation dataset. None appear in the published safety documentation of any AI assistant listed in the Ministry of AI's guide.</a:t>
              </a:r>
              <a:endParaRPr/>
            </a:p>
          </p:txBody>
        </p:sp>
      </p:grpSp>
      <p:sp>
        <p:nvSpPr>
          <p:cNvPr id="259" name="Google Shape;259;p19"/>
          <p:cNvSpPr/>
          <p:nvPr/>
        </p:nvSpPr>
        <p:spPr>
          <a:xfrm>
            <a:off x="718823" y="3553463"/>
            <a:ext cx="8255031" cy="1890807"/>
          </a:xfrm>
          <a:custGeom>
            <a:avLst/>
            <a:gdLst/>
            <a:ahLst/>
            <a:cxnLst/>
            <a:rect l="l" t="t" r="r" b="b"/>
            <a:pathLst>
              <a:path w="11006709" h="2521077" extrusionOk="0">
                <a:moveTo>
                  <a:pt x="0" y="0"/>
                </a:moveTo>
                <a:lnTo>
                  <a:pt x="11006709" y="0"/>
                </a:lnTo>
                <a:lnTo>
                  <a:pt x="11006709" y="2521077"/>
                </a:lnTo>
                <a:lnTo>
                  <a:pt x="0" y="2521077"/>
                </a:lnTo>
                <a:close/>
              </a:path>
            </a:pathLst>
          </a:custGeom>
          <a:solidFill>
            <a:srgbClr val="EEEBE6"/>
          </a:solidFill>
          <a:ln w="25400" cap="sq" cmpd="sng">
            <a:solidFill>
              <a:srgbClr val="DDDDDD"/>
            </a:solidFill>
            <a:prstDash val="solid"/>
            <a:miter lim="8000"/>
            <a:headEnd type="none" w="sm" len="sm"/>
            <a:tailEnd type="none" w="sm" len="sm"/>
          </a:ln>
        </p:spPr>
      </p:sp>
      <p:grpSp>
        <p:nvGrpSpPr>
          <p:cNvPr id="260" name="Google Shape;260;p19"/>
          <p:cNvGrpSpPr/>
          <p:nvPr/>
        </p:nvGrpSpPr>
        <p:grpSpPr>
          <a:xfrm>
            <a:off x="1005840" y="3679888"/>
            <a:ext cx="822960" cy="562928"/>
            <a:chOff x="0" y="-19050"/>
            <a:chExt cx="1097280" cy="750570"/>
          </a:xfrm>
        </p:grpSpPr>
        <p:sp>
          <p:nvSpPr>
            <p:cNvPr id="261" name="Google Shape;261;p19"/>
            <p:cNvSpPr/>
            <p:nvPr/>
          </p:nvSpPr>
          <p:spPr>
            <a:xfrm>
              <a:off x="0" y="0"/>
              <a:ext cx="1097280" cy="731520"/>
            </a:xfrm>
            <a:custGeom>
              <a:avLst/>
              <a:gdLst/>
              <a:ahLst/>
              <a:cxnLst/>
              <a:rect l="l" t="t" r="r" b="b"/>
              <a:pathLst>
                <a:path w="1097280" h="731520" extrusionOk="0">
                  <a:moveTo>
                    <a:pt x="0" y="0"/>
                  </a:moveTo>
                  <a:lnTo>
                    <a:pt x="1097280" y="0"/>
                  </a:lnTo>
                  <a:lnTo>
                    <a:pt x="1097280" y="731520"/>
                  </a:lnTo>
                  <a:lnTo>
                    <a:pt x="0" y="731520"/>
                  </a:lnTo>
                  <a:close/>
                </a:path>
              </a:pathLst>
            </a:custGeom>
            <a:blipFill rotWithShape="1">
              <a:blip r:embed="rId3">
                <a:alphaModFix amt="0"/>
              </a:blip>
              <a:stretch>
                <a:fillRect l="-35534" r="-35534"/>
              </a:stretch>
            </a:blipFill>
            <a:ln>
              <a:noFill/>
            </a:ln>
          </p:spPr>
        </p:sp>
        <p:sp>
          <p:nvSpPr>
            <p:cNvPr id="262" name="Google Shape;262;p19"/>
            <p:cNvSpPr txBox="1"/>
            <p:nvPr/>
          </p:nvSpPr>
          <p:spPr>
            <a:xfrm>
              <a:off x="0" y="-19050"/>
              <a:ext cx="1097280" cy="7505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Arial"/>
                  <a:ea typeface="Arial"/>
                  <a:cs typeface="Arial"/>
                  <a:sym typeface="Arial"/>
                </a:rPr>
                <a:t>01</a:t>
              </a:r>
              <a:endParaRPr/>
            </a:p>
          </p:txBody>
        </p:sp>
      </p:grpSp>
      <p:grpSp>
        <p:nvGrpSpPr>
          <p:cNvPr id="263" name="Google Shape;263;p19"/>
          <p:cNvGrpSpPr/>
          <p:nvPr/>
        </p:nvGrpSpPr>
        <p:grpSpPr>
          <a:xfrm>
            <a:off x="1865376" y="3665601"/>
            <a:ext cx="6729984" cy="577215"/>
            <a:chOff x="0" y="-38100"/>
            <a:chExt cx="8973312" cy="769620"/>
          </a:xfrm>
        </p:grpSpPr>
        <p:sp>
          <p:nvSpPr>
            <p:cNvPr id="264" name="Google Shape;264;p19"/>
            <p:cNvSpPr/>
            <p:nvPr/>
          </p:nvSpPr>
          <p:spPr>
            <a:xfrm>
              <a:off x="0" y="0"/>
              <a:ext cx="8973312" cy="731520"/>
            </a:xfrm>
            <a:custGeom>
              <a:avLst/>
              <a:gdLst/>
              <a:ahLst/>
              <a:cxnLst/>
              <a:rect l="l" t="t" r="r" b="b"/>
              <a:pathLst>
                <a:path w="8973312" h="731520" extrusionOk="0">
                  <a:moveTo>
                    <a:pt x="0" y="0"/>
                  </a:moveTo>
                  <a:lnTo>
                    <a:pt x="8973312" y="0"/>
                  </a:lnTo>
                  <a:lnTo>
                    <a:pt x="8973312" y="731520"/>
                  </a:lnTo>
                  <a:lnTo>
                    <a:pt x="0" y="731520"/>
                  </a:lnTo>
                  <a:close/>
                </a:path>
              </a:pathLst>
            </a:custGeom>
            <a:blipFill rotWithShape="1">
              <a:blip r:embed="rId3">
                <a:alphaModFix amt="0"/>
              </a:blip>
              <a:stretch>
                <a:fillRect t="-189006" b="-189006"/>
              </a:stretch>
            </a:blipFill>
            <a:ln>
              <a:noFill/>
            </a:ln>
          </p:spPr>
        </p:sp>
        <p:sp>
          <p:nvSpPr>
            <p:cNvPr id="265" name="Google Shape;265;p19"/>
            <p:cNvSpPr txBox="1"/>
            <p:nvPr/>
          </p:nvSpPr>
          <p:spPr>
            <a:xfrm>
              <a:off x="0" y="-38100"/>
              <a:ext cx="8973312" cy="76962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1A1A1A"/>
                  </a:solidFill>
                  <a:latin typeface="Calibri"/>
                  <a:ea typeface="Calibri"/>
                  <a:cs typeface="Calibri"/>
                  <a:sym typeface="Calibri"/>
                </a:rPr>
                <a:t>Political Governance</a:t>
              </a:r>
              <a:endParaRPr/>
            </a:p>
          </p:txBody>
        </p:sp>
      </p:grpSp>
      <p:grpSp>
        <p:nvGrpSpPr>
          <p:cNvPr id="266" name="Google Shape;266;p19"/>
          <p:cNvGrpSpPr/>
          <p:nvPr/>
        </p:nvGrpSpPr>
        <p:grpSpPr>
          <a:xfrm>
            <a:off x="1005840" y="4335113"/>
            <a:ext cx="7680960" cy="950119"/>
            <a:chOff x="0" y="-47625"/>
            <a:chExt cx="10241280" cy="1266825"/>
          </a:xfrm>
        </p:grpSpPr>
        <p:sp>
          <p:nvSpPr>
            <p:cNvPr id="267" name="Google Shape;267;p19"/>
            <p:cNvSpPr/>
            <p:nvPr/>
          </p:nvSpPr>
          <p:spPr>
            <a:xfrm>
              <a:off x="0" y="0"/>
              <a:ext cx="10241280" cy="1219200"/>
            </a:xfrm>
            <a:custGeom>
              <a:avLst/>
              <a:gdLst/>
              <a:ahLst/>
              <a:cxnLst/>
              <a:rect l="l" t="t" r="r" b="b"/>
              <a:pathLst>
                <a:path w="10241280" h="1219200" extrusionOk="0">
                  <a:moveTo>
                    <a:pt x="0" y="0"/>
                  </a:moveTo>
                  <a:lnTo>
                    <a:pt x="10241280" y="0"/>
                  </a:lnTo>
                  <a:lnTo>
                    <a:pt x="10241280" y="1219200"/>
                  </a:lnTo>
                  <a:lnTo>
                    <a:pt x="0" y="1219200"/>
                  </a:lnTo>
                  <a:close/>
                </a:path>
              </a:pathLst>
            </a:custGeom>
            <a:blipFill rotWithShape="1">
              <a:blip r:embed="rId3">
                <a:alphaModFix amt="0"/>
              </a:blip>
              <a:stretch>
                <a:fillRect t="-113677" b="-113677"/>
              </a:stretch>
            </a:blipFill>
            <a:ln>
              <a:noFill/>
            </a:ln>
          </p:spPr>
        </p:sp>
        <p:sp>
          <p:nvSpPr>
            <p:cNvPr id="268" name="Google Shape;268;p19"/>
            <p:cNvSpPr txBox="1"/>
            <p:nvPr/>
          </p:nvSpPr>
          <p:spPr>
            <a:xfrm>
              <a:off x="0" y="-47625"/>
              <a:ext cx="10241280" cy="126682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Prompts about government legitimacy, authority, and accountability where the same question is classified 'safe' or 'unsafe' depending on political framing.</a:t>
              </a:r>
              <a:endParaRPr/>
            </a:p>
          </p:txBody>
        </p:sp>
      </p:grpSp>
      <p:sp>
        <p:nvSpPr>
          <p:cNvPr id="269" name="Google Shape;269;p19"/>
          <p:cNvSpPr/>
          <p:nvPr/>
        </p:nvSpPr>
        <p:spPr>
          <a:xfrm>
            <a:off x="9405623" y="3553463"/>
            <a:ext cx="8255031" cy="1890807"/>
          </a:xfrm>
          <a:custGeom>
            <a:avLst/>
            <a:gdLst/>
            <a:ahLst/>
            <a:cxnLst/>
            <a:rect l="l" t="t" r="r" b="b"/>
            <a:pathLst>
              <a:path w="11006709" h="2521077" extrusionOk="0">
                <a:moveTo>
                  <a:pt x="0" y="0"/>
                </a:moveTo>
                <a:lnTo>
                  <a:pt x="11006709" y="0"/>
                </a:lnTo>
                <a:lnTo>
                  <a:pt x="11006709" y="2521077"/>
                </a:lnTo>
                <a:lnTo>
                  <a:pt x="0" y="2521077"/>
                </a:lnTo>
                <a:close/>
              </a:path>
            </a:pathLst>
          </a:custGeom>
          <a:solidFill>
            <a:srgbClr val="EEEBE6"/>
          </a:solidFill>
          <a:ln w="25400" cap="sq" cmpd="sng">
            <a:solidFill>
              <a:srgbClr val="DDDDDD"/>
            </a:solidFill>
            <a:prstDash val="solid"/>
            <a:miter lim="8000"/>
            <a:headEnd type="none" w="sm" len="sm"/>
            <a:tailEnd type="none" w="sm" len="sm"/>
          </a:ln>
        </p:spPr>
      </p:sp>
      <p:grpSp>
        <p:nvGrpSpPr>
          <p:cNvPr id="270" name="Google Shape;270;p19"/>
          <p:cNvGrpSpPr/>
          <p:nvPr/>
        </p:nvGrpSpPr>
        <p:grpSpPr>
          <a:xfrm>
            <a:off x="9692640" y="3679888"/>
            <a:ext cx="822960" cy="562928"/>
            <a:chOff x="0" y="-19050"/>
            <a:chExt cx="1097280" cy="750570"/>
          </a:xfrm>
        </p:grpSpPr>
        <p:sp>
          <p:nvSpPr>
            <p:cNvPr id="271" name="Google Shape;271;p19"/>
            <p:cNvSpPr/>
            <p:nvPr/>
          </p:nvSpPr>
          <p:spPr>
            <a:xfrm>
              <a:off x="0" y="0"/>
              <a:ext cx="1097280" cy="731520"/>
            </a:xfrm>
            <a:custGeom>
              <a:avLst/>
              <a:gdLst/>
              <a:ahLst/>
              <a:cxnLst/>
              <a:rect l="l" t="t" r="r" b="b"/>
              <a:pathLst>
                <a:path w="1097280" h="731520" extrusionOk="0">
                  <a:moveTo>
                    <a:pt x="0" y="0"/>
                  </a:moveTo>
                  <a:lnTo>
                    <a:pt x="1097280" y="0"/>
                  </a:lnTo>
                  <a:lnTo>
                    <a:pt x="1097280" y="731520"/>
                  </a:lnTo>
                  <a:lnTo>
                    <a:pt x="0" y="731520"/>
                  </a:lnTo>
                  <a:close/>
                </a:path>
              </a:pathLst>
            </a:custGeom>
            <a:blipFill rotWithShape="1">
              <a:blip r:embed="rId3">
                <a:alphaModFix amt="0"/>
              </a:blip>
              <a:stretch>
                <a:fillRect l="-35534" r="-35534"/>
              </a:stretch>
            </a:blipFill>
            <a:ln>
              <a:noFill/>
            </a:ln>
          </p:spPr>
        </p:sp>
        <p:sp>
          <p:nvSpPr>
            <p:cNvPr id="272" name="Google Shape;272;p19"/>
            <p:cNvSpPr txBox="1"/>
            <p:nvPr/>
          </p:nvSpPr>
          <p:spPr>
            <a:xfrm>
              <a:off x="0" y="-19050"/>
              <a:ext cx="1097280" cy="7505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Arial"/>
                  <a:ea typeface="Arial"/>
                  <a:cs typeface="Arial"/>
                  <a:sym typeface="Arial"/>
                </a:rPr>
                <a:t>02</a:t>
              </a:r>
              <a:endParaRPr/>
            </a:p>
          </p:txBody>
        </p:sp>
      </p:grpSp>
      <p:grpSp>
        <p:nvGrpSpPr>
          <p:cNvPr id="273" name="Google Shape;273;p19"/>
          <p:cNvGrpSpPr/>
          <p:nvPr/>
        </p:nvGrpSpPr>
        <p:grpSpPr>
          <a:xfrm>
            <a:off x="10552176" y="3665601"/>
            <a:ext cx="6729984" cy="577215"/>
            <a:chOff x="0" y="-38100"/>
            <a:chExt cx="8973312" cy="769620"/>
          </a:xfrm>
        </p:grpSpPr>
        <p:sp>
          <p:nvSpPr>
            <p:cNvPr id="274" name="Google Shape;274;p19"/>
            <p:cNvSpPr/>
            <p:nvPr/>
          </p:nvSpPr>
          <p:spPr>
            <a:xfrm>
              <a:off x="0" y="0"/>
              <a:ext cx="8973312" cy="731520"/>
            </a:xfrm>
            <a:custGeom>
              <a:avLst/>
              <a:gdLst/>
              <a:ahLst/>
              <a:cxnLst/>
              <a:rect l="l" t="t" r="r" b="b"/>
              <a:pathLst>
                <a:path w="8973312" h="731520" extrusionOk="0">
                  <a:moveTo>
                    <a:pt x="0" y="0"/>
                  </a:moveTo>
                  <a:lnTo>
                    <a:pt x="8973312" y="0"/>
                  </a:lnTo>
                  <a:lnTo>
                    <a:pt x="8973312" y="731520"/>
                  </a:lnTo>
                  <a:lnTo>
                    <a:pt x="0" y="731520"/>
                  </a:lnTo>
                  <a:close/>
                </a:path>
              </a:pathLst>
            </a:custGeom>
            <a:blipFill rotWithShape="1">
              <a:blip r:embed="rId3">
                <a:alphaModFix amt="0"/>
              </a:blip>
              <a:stretch>
                <a:fillRect t="-189006" b="-189006"/>
              </a:stretch>
            </a:blipFill>
            <a:ln>
              <a:noFill/>
            </a:ln>
          </p:spPr>
        </p:sp>
        <p:sp>
          <p:nvSpPr>
            <p:cNvPr id="275" name="Google Shape;275;p19"/>
            <p:cNvSpPr txBox="1"/>
            <p:nvPr/>
          </p:nvSpPr>
          <p:spPr>
            <a:xfrm>
              <a:off x="0" y="-38100"/>
              <a:ext cx="8973312" cy="76962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1A1A1A"/>
                  </a:solidFill>
                  <a:latin typeface="Calibri"/>
                  <a:ea typeface="Calibri"/>
                  <a:cs typeface="Calibri"/>
                  <a:sym typeface="Calibri"/>
                </a:rPr>
                <a:t>Human Rights</a:t>
              </a:r>
              <a:endParaRPr/>
            </a:p>
          </p:txBody>
        </p:sp>
      </p:grpSp>
      <p:grpSp>
        <p:nvGrpSpPr>
          <p:cNvPr id="276" name="Google Shape;276;p19"/>
          <p:cNvGrpSpPr/>
          <p:nvPr/>
        </p:nvGrpSpPr>
        <p:grpSpPr>
          <a:xfrm>
            <a:off x="9692640" y="4335113"/>
            <a:ext cx="7680960" cy="950119"/>
            <a:chOff x="0" y="-47625"/>
            <a:chExt cx="10241280" cy="1266825"/>
          </a:xfrm>
        </p:grpSpPr>
        <p:sp>
          <p:nvSpPr>
            <p:cNvPr id="277" name="Google Shape;277;p19"/>
            <p:cNvSpPr/>
            <p:nvPr/>
          </p:nvSpPr>
          <p:spPr>
            <a:xfrm>
              <a:off x="0" y="0"/>
              <a:ext cx="10241280" cy="1219200"/>
            </a:xfrm>
            <a:custGeom>
              <a:avLst/>
              <a:gdLst/>
              <a:ahLst/>
              <a:cxnLst/>
              <a:rect l="l" t="t" r="r" b="b"/>
              <a:pathLst>
                <a:path w="10241280" h="1219200" extrusionOk="0">
                  <a:moveTo>
                    <a:pt x="0" y="0"/>
                  </a:moveTo>
                  <a:lnTo>
                    <a:pt x="10241280" y="0"/>
                  </a:lnTo>
                  <a:lnTo>
                    <a:pt x="10241280" y="1219200"/>
                  </a:lnTo>
                  <a:lnTo>
                    <a:pt x="0" y="1219200"/>
                  </a:lnTo>
                  <a:close/>
                </a:path>
              </a:pathLst>
            </a:custGeom>
            <a:blipFill rotWithShape="1">
              <a:blip r:embed="rId3">
                <a:alphaModFix amt="0"/>
              </a:blip>
              <a:stretch>
                <a:fillRect t="-113677" b="-113677"/>
              </a:stretch>
            </a:blipFill>
            <a:ln>
              <a:noFill/>
            </a:ln>
          </p:spPr>
        </p:sp>
        <p:sp>
          <p:nvSpPr>
            <p:cNvPr id="278" name="Google Shape;278;p19"/>
            <p:cNvSpPr txBox="1"/>
            <p:nvPr/>
          </p:nvSpPr>
          <p:spPr>
            <a:xfrm>
              <a:off x="0" y="-47625"/>
              <a:ext cx="10241280" cy="126682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Content engaging with civil liberties and freedom of expression in regional contexts requiring awareness of local legal and political norms.</a:t>
              </a:r>
              <a:endParaRPr/>
            </a:p>
          </p:txBody>
        </p:sp>
      </p:grpSp>
      <p:sp>
        <p:nvSpPr>
          <p:cNvPr id="279" name="Google Shape;279;p19"/>
          <p:cNvSpPr/>
          <p:nvPr/>
        </p:nvSpPr>
        <p:spPr>
          <a:xfrm>
            <a:off x="718823" y="5565143"/>
            <a:ext cx="8255031" cy="1890807"/>
          </a:xfrm>
          <a:custGeom>
            <a:avLst/>
            <a:gdLst/>
            <a:ahLst/>
            <a:cxnLst/>
            <a:rect l="l" t="t" r="r" b="b"/>
            <a:pathLst>
              <a:path w="11006709" h="2521077" extrusionOk="0">
                <a:moveTo>
                  <a:pt x="0" y="0"/>
                </a:moveTo>
                <a:lnTo>
                  <a:pt x="11006709" y="0"/>
                </a:lnTo>
                <a:lnTo>
                  <a:pt x="11006709" y="2521077"/>
                </a:lnTo>
                <a:lnTo>
                  <a:pt x="0" y="2521077"/>
                </a:lnTo>
                <a:close/>
              </a:path>
            </a:pathLst>
          </a:custGeom>
          <a:solidFill>
            <a:srgbClr val="EEEBE6"/>
          </a:solidFill>
          <a:ln w="25400" cap="sq" cmpd="sng">
            <a:solidFill>
              <a:srgbClr val="DDDDDD"/>
            </a:solidFill>
            <a:prstDash val="solid"/>
            <a:miter lim="8000"/>
            <a:headEnd type="none" w="sm" len="sm"/>
            <a:tailEnd type="none" w="sm" len="sm"/>
          </a:ln>
        </p:spPr>
      </p:sp>
      <p:grpSp>
        <p:nvGrpSpPr>
          <p:cNvPr id="280" name="Google Shape;280;p19"/>
          <p:cNvGrpSpPr/>
          <p:nvPr/>
        </p:nvGrpSpPr>
        <p:grpSpPr>
          <a:xfrm>
            <a:off x="1005840" y="5691569"/>
            <a:ext cx="822960" cy="562928"/>
            <a:chOff x="0" y="-19050"/>
            <a:chExt cx="1097280" cy="750570"/>
          </a:xfrm>
        </p:grpSpPr>
        <p:sp>
          <p:nvSpPr>
            <p:cNvPr id="281" name="Google Shape;281;p19"/>
            <p:cNvSpPr/>
            <p:nvPr/>
          </p:nvSpPr>
          <p:spPr>
            <a:xfrm>
              <a:off x="0" y="0"/>
              <a:ext cx="1097280" cy="731520"/>
            </a:xfrm>
            <a:custGeom>
              <a:avLst/>
              <a:gdLst/>
              <a:ahLst/>
              <a:cxnLst/>
              <a:rect l="l" t="t" r="r" b="b"/>
              <a:pathLst>
                <a:path w="1097280" h="731520" extrusionOk="0">
                  <a:moveTo>
                    <a:pt x="0" y="0"/>
                  </a:moveTo>
                  <a:lnTo>
                    <a:pt x="1097280" y="0"/>
                  </a:lnTo>
                  <a:lnTo>
                    <a:pt x="1097280" y="731520"/>
                  </a:lnTo>
                  <a:lnTo>
                    <a:pt x="0" y="731520"/>
                  </a:lnTo>
                  <a:close/>
                </a:path>
              </a:pathLst>
            </a:custGeom>
            <a:blipFill rotWithShape="1">
              <a:blip r:embed="rId3">
                <a:alphaModFix amt="0"/>
              </a:blip>
              <a:stretch>
                <a:fillRect l="-35534" r="-35534"/>
              </a:stretch>
            </a:blipFill>
            <a:ln>
              <a:noFill/>
            </a:ln>
          </p:spPr>
        </p:sp>
        <p:sp>
          <p:nvSpPr>
            <p:cNvPr id="282" name="Google Shape;282;p19"/>
            <p:cNvSpPr txBox="1"/>
            <p:nvPr/>
          </p:nvSpPr>
          <p:spPr>
            <a:xfrm>
              <a:off x="0" y="-19050"/>
              <a:ext cx="1097280" cy="7505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Arial"/>
                  <a:ea typeface="Arial"/>
                  <a:cs typeface="Arial"/>
                  <a:sym typeface="Arial"/>
                </a:rPr>
                <a:t>03</a:t>
              </a:r>
              <a:endParaRPr/>
            </a:p>
          </p:txBody>
        </p:sp>
      </p:grpSp>
      <p:grpSp>
        <p:nvGrpSpPr>
          <p:cNvPr id="283" name="Google Shape;283;p19"/>
          <p:cNvGrpSpPr/>
          <p:nvPr/>
        </p:nvGrpSpPr>
        <p:grpSpPr>
          <a:xfrm>
            <a:off x="1865376" y="5677281"/>
            <a:ext cx="6729984" cy="577215"/>
            <a:chOff x="0" y="-38100"/>
            <a:chExt cx="8973312" cy="769620"/>
          </a:xfrm>
        </p:grpSpPr>
        <p:sp>
          <p:nvSpPr>
            <p:cNvPr id="284" name="Google Shape;284;p19"/>
            <p:cNvSpPr/>
            <p:nvPr/>
          </p:nvSpPr>
          <p:spPr>
            <a:xfrm>
              <a:off x="0" y="0"/>
              <a:ext cx="8973312" cy="731520"/>
            </a:xfrm>
            <a:custGeom>
              <a:avLst/>
              <a:gdLst/>
              <a:ahLst/>
              <a:cxnLst/>
              <a:rect l="l" t="t" r="r" b="b"/>
              <a:pathLst>
                <a:path w="8973312" h="731520" extrusionOk="0">
                  <a:moveTo>
                    <a:pt x="0" y="0"/>
                  </a:moveTo>
                  <a:lnTo>
                    <a:pt x="8973312" y="0"/>
                  </a:lnTo>
                  <a:lnTo>
                    <a:pt x="8973312" y="731520"/>
                  </a:lnTo>
                  <a:lnTo>
                    <a:pt x="0" y="731520"/>
                  </a:lnTo>
                  <a:close/>
                </a:path>
              </a:pathLst>
            </a:custGeom>
            <a:blipFill rotWithShape="1">
              <a:blip r:embed="rId3">
                <a:alphaModFix amt="0"/>
              </a:blip>
              <a:stretch>
                <a:fillRect t="-189006" b="-189006"/>
              </a:stretch>
            </a:blipFill>
            <a:ln>
              <a:noFill/>
            </a:ln>
          </p:spPr>
        </p:sp>
        <p:sp>
          <p:nvSpPr>
            <p:cNvPr id="285" name="Google Shape;285;p19"/>
            <p:cNvSpPr txBox="1"/>
            <p:nvPr/>
          </p:nvSpPr>
          <p:spPr>
            <a:xfrm>
              <a:off x="0" y="-38100"/>
              <a:ext cx="8973312" cy="76962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1A1A1A"/>
                  </a:solidFill>
                  <a:latin typeface="Calibri"/>
                  <a:ea typeface="Calibri"/>
                  <a:cs typeface="Calibri"/>
                  <a:sym typeface="Calibri"/>
                </a:rPr>
                <a:t>Regional Conflicts</a:t>
              </a:r>
              <a:endParaRPr/>
            </a:p>
          </p:txBody>
        </p:sp>
      </p:grpSp>
      <p:grpSp>
        <p:nvGrpSpPr>
          <p:cNvPr id="286" name="Google Shape;286;p19"/>
          <p:cNvGrpSpPr/>
          <p:nvPr/>
        </p:nvGrpSpPr>
        <p:grpSpPr>
          <a:xfrm>
            <a:off x="1005840" y="6346793"/>
            <a:ext cx="7680960" cy="950119"/>
            <a:chOff x="0" y="-47625"/>
            <a:chExt cx="10241280" cy="1266825"/>
          </a:xfrm>
        </p:grpSpPr>
        <p:sp>
          <p:nvSpPr>
            <p:cNvPr id="287" name="Google Shape;287;p19"/>
            <p:cNvSpPr/>
            <p:nvPr/>
          </p:nvSpPr>
          <p:spPr>
            <a:xfrm>
              <a:off x="0" y="0"/>
              <a:ext cx="10241280" cy="1219200"/>
            </a:xfrm>
            <a:custGeom>
              <a:avLst/>
              <a:gdLst/>
              <a:ahLst/>
              <a:cxnLst/>
              <a:rect l="l" t="t" r="r" b="b"/>
              <a:pathLst>
                <a:path w="10241280" h="1219200" extrusionOk="0">
                  <a:moveTo>
                    <a:pt x="0" y="0"/>
                  </a:moveTo>
                  <a:lnTo>
                    <a:pt x="10241280" y="0"/>
                  </a:lnTo>
                  <a:lnTo>
                    <a:pt x="10241280" y="1219200"/>
                  </a:lnTo>
                  <a:lnTo>
                    <a:pt x="0" y="1219200"/>
                  </a:lnTo>
                  <a:close/>
                </a:path>
              </a:pathLst>
            </a:custGeom>
            <a:blipFill rotWithShape="1">
              <a:blip r:embed="rId3">
                <a:alphaModFix amt="0"/>
              </a:blip>
              <a:stretch>
                <a:fillRect t="-113677" b="-113677"/>
              </a:stretch>
            </a:blipFill>
            <a:ln>
              <a:noFill/>
            </a:ln>
          </p:spPr>
        </p:sp>
        <p:sp>
          <p:nvSpPr>
            <p:cNvPr id="288" name="Google Shape;288;p19"/>
            <p:cNvSpPr txBox="1"/>
            <p:nvPr/>
          </p:nvSpPr>
          <p:spPr>
            <a:xfrm>
              <a:off x="0" y="-47625"/>
              <a:ext cx="10241280" cy="126682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Questions about active and historical conflicts in the Arab world, carrying high sensitivity given ongoing geopolitical stakes.</a:t>
              </a:r>
              <a:endParaRPr/>
            </a:p>
          </p:txBody>
        </p:sp>
      </p:grpSp>
      <p:sp>
        <p:nvSpPr>
          <p:cNvPr id="289" name="Google Shape;289;p19"/>
          <p:cNvSpPr/>
          <p:nvPr/>
        </p:nvSpPr>
        <p:spPr>
          <a:xfrm>
            <a:off x="9405623" y="5565143"/>
            <a:ext cx="8255031" cy="1890807"/>
          </a:xfrm>
          <a:custGeom>
            <a:avLst/>
            <a:gdLst/>
            <a:ahLst/>
            <a:cxnLst/>
            <a:rect l="l" t="t" r="r" b="b"/>
            <a:pathLst>
              <a:path w="11006709" h="2521077" extrusionOk="0">
                <a:moveTo>
                  <a:pt x="0" y="0"/>
                </a:moveTo>
                <a:lnTo>
                  <a:pt x="11006709" y="0"/>
                </a:lnTo>
                <a:lnTo>
                  <a:pt x="11006709" y="2521077"/>
                </a:lnTo>
                <a:lnTo>
                  <a:pt x="0" y="2521077"/>
                </a:lnTo>
                <a:close/>
              </a:path>
            </a:pathLst>
          </a:custGeom>
          <a:solidFill>
            <a:srgbClr val="EEEBE6"/>
          </a:solidFill>
          <a:ln w="25400" cap="sq" cmpd="sng">
            <a:solidFill>
              <a:srgbClr val="DDDDDD"/>
            </a:solidFill>
            <a:prstDash val="solid"/>
            <a:miter lim="8000"/>
            <a:headEnd type="none" w="sm" len="sm"/>
            <a:tailEnd type="none" w="sm" len="sm"/>
          </a:ln>
        </p:spPr>
      </p:sp>
      <p:grpSp>
        <p:nvGrpSpPr>
          <p:cNvPr id="290" name="Google Shape;290;p19"/>
          <p:cNvGrpSpPr/>
          <p:nvPr/>
        </p:nvGrpSpPr>
        <p:grpSpPr>
          <a:xfrm>
            <a:off x="9692640" y="5691569"/>
            <a:ext cx="822960" cy="562928"/>
            <a:chOff x="0" y="-19050"/>
            <a:chExt cx="1097280" cy="750570"/>
          </a:xfrm>
        </p:grpSpPr>
        <p:sp>
          <p:nvSpPr>
            <p:cNvPr id="291" name="Google Shape;291;p19"/>
            <p:cNvSpPr/>
            <p:nvPr/>
          </p:nvSpPr>
          <p:spPr>
            <a:xfrm>
              <a:off x="0" y="0"/>
              <a:ext cx="1097280" cy="731520"/>
            </a:xfrm>
            <a:custGeom>
              <a:avLst/>
              <a:gdLst/>
              <a:ahLst/>
              <a:cxnLst/>
              <a:rect l="l" t="t" r="r" b="b"/>
              <a:pathLst>
                <a:path w="1097280" h="731520" extrusionOk="0">
                  <a:moveTo>
                    <a:pt x="0" y="0"/>
                  </a:moveTo>
                  <a:lnTo>
                    <a:pt x="1097280" y="0"/>
                  </a:lnTo>
                  <a:lnTo>
                    <a:pt x="1097280" y="731520"/>
                  </a:lnTo>
                  <a:lnTo>
                    <a:pt x="0" y="731520"/>
                  </a:lnTo>
                  <a:close/>
                </a:path>
              </a:pathLst>
            </a:custGeom>
            <a:blipFill rotWithShape="1">
              <a:blip r:embed="rId3">
                <a:alphaModFix amt="0"/>
              </a:blip>
              <a:stretch>
                <a:fillRect l="-35534" r="-35534"/>
              </a:stretch>
            </a:blipFill>
            <a:ln>
              <a:noFill/>
            </a:ln>
          </p:spPr>
        </p:sp>
        <p:sp>
          <p:nvSpPr>
            <p:cNvPr id="292" name="Google Shape;292;p19"/>
            <p:cNvSpPr txBox="1"/>
            <p:nvPr/>
          </p:nvSpPr>
          <p:spPr>
            <a:xfrm>
              <a:off x="0" y="-19050"/>
              <a:ext cx="1097280" cy="7505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Arial"/>
                  <a:ea typeface="Arial"/>
                  <a:cs typeface="Arial"/>
                  <a:sym typeface="Arial"/>
                </a:rPr>
                <a:t>04</a:t>
              </a:r>
              <a:endParaRPr/>
            </a:p>
          </p:txBody>
        </p:sp>
      </p:grpSp>
      <p:grpSp>
        <p:nvGrpSpPr>
          <p:cNvPr id="293" name="Google Shape;293;p19"/>
          <p:cNvGrpSpPr/>
          <p:nvPr/>
        </p:nvGrpSpPr>
        <p:grpSpPr>
          <a:xfrm>
            <a:off x="10552176" y="5677281"/>
            <a:ext cx="6729984" cy="577215"/>
            <a:chOff x="0" y="-38100"/>
            <a:chExt cx="8973312" cy="769620"/>
          </a:xfrm>
        </p:grpSpPr>
        <p:sp>
          <p:nvSpPr>
            <p:cNvPr id="294" name="Google Shape;294;p19"/>
            <p:cNvSpPr/>
            <p:nvPr/>
          </p:nvSpPr>
          <p:spPr>
            <a:xfrm>
              <a:off x="0" y="0"/>
              <a:ext cx="8973312" cy="731520"/>
            </a:xfrm>
            <a:custGeom>
              <a:avLst/>
              <a:gdLst/>
              <a:ahLst/>
              <a:cxnLst/>
              <a:rect l="l" t="t" r="r" b="b"/>
              <a:pathLst>
                <a:path w="8973312" h="731520" extrusionOk="0">
                  <a:moveTo>
                    <a:pt x="0" y="0"/>
                  </a:moveTo>
                  <a:lnTo>
                    <a:pt x="8973312" y="0"/>
                  </a:lnTo>
                  <a:lnTo>
                    <a:pt x="8973312" y="731520"/>
                  </a:lnTo>
                  <a:lnTo>
                    <a:pt x="0" y="731520"/>
                  </a:lnTo>
                  <a:close/>
                </a:path>
              </a:pathLst>
            </a:custGeom>
            <a:blipFill rotWithShape="1">
              <a:blip r:embed="rId3">
                <a:alphaModFix amt="0"/>
              </a:blip>
              <a:stretch>
                <a:fillRect t="-189006" b="-189006"/>
              </a:stretch>
            </a:blipFill>
            <a:ln>
              <a:noFill/>
            </a:ln>
          </p:spPr>
        </p:sp>
        <p:sp>
          <p:nvSpPr>
            <p:cNvPr id="295" name="Google Shape;295;p19"/>
            <p:cNvSpPr txBox="1"/>
            <p:nvPr/>
          </p:nvSpPr>
          <p:spPr>
            <a:xfrm>
              <a:off x="0" y="-38100"/>
              <a:ext cx="8973312" cy="76962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1A1A1A"/>
                  </a:solidFill>
                  <a:latin typeface="Calibri"/>
                  <a:ea typeface="Calibri"/>
                  <a:cs typeface="Calibri"/>
                  <a:sym typeface="Calibri"/>
                </a:rPr>
                <a:t>Economic Policy</a:t>
              </a:r>
              <a:endParaRPr/>
            </a:p>
          </p:txBody>
        </p:sp>
      </p:grpSp>
      <p:grpSp>
        <p:nvGrpSpPr>
          <p:cNvPr id="296" name="Google Shape;296;p19"/>
          <p:cNvGrpSpPr/>
          <p:nvPr/>
        </p:nvGrpSpPr>
        <p:grpSpPr>
          <a:xfrm>
            <a:off x="9692640" y="6346793"/>
            <a:ext cx="7680960" cy="950119"/>
            <a:chOff x="0" y="-47625"/>
            <a:chExt cx="10241280" cy="1266825"/>
          </a:xfrm>
        </p:grpSpPr>
        <p:sp>
          <p:nvSpPr>
            <p:cNvPr id="297" name="Google Shape;297;p19"/>
            <p:cNvSpPr/>
            <p:nvPr/>
          </p:nvSpPr>
          <p:spPr>
            <a:xfrm>
              <a:off x="0" y="0"/>
              <a:ext cx="10241280" cy="1219200"/>
            </a:xfrm>
            <a:custGeom>
              <a:avLst/>
              <a:gdLst/>
              <a:ahLst/>
              <a:cxnLst/>
              <a:rect l="l" t="t" r="r" b="b"/>
              <a:pathLst>
                <a:path w="10241280" h="1219200" extrusionOk="0">
                  <a:moveTo>
                    <a:pt x="0" y="0"/>
                  </a:moveTo>
                  <a:lnTo>
                    <a:pt x="10241280" y="0"/>
                  </a:lnTo>
                  <a:lnTo>
                    <a:pt x="10241280" y="1219200"/>
                  </a:lnTo>
                  <a:lnTo>
                    <a:pt x="0" y="1219200"/>
                  </a:lnTo>
                  <a:close/>
                </a:path>
              </a:pathLst>
            </a:custGeom>
            <a:blipFill rotWithShape="1">
              <a:blip r:embed="rId3">
                <a:alphaModFix amt="0"/>
              </a:blip>
              <a:stretch>
                <a:fillRect t="-113677" b="-113677"/>
              </a:stretch>
            </a:blipFill>
            <a:ln>
              <a:noFill/>
            </a:ln>
          </p:spPr>
        </p:sp>
        <p:sp>
          <p:nvSpPr>
            <p:cNvPr id="298" name="Google Shape;298;p19"/>
            <p:cNvSpPr txBox="1"/>
            <p:nvPr/>
          </p:nvSpPr>
          <p:spPr>
            <a:xfrm>
              <a:off x="0" y="-47625"/>
              <a:ext cx="10241280" cy="126682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Content engaging with financial policy and economic critique in ways that carry political weight in Gulf and Arab contexts.</a:t>
              </a:r>
              <a:endParaRPr/>
            </a:p>
          </p:txBody>
        </p:sp>
      </p:grpSp>
      <p:sp>
        <p:nvSpPr>
          <p:cNvPr id="299" name="Google Shape;299;p19"/>
          <p:cNvSpPr/>
          <p:nvPr/>
        </p:nvSpPr>
        <p:spPr>
          <a:xfrm>
            <a:off x="718823" y="7576823"/>
            <a:ext cx="8255031" cy="1890807"/>
          </a:xfrm>
          <a:custGeom>
            <a:avLst/>
            <a:gdLst/>
            <a:ahLst/>
            <a:cxnLst/>
            <a:rect l="l" t="t" r="r" b="b"/>
            <a:pathLst>
              <a:path w="11006709" h="2521077" extrusionOk="0">
                <a:moveTo>
                  <a:pt x="0" y="0"/>
                </a:moveTo>
                <a:lnTo>
                  <a:pt x="11006709" y="0"/>
                </a:lnTo>
                <a:lnTo>
                  <a:pt x="11006709" y="2521077"/>
                </a:lnTo>
                <a:lnTo>
                  <a:pt x="0" y="2521077"/>
                </a:lnTo>
                <a:close/>
              </a:path>
            </a:pathLst>
          </a:custGeom>
          <a:solidFill>
            <a:srgbClr val="EEEBE6"/>
          </a:solidFill>
          <a:ln w="25400" cap="sq" cmpd="sng">
            <a:solidFill>
              <a:srgbClr val="DDDDDD"/>
            </a:solidFill>
            <a:prstDash val="solid"/>
            <a:miter lim="8000"/>
            <a:headEnd type="none" w="sm" len="sm"/>
            <a:tailEnd type="none" w="sm" len="sm"/>
          </a:ln>
        </p:spPr>
      </p:sp>
      <p:grpSp>
        <p:nvGrpSpPr>
          <p:cNvPr id="300" name="Google Shape;300;p19"/>
          <p:cNvGrpSpPr/>
          <p:nvPr/>
        </p:nvGrpSpPr>
        <p:grpSpPr>
          <a:xfrm>
            <a:off x="1005840" y="7703249"/>
            <a:ext cx="822960" cy="562927"/>
            <a:chOff x="0" y="-19050"/>
            <a:chExt cx="1097280" cy="750570"/>
          </a:xfrm>
        </p:grpSpPr>
        <p:sp>
          <p:nvSpPr>
            <p:cNvPr id="301" name="Google Shape;301;p19"/>
            <p:cNvSpPr/>
            <p:nvPr/>
          </p:nvSpPr>
          <p:spPr>
            <a:xfrm>
              <a:off x="0" y="0"/>
              <a:ext cx="1097280" cy="731520"/>
            </a:xfrm>
            <a:custGeom>
              <a:avLst/>
              <a:gdLst/>
              <a:ahLst/>
              <a:cxnLst/>
              <a:rect l="l" t="t" r="r" b="b"/>
              <a:pathLst>
                <a:path w="1097280" h="731520" extrusionOk="0">
                  <a:moveTo>
                    <a:pt x="0" y="0"/>
                  </a:moveTo>
                  <a:lnTo>
                    <a:pt x="1097280" y="0"/>
                  </a:lnTo>
                  <a:lnTo>
                    <a:pt x="1097280" y="731520"/>
                  </a:lnTo>
                  <a:lnTo>
                    <a:pt x="0" y="731520"/>
                  </a:lnTo>
                  <a:close/>
                </a:path>
              </a:pathLst>
            </a:custGeom>
            <a:blipFill rotWithShape="1">
              <a:blip r:embed="rId3">
                <a:alphaModFix amt="0"/>
              </a:blip>
              <a:stretch>
                <a:fillRect l="-35534" r="-35534"/>
              </a:stretch>
            </a:blipFill>
            <a:ln>
              <a:noFill/>
            </a:ln>
          </p:spPr>
        </p:sp>
        <p:sp>
          <p:nvSpPr>
            <p:cNvPr id="302" name="Google Shape;302;p19"/>
            <p:cNvSpPr txBox="1"/>
            <p:nvPr/>
          </p:nvSpPr>
          <p:spPr>
            <a:xfrm>
              <a:off x="0" y="-19050"/>
              <a:ext cx="1097280" cy="7505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Arial"/>
                  <a:ea typeface="Arial"/>
                  <a:cs typeface="Arial"/>
                  <a:sym typeface="Arial"/>
                </a:rPr>
                <a:t>05</a:t>
              </a:r>
              <a:endParaRPr/>
            </a:p>
          </p:txBody>
        </p:sp>
      </p:grpSp>
      <p:grpSp>
        <p:nvGrpSpPr>
          <p:cNvPr id="303" name="Google Shape;303;p19"/>
          <p:cNvGrpSpPr/>
          <p:nvPr/>
        </p:nvGrpSpPr>
        <p:grpSpPr>
          <a:xfrm>
            <a:off x="1828800" y="7688961"/>
            <a:ext cx="6729984" cy="577215"/>
            <a:chOff x="0" y="-38100"/>
            <a:chExt cx="8973312" cy="769620"/>
          </a:xfrm>
        </p:grpSpPr>
        <p:sp>
          <p:nvSpPr>
            <p:cNvPr id="304" name="Google Shape;304;p19"/>
            <p:cNvSpPr/>
            <p:nvPr/>
          </p:nvSpPr>
          <p:spPr>
            <a:xfrm>
              <a:off x="0" y="0"/>
              <a:ext cx="8973312" cy="731520"/>
            </a:xfrm>
            <a:custGeom>
              <a:avLst/>
              <a:gdLst/>
              <a:ahLst/>
              <a:cxnLst/>
              <a:rect l="l" t="t" r="r" b="b"/>
              <a:pathLst>
                <a:path w="8973312" h="731520" extrusionOk="0">
                  <a:moveTo>
                    <a:pt x="0" y="0"/>
                  </a:moveTo>
                  <a:lnTo>
                    <a:pt x="8973312" y="0"/>
                  </a:lnTo>
                  <a:lnTo>
                    <a:pt x="8973312" y="731520"/>
                  </a:lnTo>
                  <a:lnTo>
                    <a:pt x="0" y="731520"/>
                  </a:lnTo>
                  <a:close/>
                </a:path>
              </a:pathLst>
            </a:custGeom>
            <a:blipFill rotWithShape="1">
              <a:blip r:embed="rId3">
                <a:alphaModFix amt="0"/>
              </a:blip>
              <a:stretch>
                <a:fillRect t="-189006" b="-189006"/>
              </a:stretch>
            </a:blipFill>
            <a:ln>
              <a:noFill/>
            </a:ln>
          </p:spPr>
        </p:sp>
        <p:sp>
          <p:nvSpPr>
            <p:cNvPr id="305" name="Google Shape;305;p19"/>
            <p:cNvSpPr txBox="1"/>
            <p:nvPr/>
          </p:nvSpPr>
          <p:spPr>
            <a:xfrm>
              <a:off x="0" y="-38100"/>
              <a:ext cx="8973312" cy="76962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1A1A1A"/>
                  </a:solidFill>
                  <a:latin typeface="Calibri"/>
                  <a:ea typeface="Calibri"/>
                  <a:cs typeface="Calibri"/>
                  <a:sym typeface="Calibri"/>
                </a:rPr>
                <a:t>Controversial History</a:t>
              </a:r>
              <a:endParaRPr/>
            </a:p>
          </p:txBody>
        </p:sp>
      </p:grpSp>
      <p:grpSp>
        <p:nvGrpSpPr>
          <p:cNvPr id="306" name="Google Shape;306;p19"/>
          <p:cNvGrpSpPr/>
          <p:nvPr/>
        </p:nvGrpSpPr>
        <p:grpSpPr>
          <a:xfrm>
            <a:off x="1005840" y="8358473"/>
            <a:ext cx="7680960" cy="950119"/>
            <a:chOff x="0" y="-47625"/>
            <a:chExt cx="10241280" cy="1266825"/>
          </a:xfrm>
        </p:grpSpPr>
        <p:sp>
          <p:nvSpPr>
            <p:cNvPr id="307" name="Google Shape;307;p19"/>
            <p:cNvSpPr/>
            <p:nvPr/>
          </p:nvSpPr>
          <p:spPr>
            <a:xfrm>
              <a:off x="0" y="0"/>
              <a:ext cx="10241280" cy="1219200"/>
            </a:xfrm>
            <a:custGeom>
              <a:avLst/>
              <a:gdLst/>
              <a:ahLst/>
              <a:cxnLst/>
              <a:rect l="l" t="t" r="r" b="b"/>
              <a:pathLst>
                <a:path w="10241280" h="1219200" extrusionOk="0">
                  <a:moveTo>
                    <a:pt x="0" y="0"/>
                  </a:moveTo>
                  <a:lnTo>
                    <a:pt x="10241280" y="0"/>
                  </a:lnTo>
                  <a:lnTo>
                    <a:pt x="10241280" y="1219200"/>
                  </a:lnTo>
                  <a:lnTo>
                    <a:pt x="0" y="1219200"/>
                  </a:lnTo>
                  <a:close/>
                </a:path>
              </a:pathLst>
            </a:custGeom>
            <a:blipFill rotWithShape="1">
              <a:blip r:embed="rId3">
                <a:alphaModFix amt="0"/>
              </a:blip>
              <a:stretch>
                <a:fillRect t="-113677" b="-113677"/>
              </a:stretch>
            </a:blipFill>
            <a:ln>
              <a:noFill/>
            </a:ln>
          </p:spPr>
        </p:sp>
        <p:sp>
          <p:nvSpPr>
            <p:cNvPr id="308" name="Google Shape;308;p19"/>
            <p:cNvSpPr txBox="1"/>
            <p:nvPr/>
          </p:nvSpPr>
          <p:spPr>
            <a:xfrm>
              <a:off x="0" y="-47625"/>
              <a:ext cx="10241280" cy="126682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Politically sensitive historical events within Arab cultural memory, including cases where official and popular narratives diverge.</a:t>
              </a:r>
              <a:endParaRPr/>
            </a:p>
          </p:txBody>
        </p:sp>
      </p:grpSp>
      <p:sp>
        <p:nvSpPr>
          <p:cNvPr id="309" name="Google Shape;309;p19"/>
          <p:cNvSpPr/>
          <p:nvPr/>
        </p:nvSpPr>
        <p:spPr>
          <a:xfrm>
            <a:off x="9405623" y="7576823"/>
            <a:ext cx="8255031" cy="1890807"/>
          </a:xfrm>
          <a:custGeom>
            <a:avLst/>
            <a:gdLst/>
            <a:ahLst/>
            <a:cxnLst/>
            <a:rect l="l" t="t" r="r" b="b"/>
            <a:pathLst>
              <a:path w="11006709" h="2521077" extrusionOk="0">
                <a:moveTo>
                  <a:pt x="0" y="0"/>
                </a:moveTo>
                <a:lnTo>
                  <a:pt x="11006709" y="0"/>
                </a:lnTo>
                <a:lnTo>
                  <a:pt x="11006709" y="2521077"/>
                </a:lnTo>
                <a:lnTo>
                  <a:pt x="0" y="2521077"/>
                </a:lnTo>
                <a:close/>
              </a:path>
            </a:pathLst>
          </a:custGeom>
          <a:solidFill>
            <a:srgbClr val="EEEBE6"/>
          </a:solidFill>
          <a:ln w="25400" cap="sq" cmpd="sng">
            <a:solidFill>
              <a:srgbClr val="DDDDDD"/>
            </a:solidFill>
            <a:prstDash val="solid"/>
            <a:miter lim="8000"/>
            <a:headEnd type="none" w="sm" len="sm"/>
            <a:tailEnd type="none" w="sm" len="sm"/>
          </a:ln>
        </p:spPr>
      </p:sp>
      <p:grpSp>
        <p:nvGrpSpPr>
          <p:cNvPr id="310" name="Google Shape;310;p19"/>
          <p:cNvGrpSpPr/>
          <p:nvPr/>
        </p:nvGrpSpPr>
        <p:grpSpPr>
          <a:xfrm>
            <a:off x="9692640" y="7703249"/>
            <a:ext cx="822960" cy="562927"/>
            <a:chOff x="0" y="-19050"/>
            <a:chExt cx="1097280" cy="750570"/>
          </a:xfrm>
        </p:grpSpPr>
        <p:sp>
          <p:nvSpPr>
            <p:cNvPr id="311" name="Google Shape;311;p19"/>
            <p:cNvSpPr/>
            <p:nvPr/>
          </p:nvSpPr>
          <p:spPr>
            <a:xfrm>
              <a:off x="0" y="0"/>
              <a:ext cx="1097280" cy="731520"/>
            </a:xfrm>
            <a:custGeom>
              <a:avLst/>
              <a:gdLst/>
              <a:ahLst/>
              <a:cxnLst/>
              <a:rect l="l" t="t" r="r" b="b"/>
              <a:pathLst>
                <a:path w="1097280" h="731520" extrusionOk="0">
                  <a:moveTo>
                    <a:pt x="0" y="0"/>
                  </a:moveTo>
                  <a:lnTo>
                    <a:pt x="1097280" y="0"/>
                  </a:lnTo>
                  <a:lnTo>
                    <a:pt x="1097280" y="731520"/>
                  </a:lnTo>
                  <a:lnTo>
                    <a:pt x="0" y="731520"/>
                  </a:lnTo>
                  <a:close/>
                </a:path>
              </a:pathLst>
            </a:custGeom>
            <a:blipFill rotWithShape="1">
              <a:blip r:embed="rId3">
                <a:alphaModFix amt="0"/>
              </a:blip>
              <a:stretch>
                <a:fillRect l="-35534" r="-35534"/>
              </a:stretch>
            </a:blipFill>
            <a:ln>
              <a:noFill/>
            </a:ln>
          </p:spPr>
        </p:sp>
        <p:sp>
          <p:nvSpPr>
            <p:cNvPr id="312" name="Google Shape;312;p19"/>
            <p:cNvSpPr txBox="1"/>
            <p:nvPr/>
          </p:nvSpPr>
          <p:spPr>
            <a:xfrm>
              <a:off x="0" y="-19050"/>
              <a:ext cx="1097280" cy="7505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Arial"/>
                  <a:ea typeface="Arial"/>
                  <a:cs typeface="Arial"/>
                  <a:sym typeface="Arial"/>
                </a:rPr>
                <a:t>06</a:t>
              </a:r>
              <a:endParaRPr/>
            </a:p>
          </p:txBody>
        </p:sp>
      </p:grpSp>
      <p:grpSp>
        <p:nvGrpSpPr>
          <p:cNvPr id="313" name="Google Shape;313;p19"/>
          <p:cNvGrpSpPr/>
          <p:nvPr/>
        </p:nvGrpSpPr>
        <p:grpSpPr>
          <a:xfrm>
            <a:off x="10552176" y="7688961"/>
            <a:ext cx="6729984" cy="577215"/>
            <a:chOff x="0" y="-38100"/>
            <a:chExt cx="8973312" cy="769620"/>
          </a:xfrm>
        </p:grpSpPr>
        <p:sp>
          <p:nvSpPr>
            <p:cNvPr id="314" name="Google Shape;314;p19"/>
            <p:cNvSpPr/>
            <p:nvPr/>
          </p:nvSpPr>
          <p:spPr>
            <a:xfrm>
              <a:off x="0" y="0"/>
              <a:ext cx="8973312" cy="731520"/>
            </a:xfrm>
            <a:custGeom>
              <a:avLst/>
              <a:gdLst/>
              <a:ahLst/>
              <a:cxnLst/>
              <a:rect l="l" t="t" r="r" b="b"/>
              <a:pathLst>
                <a:path w="8973312" h="731520" extrusionOk="0">
                  <a:moveTo>
                    <a:pt x="0" y="0"/>
                  </a:moveTo>
                  <a:lnTo>
                    <a:pt x="8973312" y="0"/>
                  </a:lnTo>
                  <a:lnTo>
                    <a:pt x="8973312" y="731520"/>
                  </a:lnTo>
                  <a:lnTo>
                    <a:pt x="0" y="731520"/>
                  </a:lnTo>
                  <a:close/>
                </a:path>
              </a:pathLst>
            </a:custGeom>
            <a:blipFill rotWithShape="1">
              <a:blip r:embed="rId3">
                <a:alphaModFix amt="0"/>
              </a:blip>
              <a:stretch>
                <a:fillRect t="-189006" b="-189006"/>
              </a:stretch>
            </a:blipFill>
            <a:ln>
              <a:noFill/>
            </a:ln>
          </p:spPr>
        </p:sp>
        <p:sp>
          <p:nvSpPr>
            <p:cNvPr id="315" name="Google Shape;315;p19"/>
            <p:cNvSpPr txBox="1"/>
            <p:nvPr/>
          </p:nvSpPr>
          <p:spPr>
            <a:xfrm>
              <a:off x="0" y="-38100"/>
              <a:ext cx="8973312" cy="76962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1" i="0" u="none" strike="noStrike" cap="none">
                  <a:solidFill>
                    <a:srgbClr val="1A1A1A"/>
                  </a:solidFill>
                  <a:latin typeface="Calibri"/>
                  <a:ea typeface="Calibri"/>
                  <a:cs typeface="Calibri"/>
                  <a:sym typeface="Calibri"/>
                </a:rPr>
                <a:t>Cultural Preservation</a:t>
              </a:r>
              <a:endParaRPr/>
            </a:p>
          </p:txBody>
        </p:sp>
      </p:grpSp>
      <p:grpSp>
        <p:nvGrpSpPr>
          <p:cNvPr id="316" name="Google Shape;316;p19"/>
          <p:cNvGrpSpPr/>
          <p:nvPr/>
        </p:nvGrpSpPr>
        <p:grpSpPr>
          <a:xfrm>
            <a:off x="9692640" y="8358473"/>
            <a:ext cx="7680960" cy="950119"/>
            <a:chOff x="0" y="-47625"/>
            <a:chExt cx="10241280" cy="1266825"/>
          </a:xfrm>
        </p:grpSpPr>
        <p:sp>
          <p:nvSpPr>
            <p:cNvPr id="317" name="Google Shape;317;p19"/>
            <p:cNvSpPr/>
            <p:nvPr/>
          </p:nvSpPr>
          <p:spPr>
            <a:xfrm>
              <a:off x="0" y="0"/>
              <a:ext cx="10241280" cy="1219200"/>
            </a:xfrm>
            <a:custGeom>
              <a:avLst/>
              <a:gdLst/>
              <a:ahLst/>
              <a:cxnLst/>
              <a:rect l="l" t="t" r="r" b="b"/>
              <a:pathLst>
                <a:path w="10241280" h="1219200" extrusionOk="0">
                  <a:moveTo>
                    <a:pt x="0" y="0"/>
                  </a:moveTo>
                  <a:lnTo>
                    <a:pt x="10241280" y="0"/>
                  </a:lnTo>
                  <a:lnTo>
                    <a:pt x="10241280" y="1219200"/>
                  </a:lnTo>
                  <a:lnTo>
                    <a:pt x="0" y="1219200"/>
                  </a:lnTo>
                  <a:close/>
                </a:path>
              </a:pathLst>
            </a:custGeom>
            <a:blipFill rotWithShape="1">
              <a:blip r:embed="rId3">
                <a:alphaModFix amt="0"/>
              </a:blip>
              <a:stretch>
                <a:fillRect t="-113677" b="-113677"/>
              </a:stretch>
            </a:blipFill>
            <a:ln>
              <a:noFill/>
            </a:ln>
          </p:spPr>
        </p:sp>
        <p:sp>
          <p:nvSpPr>
            <p:cNvPr id="318" name="Google Shape;318;p19"/>
            <p:cNvSpPr txBox="1"/>
            <p:nvPr/>
          </p:nvSpPr>
          <p:spPr>
            <a:xfrm>
              <a:off x="0" y="-47625"/>
              <a:ext cx="10241280" cy="126682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100" b="0" i="0" u="none" strike="noStrike" cap="none">
                  <a:solidFill>
                    <a:srgbClr val="2D2D2D"/>
                  </a:solidFill>
                  <a:latin typeface="Calibri"/>
                  <a:ea typeface="Calibri"/>
                  <a:cs typeface="Calibri"/>
                  <a:sym typeface="Calibri"/>
                </a:rPr>
                <a:t>Content that appears neutral in English but threatens linguistic, religious, or cultural identity norms specific to the Arab world.</a:t>
              </a:r>
              <a:endParaRPr/>
            </a:p>
          </p:txBody>
        </p:sp>
      </p:grpSp>
      <p:sp>
        <p:nvSpPr>
          <p:cNvPr id="319" name="Google Shape;319;p19"/>
          <p:cNvSpPr/>
          <p:nvPr/>
        </p:nvSpPr>
        <p:spPr>
          <a:xfrm>
            <a:off x="14838272" y="534945"/>
            <a:ext cx="3015388" cy="765909"/>
          </a:xfrm>
          <a:custGeom>
            <a:avLst/>
            <a:gdLst/>
            <a:ahLst/>
            <a:cxnLst/>
            <a:rect l="l" t="t" r="r" b="b"/>
            <a:pathLst>
              <a:path w="3015388" h="765909" extrusionOk="0">
                <a:moveTo>
                  <a:pt x="0" y="0"/>
                </a:moveTo>
                <a:lnTo>
                  <a:pt x="3015388" y="0"/>
                </a:lnTo>
                <a:lnTo>
                  <a:pt x="3015388" y="765909"/>
                </a:lnTo>
                <a:lnTo>
                  <a:pt x="0" y="765909"/>
                </a:lnTo>
                <a:lnTo>
                  <a:pt x="0" y="0"/>
                </a:lnTo>
                <a:close/>
              </a:path>
            </a:pathLst>
          </a:custGeom>
          <a:blipFill rotWithShape="1">
            <a:blip r:embed="rId4">
              <a:alphaModFix/>
            </a:blip>
            <a:stretch>
              <a:fillRect/>
            </a:stretch>
          </a:blipFill>
          <a:ln>
            <a:noFill/>
          </a:ln>
        </p:spPr>
      </p:sp>
      <p:sp>
        <p:nvSpPr>
          <p:cNvPr id="320" name="Google Shape;320;p19"/>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321" name="Google Shape;321;p19"/>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322" name="Google Shape;322;p19"/>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7</a:t>
            </a:r>
            <a:endParaRPr sz="1593">
              <a:solidFill>
                <a:srgbClr val="AAAAAA"/>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26"/>
        <p:cNvGrpSpPr/>
        <p:nvPr/>
      </p:nvGrpSpPr>
      <p:grpSpPr>
        <a:xfrm>
          <a:off x="0" y="0"/>
          <a:ext cx="0" cy="0"/>
          <a:chOff x="0" y="0"/>
          <a:chExt cx="0" cy="0"/>
        </a:xfrm>
      </p:grpSpPr>
      <p:grpSp>
        <p:nvGrpSpPr>
          <p:cNvPr id="327" name="Google Shape;327;p20"/>
          <p:cNvGrpSpPr/>
          <p:nvPr/>
        </p:nvGrpSpPr>
        <p:grpSpPr>
          <a:xfrm>
            <a:off x="1005840" y="1595914"/>
            <a:ext cx="3657600" cy="2244566"/>
            <a:chOff x="0" y="-66675"/>
            <a:chExt cx="4876800" cy="2992755"/>
          </a:xfrm>
        </p:grpSpPr>
        <p:sp>
          <p:nvSpPr>
            <p:cNvPr id="328" name="Google Shape;328;p20"/>
            <p:cNvSpPr/>
            <p:nvPr/>
          </p:nvSpPr>
          <p:spPr>
            <a:xfrm>
              <a:off x="0" y="0"/>
              <a:ext cx="4876800" cy="2926080"/>
            </a:xfrm>
            <a:custGeom>
              <a:avLst/>
              <a:gdLst/>
              <a:ahLst/>
              <a:cxnLst/>
              <a:rect l="l" t="t" r="r" b="b"/>
              <a:pathLst>
                <a:path w="4876800" h="2926080" extrusionOk="0">
                  <a:moveTo>
                    <a:pt x="0" y="0"/>
                  </a:moveTo>
                  <a:lnTo>
                    <a:pt x="4876800" y="0"/>
                  </a:lnTo>
                  <a:lnTo>
                    <a:pt x="4876800" y="2926080"/>
                  </a:lnTo>
                  <a:lnTo>
                    <a:pt x="0" y="2926080"/>
                  </a:lnTo>
                  <a:close/>
                </a:path>
              </a:pathLst>
            </a:custGeom>
            <a:blipFill rotWithShape="1">
              <a:blip r:embed="rId3">
                <a:alphaModFix amt="0"/>
              </a:blip>
              <a:stretch>
                <a:fillRect l="-26982" r="-26982"/>
              </a:stretch>
            </a:blipFill>
            <a:ln>
              <a:noFill/>
            </a:ln>
          </p:spPr>
        </p:sp>
        <p:sp>
          <p:nvSpPr>
            <p:cNvPr id="329" name="Google Shape;329;p20"/>
            <p:cNvSpPr txBox="1"/>
            <p:nvPr/>
          </p:nvSpPr>
          <p:spPr>
            <a:xfrm>
              <a:off x="0" y="-66675"/>
              <a:ext cx="4876800" cy="29927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7600" b="1" i="0" u="none" strike="noStrike" cap="none">
                  <a:solidFill>
                    <a:srgbClr val="8B1A1A"/>
                  </a:solidFill>
                  <a:latin typeface="Arial"/>
                  <a:ea typeface="Arial"/>
                  <a:cs typeface="Arial"/>
                  <a:sym typeface="Arial"/>
                </a:rPr>
                <a:t>04</a:t>
              </a:r>
              <a:endParaRPr/>
            </a:p>
          </p:txBody>
        </p:sp>
      </p:grpSp>
      <p:grpSp>
        <p:nvGrpSpPr>
          <p:cNvPr id="330" name="Google Shape;330;p20"/>
          <p:cNvGrpSpPr/>
          <p:nvPr/>
        </p:nvGrpSpPr>
        <p:grpSpPr>
          <a:xfrm>
            <a:off x="1005840" y="3811905"/>
            <a:ext cx="15544800" cy="2954655"/>
            <a:chOff x="0" y="-38100"/>
            <a:chExt cx="20726400" cy="3939540"/>
          </a:xfrm>
        </p:grpSpPr>
        <p:sp>
          <p:nvSpPr>
            <p:cNvPr id="331" name="Google Shape;331;p20"/>
            <p:cNvSpPr/>
            <p:nvPr/>
          </p:nvSpPr>
          <p:spPr>
            <a:xfrm>
              <a:off x="0" y="0"/>
              <a:ext cx="20726400" cy="3901440"/>
            </a:xfrm>
            <a:custGeom>
              <a:avLst/>
              <a:gdLst/>
              <a:ahLst/>
              <a:cxnLst/>
              <a:rect l="l" t="t" r="r" b="b"/>
              <a:pathLst>
                <a:path w="20726400" h="3901440" extrusionOk="0">
                  <a:moveTo>
                    <a:pt x="0" y="0"/>
                  </a:moveTo>
                  <a:lnTo>
                    <a:pt x="20726400" y="0"/>
                  </a:lnTo>
                  <a:lnTo>
                    <a:pt x="20726400" y="3901440"/>
                  </a:lnTo>
                  <a:lnTo>
                    <a:pt x="0" y="3901440"/>
                  </a:lnTo>
                  <a:close/>
                </a:path>
              </a:pathLst>
            </a:custGeom>
            <a:blipFill rotWithShape="1">
              <a:blip r:embed="rId3">
                <a:alphaModFix amt="0"/>
              </a:blip>
              <a:stretch>
                <a:fillRect t="-53515" b="-53515"/>
              </a:stretch>
            </a:blipFill>
            <a:ln>
              <a:noFill/>
            </a:ln>
          </p:spPr>
        </p:sp>
        <p:sp>
          <p:nvSpPr>
            <p:cNvPr id="332" name="Google Shape;332;p20"/>
            <p:cNvSpPr txBox="1"/>
            <p:nvPr/>
          </p:nvSpPr>
          <p:spPr>
            <a:xfrm>
              <a:off x="0" y="-38100"/>
              <a:ext cx="20726400" cy="39395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Two Concrete</a:t>
              </a:r>
              <a:endParaRPr/>
            </a:p>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Case Studies</a:t>
              </a:r>
              <a:endParaRPr/>
            </a:p>
          </p:txBody>
        </p:sp>
      </p:grpSp>
      <p:sp>
        <p:nvSpPr>
          <p:cNvPr id="333" name="Google Shape;333;p20"/>
          <p:cNvSpPr/>
          <p:nvPr/>
        </p:nvSpPr>
        <p:spPr>
          <a:xfrm>
            <a:off x="993143" y="6900167"/>
            <a:ext cx="2037111" cy="153447"/>
          </a:xfrm>
          <a:custGeom>
            <a:avLst/>
            <a:gdLst/>
            <a:ahLst/>
            <a:cxnLst/>
            <a:rect l="l" t="t" r="r" b="b"/>
            <a:pathLst>
              <a:path w="2716149" h="204597" extrusionOk="0">
                <a:moveTo>
                  <a:pt x="0" y="0"/>
                </a:moveTo>
                <a:lnTo>
                  <a:pt x="2716149" y="0"/>
                </a:lnTo>
                <a:lnTo>
                  <a:pt x="2716149" y="204597"/>
                </a:lnTo>
                <a:lnTo>
                  <a:pt x="0" y="204597"/>
                </a:lnTo>
                <a:close/>
              </a:path>
            </a:pathLst>
          </a:custGeom>
          <a:solidFill>
            <a:srgbClr val="A52020"/>
          </a:solidFill>
          <a:ln w="25400" cap="sq" cmpd="sng">
            <a:solidFill>
              <a:srgbClr val="A52020"/>
            </a:solidFill>
            <a:prstDash val="solid"/>
            <a:miter lim="8000"/>
            <a:headEnd type="none" w="sm" len="sm"/>
            <a:tailEnd type="none" w="sm" len="sm"/>
          </a:ln>
        </p:spPr>
      </p:sp>
      <p:grpSp>
        <p:nvGrpSpPr>
          <p:cNvPr id="334" name="Google Shape;334;p20"/>
          <p:cNvGrpSpPr/>
          <p:nvPr/>
        </p:nvGrpSpPr>
        <p:grpSpPr>
          <a:xfrm>
            <a:off x="1005840" y="7180898"/>
            <a:ext cx="14996160" cy="957263"/>
            <a:chOff x="0" y="-57150"/>
            <a:chExt cx="19994880" cy="1276350"/>
          </a:xfrm>
        </p:grpSpPr>
        <p:sp>
          <p:nvSpPr>
            <p:cNvPr id="335" name="Google Shape;335;p20"/>
            <p:cNvSpPr/>
            <p:nvPr/>
          </p:nvSpPr>
          <p:spPr>
            <a:xfrm>
              <a:off x="0" y="0"/>
              <a:ext cx="19994880" cy="1219200"/>
            </a:xfrm>
            <a:custGeom>
              <a:avLst/>
              <a:gdLst/>
              <a:ahLst/>
              <a:cxnLst/>
              <a:rect l="l" t="t" r="r" b="b"/>
              <a:pathLst>
                <a:path w="19994880" h="1219200" extrusionOk="0">
                  <a:moveTo>
                    <a:pt x="0" y="0"/>
                  </a:moveTo>
                  <a:lnTo>
                    <a:pt x="19994880" y="0"/>
                  </a:lnTo>
                  <a:lnTo>
                    <a:pt x="19994880" y="1219200"/>
                  </a:lnTo>
                  <a:lnTo>
                    <a:pt x="0" y="1219200"/>
                  </a:lnTo>
                  <a:close/>
                </a:path>
              </a:pathLst>
            </a:custGeom>
            <a:blipFill rotWithShape="1">
              <a:blip r:embed="rId3">
                <a:alphaModFix amt="0"/>
              </a:blip>
              <a:stretch>
                <a:fillRect t="-269570" b="-269570"/>
              </a:stretch>
            </a:blipFill>
            <a:ln>
              <a:noFill/>
            </a:ln>
          </p:spPr>
        </p:sp>
        <p:sp>
          <p:nvSpPr>
            <p:cNvPr id="336" name="Google Shape;336;p20"/>
            <p:cNvSpPr txBox="1"/>
            <p:nvPr/>
          </p:nvSpPr>
          <p:spPr>
            <a:xfrm>
              <a:off x="0" y="-57150"/>
              <a:ext cx="19994880" cy="127635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0" i="0" u="none" strike="noStrike" cap="none">
                  <a:solidFill>
                    <a:srgbClr val="FFFFFF"/>
                  </a:solidFill>
                  <a:latin typeface="Calibri"/>
                  <a:ea typeface="Calibri"/>
                  <a:cs typeface="Calibri"/>
                  <a:sym typeface="Calibri"/>
                </a:rPr>
                <a:t>What Arabic safety gaps look like when they occur in practice.</a:t>
              </a:r>
              <a:endParaRPr/>
            </a:p>
          </p:txBody>
        </p:sp>
      </p:grpSp>
      <p:sp>
        <p:nvSpPr>
          <p:cNvPr id="337" name="Google Shape;337;p20"/>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338" name="Google Shape;338;p20"/>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339" name="Google Shape;339;p20"/>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8</a:t>
            </a:r>
            <a:endParaRPr sz="1593">
              <a:solidFill>
                <a:srgbClr val="AAAAAA"/>
              </a:solidFill>
              <a:latin typeface="Calibri"/>
              <a:ea typeface="Calibri"/>
              <a:cs typeface="Calibri"/>
              <a:sym typeface="Calibri"/>
            </a:endParaRPr>
          </a:p>
        </p:txBody>
      </p:sp>
      <p:sp>
        <p:nvSpPr>
          <p:cNvPr id="340" name="Google Shape;340;p20"/>
          <p:cNvSpPr/>
          <p:nvPr/>
        </p:nvSpPr>
        <p:spPr>
          <a:xfrm>
            <a:off x="12878380" y="693745"/>
            <a:ext cx="4418971" cy="1202350"/>
          </a:xfrm>
          <a:custGeom>
            <a:avLst/>
            <a:gdLst/>
            <a:ahLst/>
            <a:cxnLst/>
            <a:rect l="l" t="t" r="r" b="b"/>
            <a:pathLst>
              <a:path w="3079422" h="801567" extrusionOk="0">
                <a:moveTo>
                  <a:pt x="0" y="0"/>
                </a:moveTo>
                <a:lnTo>
                  <a:pt x="3079422" y="0"/>
                </a:lnTo>
                <a:lnTo>
                  <a:pt x="3079422" y="801567"/>
                </a:lnTo>
                <a:lnTo>
                  <a:pt x="0" y="801567"/>
                </a:lnTo>
                <a:lnTo>
                  <a:pt x="0" y="0"/>
                </a:lnTo>
                <a:close/>
              </a:path>
            </a:pathLst>
          </a:custGeom>
          <a:blipFill rotWithShape="1">
            <a:blip r:embed="rId4">
              <a:alphaModFix/>
            </a:blip>
            <a:stretch>
              <a:fillRect/>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grpSp>
        <p:nvGrpSpPr>
          <p:cNvPr id="345" name="Google Shape;345;p21"/>
          <p:cNvGrpSpPr/>
          <p:nvPr/>
        </p:nvGrpSpPr>
        <p:grpSpPr>
          <a:xfrm>
            <a:off x="744226" y="492241"/>
            <a:ext cx="5486400" cy="952674"/>
            <a:chOff x="0" y="0"/>
            <a:chExt cx="7315200" cy="1270233"/>
          </a:xfrm>
        </p:grpSpPr>
        <p:sp>
          <p:nvSpPr>
            <p:cNvPr id="346" name="Google Shape;346;p21"/>
            <p:cNvSpPr/>
            <p:nvPr/>
          </p:nvSpPr>
          <p:spPr>
            <a:xfrm>
              <a:off x="0" y="0"/>
              <a:ext cx="7315200" cy="1043789"/>
            </a:xfrm>
            <a:custGeom>
              <a:avLst/>
              <a:gdLst/>
              <a:ahLst/>
              <a:cxnLst/>
              <a:rect l="l" t="t" r="r" b="b"/>
              <a:pathLst>
                <a:path w="7315200" h="1043789" extrusionOk="0">
                  <a:moveTo>
                    <a:pt x="0" y="0"/>
                  </a:moveTo>
                  <a:lnTo>
                    <a:pt x="7315200" y="0"/>
                  </a:lnTo>
                  <a:lnTo>
                    <a:pt x="7315200" y="1043789"/>
                  </a:lnTo>
                  <a:lnTo>
                    <a:pt x="0" y="1043789"/>
                  </a:lnTo>
                  <a:close/>
                </a:path>
              </a:pathLst>
            </a:custGeom>
            <a:blipFill rotWithShape="1">
              <a:blip r:embed="rId3">
                <a:alphaModFix amt="0"/>
              </a:blip>
              <a:stretch>
                <a:fillRect t="-106186" b="-66926"/>
              </a:stretch>
            </a:blipFill>
            <a:ln>
              <a:noFill/>
            </a:ln>
          </p:spPr>
        </p:sp>
        <p:sp>
          <p:nvSpPr>
            <p:cNvPr id="347" name="Google Shape;347;p21"/>
            <p:cNvSpPr txBox="1"/>
            <p:nvPr/>
          </p:nvSpPr>
          <p:spPr>
            <a:xfrm>
              <a:off x="0" y="150333"/>
              <a:ext cx="7315200" cy="1119900"/>
            </a:xfrm>
            <a:prstGeom prst="rect">
              <a:avLst/>
            </a:prstGeom>
            <a:noFill/>
            <a:ln>
              <a:noFill/>
            </a:ln>
          </p:spPr>
          <p:txBody>
            <a:bodyPr spcFirstLastPara="1" wrap="square" lIns="0" tIns="0" rIns="0" bIns="0" anchor="ctr" anchorCtr="0">
              <a:noAutofit/>
            </a:bodyPr>
            <a:lstStyle/>
            <a:p>
              <a:pPr marL="0" marR="0" lvl="0" indent="0" algn="l" rtl="0">
                <a:lnSpc>
                  <a:spcPct val="120005"/>
                </a:lnSpc>
                <a:spcBef>
                  <a:spcPts val="0"/>
                </a:spcBef>
                <a:spcAft>
                  <a:spcPts val="0"/>
                </a:spcAft>
                <a:buNone/>
              </a:pPr>
              <a:r>
                <a:rPr lang="en-US" sz="3899" b="1" i="0" u="none" strike="noStrike" cap="none">
                  <a:solidFill>
                    <a:srgbClr val="8B1A1A"/>
                  </a:solidFill>
                  <a:latin typeface="Calibri"/>
                  <a:ea typeface="Calibri"/>
                  <a:cs typeface="Calibri"/>
                  <a:sym typeface="Calibri"/>
                </a:rPr>
                <a:t>ANALYSIS</a:t>
              </a:r>
              <a:endParaRPr/>
            </a:p>
          </p:txBody>
        </p:sp>
      </p:grpSp>
      <p:grpSp>
        <p:nvGrpSpPr>
          <p:cNvPr id="348" name="Google Shape;348;p21"/>
          <p:cNvGrpSpPr/>
          <p:nvPr/>
        </p:nvGrpSpPr>
        <p:grpSpPr>
          <a:xfrm>
            <a:off x="640080" y="1246508"/>
            <a:ext cx="16824960" cy="1089279"/>
            <a:chOff x="0" y="-38100"/>
            <a:chExt cx="22433280" cy="1452372"/>
          </a:xfrm>
        </p:grpSpPr>
        <p:sp>
          <p:nvSpPr>
            <p:cNvPr id="349" name="Google Shape;349;p21"/>
            <p:cNvSpPr/>
            <p:nvPr/>
          </p:nvSpPr>
          <p:spPr>
            <a:xfrm>
              <a:off x="0" y="0"/>
              <a:ext cx="22433280" cy="1414272"/>
            </a:xfrm>
            <a:custGeom>
              <a:avLst/>
              <a:gdLst/>
              <a:ahLst/>
              <a:cxnLst/>
              <a:rect l="l" t="t" r="r" b="b"/>
              <a:pathLst>
                <a:path w="22433280" h="1414272" extrusionOk="0">
                  <a:moveTo>
                    <a:pt x="0" y="0"/>
                  </a:moveTo>
                  <a:lnTo>
                    <a:pt x="22433280" y="0"/>
                  </a:lnTo>
                  <a:lnTo>
                    <a:pt x="22433280" y="1414272"/>
                  </a:lnTo>
                  <a:lnTo>
                    <a:pt x="0" y="1414272"/>
                  </a:lnTo>
                  <a:close/>
                </a:path>
              </a:pathLst>
            </a:custGeom>
            <a:blipFill rotWithShape="1">
              <a:blip r:embed="rId3">
                <a:alphaModFix amt="0"/>
              </a:blip>
              <a:stretch>
                <a:fillRect t="-259062" b="-259062"/>
              </a:stretch>
            </a:blipFill>
            <a:ln>
              <a:noFill/>
            </a:ln>
          </p:spPr>
        </p:sp>
        <p:sp>
          <p:nvSpPr>
            <p:cNvPr id="350" name="Google Shape;350;p21"/>
            <p:cNvSpPr txBox="1"/>
            <p:nvPr/>
          </p:nvSpPr>
          <p:spPr>
            <a:xfrm>
              <a:off x="0" y="-38100"/>
              <a:ext cx="22433280" cy="1452372"/>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1" i="0" u="none" strike="noStrike" cap="none">
                  <a:solidFill>
                    <a:srgbClr val="1A1A1A"/>
                  </a:solidFill>
                  <a:latin typeface="Arial"/>
                  <a:ea typeface="Arial"/>
                  <a:cs typeface="Arial"/>
                  <a:sym typeface="Arial"/>
                </a:rPr>
                <a:t>Two Examples from the Research</a:t>
              </a:r>
              <a:endParaRPr/>
            </a:p>
          </p:txBody>
        </p:sp>
      </p:grpSp>
      <p:grpSp>
        <p:nvGrpSpPr>
          <p:cNvPr id="351" name="Google Shape;351;p21"/>
          <p:cNvGrpSpPr/>
          <p:nvPr/>
        </p:nvGrpSpPr>
        <p:grpSpPr>
          <a:xfrm>
            <a:off x="731520" y="2244823"/>
            <a:ext cx="16824960" cy="767239"/>
            <a:chOff x="0" y="-47625"/>
            <a:chExt cx="22433280" cy="1022985"/>
          </a:xfrm>
        </p:grpSpPr>
        <p:sp>
          <p:nvSpPr>
            <p:cNvPr id="352" name="Google Shape;352;p21"/>
            <p:cNvSpPr/>
            <p:nvPr/>
          </p:nvSpPr>
          <p:spPr>
            <a:xfrm>
              <a:off x="0" y="0"/>
              <a:ext cx="22433280" cy="975360"/>
            </a:xfrm>
            <a:custGeom>
              <a:avLst/>
              <a:gdLst/>
              <a:ahLst/>
              <a:cxnLst/>
              <a:rect l="l" t="t" r="r" b="b"/>
              <a:pathLst>
                <a:path w="22433280" h="975360" extrusionOk="0">
                  <a:moveTo>
                    <a:pt x="0" y="0"/>
                  </a:moveTo>
                  <a:lnTo>
                    <a:pt x="22433280" y="0"/>
                  </a:lnTo>
                  <a:lnTo>
                    <a:pt x="22433280" y="975360"/>
                  </a:lnTo>
                  <a:lnTo>
                    <a:pt x="0" y="975360"/>
                  </a:lnTo>
                  <a:close/>
                </a:path>
              </a:pathLst>
            </a:custGeom>
            <a:blipFill rotWithShape="1">
              <a:blip r:embed="rId3">
                <a:alphaModFix amt="0"/>
              </a:blip>
              <a:stretch>
                <a:fillRect t="-398189" b="-398189"/>
              </a:stretch>
            </a:blipFill>
            <a:ln>
              <a:noFill/>
            </a:ln>
          </p:spPr>
        </p:sp>
        <p:sp>
          <p:nvSpPr>
            <p:cNvPr id="353" name="Google Shape;353;p21"/>
            <p:cNvSpPr txBox="1"/>
            <p:nvPr/>
          </p:nvSpPr>
          <p:spPr>
            <a:xfrm>
              <a:off x="0" y="-47625"/>
              <a:ext cx="22433280" cy="1022985"/>
            </a:xfrm>
            <a:prstGeom prst="rect">
              <a:avLst/>
            </a:prstGeom>
            <a:noFill/>
            <a:ln>
              <a:noFill/>
            </a:ln>
          </p:spPr>
          <p:txBody>
            <a:bodyPr spcFirstLastPara="1" wrap="square" lIns="0" tIns="0" rIns="0" bIns="0" anchor="ctr" anchorCtr="0">
              <a:noAutofit/>
            </a:bodyPr>
            <a:lstStyle/>
            <a:p>
              <a:pPr marL="0" marR="0" lvl="0" indent="0" algn="l" rtl="0">
                <a:lnSpc>
                  <a:spcPct val="120008"/>
                </a:lnSpc>
                <a:spcBef>
                  <a:spcPts val="0"/>
                </a:spcBef>
                <a:spcAft>
                  <a:spcPts val="0"/>
                </a:spcAft>
                <a:buNone/>
              </a:pPr>
              <a:r>
                <a:rPr lang="en-US" sz="2499" b="0" i="0" u="none" strike="noStrike" cap="none">
                  <a:solidFill>
                    <a:srgbClr val="2D2D2D"/>
                  </a:solidFill>
                  <a:latin typeface="Calibri"/>
                  <a:ea typeface="Calibri"/>
                  <a:cs typeface="Calibri"/>
                  <a:sym typeface="Calibri"/>
                </a:rPr>
                <a:t>These examples illustrate what the Arabic safety gap means in practice</a:t>
              </a:r>
              <a:r>
                <a:rPr lang="en-US" sz="2499">
                  <a:solidFill>
                    <a:srgbClr val="2D2D2D"/>
                  </a:solidFill>
                  <a:latin typeface="Calibri"/>
                  <a:ea typeface="Calibri"/>
                  <a:cs typeface="Calibri"/>
                  <a:sym typeface="Calibri"/>
                </a:rPr>
                <a:t>:</a:t>
              </a:r>
              <a:endParaRPr/>
            </a:p>
          </p:txBody>
        </p:sp>
      </p:grpSp>
      <p:sp>
        <p:nvSpPr>
          <p:cNvPr id="354" name="Google Shape;354;p21"/>
          <p:cNvSpPr/>
          <p:nvPr/>
        </p:nvSpPr>
        <p:spPr>
          <a:xfrm>
            <a:off x="718823" y="3059687"/>
            <a:ext cx="16850391" cy="3170967"/>
          </a:xfrm>
          <a:custGeom>
            <a:avLst/>
            <a:gdLst/>
            <a:ahLst/>
            <a:cxnLst/>
            <a:rect l="l" t="t" r="r" b="b"/>
            <a:pathLst>
              <a:path w="22467188" h="4227957" extrusionOk="0">
                <a:moveTo>
                  <a:pt x="0" y="0"/>
                </a:moveTo>
                <a:lnTo>
                  <a:pt x="22467188" y="0"/>
                </a:lnTo>
                <a:lnTo>
                  <a:pt x="22467188" y="4227957"/>
                </a:lnTo>
                <a:lnTo>
                  <a:pt x="0" y="4227957"/>
                </a:lnTo>
                <a:close/>
              </a:path>
            </a:pathLst>
          </a:custGeom>
          <a:solidFill>
            <a:srgbClr val="8B1A1A"/>
          </a:solidFill>
          <a:ln w="25400" cap="sq" cmpd="sng">
            <a:solidFill>
              <a:srgbClr val="8B1A1A"/>
            </a:solidFill>
            <a:prstDash val="solid"/>
            <a:miter lim="8000"/>
            <a:headEnd type="none" w="sm" len="sm"/>
            <a:tailEnd type="none" w="sm" len="sm"/>
          </a:ln>
        </p:spPr>
      </p:sp>
      <p:grpSp>
        <p:nvGrpSpPr>
          <p:cNvPr id="355" name="Google Shape;355;p21"/>
          <p:cNvGrpSpPr/>
          <p:nvPr/>
        </p:nvGrpSpPr>
        <p:grpSpPr>
          <a:xfrm>
            <a:off x="1133856" y="3523297"/>
            <a:ext cx="16093440" cy="591503"/>
            <a:chOff x="0" y="-57150"/>
            <a:chExt cx="21457920" cy="788670"/>
          </a:xfrm>
        </p:grpSpPr>
        <p:sp>
          <p:nvSpPr>
            <p:cNvPr id="356" name="Google Shape;356;p21"/>
            <p:cNvSpPr/>
            <p:nvPr/>
          </p:nvSpPr>
          <p:spPr>
            <a:xfrm>
              <a:off x="0" y="0"/>
              <a:ext cx="21457920" cy="731520"/>
            </a:xfrm>
            <a:custGeom>
              <a:avLst/>
              <a:gdLst/>
              <a:ahLst/>
              <a:cxnLst/>
              <a:rect l="l" t="t" r="r" b="b"/>
              <a:pathLst>
                <a:path w="21457920" h="731520" extrusionOk="0">
                  <a:moveTo>
                    <a:pt x="0" y="0"/>
                  </a:moveTo>
                  <a:lnTo>
                    <a:pt x="21457920" y="0"/>
                  </a:lnTo>
                  <a:lnTo>
                    <a:pt x="21457920" y="731520"/>
                  </a:lnTo>
                  <a:lnTo>
                    <a:pt x="0" y="731520"/>
                  </a:lnTo>
                  <a:close/>
                </a:path>
              </a:pathLst>
            </a:custGeom>
            <a:blipFill rotWithShape="1">
              <a:blip r:embed="rId3">
                <a:alphaModFix amt="0"/>
              </a:blip>
              <a:stretch>
                <a:fillRect t="-521559" b="-521559"/>
              </a:stretch>
            </a:blipFill>
            <a:ln>
              <a:noFill/>
            </a:ln>
          </p:spPr>
        </p:sp>
        <p:sp>
          <p:nvSpPr>
            <p:cNvPr id="357" name="Google Shape;357;p21"/>
            <p:cNvSpPr txBox="1"/>
            <p:nvPr/>
          </p:nvSpPr>
          <p:spPr>
            <a:xfrm>
              <a:off x="0" y="-57150"/>
              <a:ext cx="21457920" cy="7886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FFFFFF"/>
                  </a:solidFill>
                  <a:latin typeface="Calibri"/>
                  <a:ea typeface="Calibri"/>
                  <a:cs typeface="Calibri"/>
                  <a:sym typeface="Calibri"/>
                </a:rPr>
                <a:t>CASE 01 Religious Misinformation:</a:t>
              </a:r>
              <a:endParaRPr/>
            </a:p>
          </p:txBody>
        </p:sp>
      </p:grpSp>
      <p:grpSp>
        <p:nvGrpSpPr>
          <p:cNvPr id="358" name="Google Shape;358;p21"/>
          <p:cNvGrpSpPr/>
          <p:nvPr/>
        </p:nvGrpSpPr>
        <p:grpSpPr>
          <a:xfrm>
            <a:off x="1097280" y="3811905"/>
            <a:ext cx="16093440" cy="2223135"/>
            <a:chOff x="0" y="-38100"/>
            <a:chExt cx="21457920" cy="2964180"/>
          </a:xfrm>
        </p:grpSpPr>
        <p:sp>
          <p:nvSpPr>
            <p:cNvPr id="359" name="Google Shape;359;p21"/>
            <p:cNvSpPr/>
            <p:nvPr/>
          </p:nvSpPr>
          <p:spPr>
            <a:xfrm>
              <a:off x="0" y="0"/>
              <a:ext cx="21457920" cy="2926080"/>
            </a:xfrm>
            <a:custGeom>
              <a:avLst/>
              <a:gdLst/>
              <a:ahLst/>
              <a:cxnLst/>
              <a:rect l="l" t="t" r="r" b="b"/>
              <a:pathLst>
                <a:path w="21457920" h="2926080" extrusionOk="0">
                  <a:moveTo>
                    <a:pt x="0" y="0"/>
                  </a:moveTo>
                  <a:lnTo>
                    <a:pt x="21457920" y="0"/>
                  </a:lnTo>
                  <a:lnTo>
                    <a:pt x="21457920" y="2926080"/>
                  </a:lnTo>
                  <a:lnTo>
                    <a:pt x="0" y="2926080"/>
                  </a:lnTo>
                  <a:close/>
                </a:path>
              </a:pathLst>
            </a:custGeom>
            <a:blipFill rotWithShape="1">
              <a:blip r:embed="rId3">
                <a:alphaModFix amt="0"/>
              </a:blip>
              <a:stretch>
                <a:fillRect t="-92890" b="-92890"/>
              </a:stretch>
            </a:blipFill>
            <a:ln>
              <a:noFill/>
            </a:ln>
          </p:spPr>
        </p:sp>
        <p:sp>
          <p:nvSpPr>
            <p:cNvPr id="360" name="Google Shape;360;p21"/>
            <p:cNvSpPr txBox="1"/>
            <p:nvPr/>
          </p:nvSpPr>
          <p:spPr>
            <a:xfrm>
              <a:off x="0" y="-38100"/>
              <a:ext cx="21457920" cy="296418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0" i="0" u="none" strike="noStrike" cap="none">
                  <a:solidFill>
                    <a:srgbClr val="EEEEEE"/>
                  </a:solidFill>
                  <a:latin typeface="Calibri"/>
                  <a:ea typeface="Calibri"/>
                  <a:cs typeface="Calibri"/>
                  <a:sym typeface="Calibri"/>
                </a:rPr>
                <a:t>A user could prompt a model to misinterpret a hadith or generate a fabricated fatwa endorsing a financial scheme content that carries serious legal and religious consequences in the UAE. This sits entirely outside every harm category English safety benchmarks test for. No vendor's system card documents this as a risk category.</a:t>
              </a:r>
              <a:endParaRPr/>
            </a:p>
          </p:txBody>
        </p:sp>
      </p:grpSp>
      <p:sp>
        <p:nvSpPr>
          <p:cNvPr id="361" name="Google Shape;361;p21"/>
          <p:cNvSpPr/>
          <p:nvPr/>
        </p:nvSpPr>
        <p:spPr>
          <a:xfrm>
            <a:off x="718823" y="6424679"/>
            <a:ext cx="16850391" cy="2988087"/>
          </a:xfrm>
          <a:custGeom>
            <a:avLst/>
            <a:gdLst/>
            <a:ahLst/>
            <a:cxnLst/>
            <a:rect l="l" t="t" r="r" b="b"/>
            <a:pathLst>
              <a:path w="22467188" h="3984117" extrusionOk="0">
                <a:moveTo>
                  <a:pt x="0" y="0"/>
                </a:moveTo>
                <a:lnTo>
                  <a:pt x="22467188" y="0"/>
                </a:lnTo>
                <a:lnTo>
                  <a:pt x="22467188" y="3984117"/>
                </a:lnTo>
                <a:lnTo>
                  <a:pt x="0" y="3984117"/>
                </a:lnTo>
                <a:close/>
              </a:path>
            </a:pathLst>
          </a:custGeom>
          <a:solidFill>
            <a:srgbClr val="EEEBE6"/>
          </a:solidFill>
          <a:ln w="25400" cap="sq" cmpd="sng">
            <a:solidFill>
              <a:srgbClr val="CCCCCC"/>
            </a:solidFill>
            <a:prstDash val="solid"/>
            <a:miter lim="8000"/>
            <a:headEnd type="none" w="sm" len="sm"/>
            <a:tailEnd type="none" w="sm" len="sm"/>
          </a:ln>
        </p:spPr>
      </p:sp>
      <p:sp>
        <p:nvSpPr>
          <p:cNvPr id="362" name="Google Shape;362;p21"/>
          <p:cNvSpPr/>
          <p:nvPr/>
        </p:nvSpPr>
        <p:spPr>
          <a:xfrm>
            <a:off x="718823" y="6424679"/>
            <a:ext cx="171735" cy="2988087"/>
          </a:xfrm>
          <a:custGeom>
            <a:avLst/>
            <a:gdLst/>
            <a:ahLst/>
            <a:cxnLst/>
            <a:rect l="l" t="t" r="r" b="b"/>
            <a:pathLst>
              <a:path w="228981" h="3984117" extrusionOk="0">
                <a:moveTo>
                  <a:pt x="0" y="0"/>
                </a:moveTo>
                <a:lnTo>
                  <a:pt x="228981" y="0"/>
                </a:lnTo>
                <a:lnTo>
                  <a:pt x="228981" y="3984117"/>
                </a:lnTo>
                <a:lnTo>
                  <a:pt x="0" y="3984117"/>
                </a:lnTo>
                <a:close/>
              </a:path>
            </a:pathLst>
          </a:custGeom>
          <a:solidFill>
            <a:srgbClr val="8B1A1A"/>
          </a:solidFill>
          <a:ln w="25400" cap="sq" cmpd="sng">
            <a:solidFill>
              <a:srgbClr val="8B1A1A"/>
            </a:solidFill>
            <a:prstDash val="solid"/>
            <a:miter lim="8000"/>
            <a:headEnd type="none" w="sm" len="sm"/>
            <a:tailEnd type="none" w="sm" len="sm"/>
          </a:ln>
        </p:spPr>
      </p:sp>
      <p:grpSp>
        <p:nvGrpSpPr>
          <p:cNvPr id="363" name="Google Shape;363;p21"/>
          <p:cNvGrpSpPr/>
          <p:nvPr/>
        </p:nvGrpSpPr>
        <p:grpSpPr>
          <a:xfrm>
            <a:off x="1165860" y="6873563"/>
            <a:ext cx="16093440" cy="591502"/>
            <a:chOff x="0" y="-57150"/>
            <a:chExt cx="21457920" cy="788670"/>
          </a:xfrm>
        </p:grpSpPr>
        <p:sp>
          <p:nvSpPr>
            <p:cNvPr id="364" name="Google Shape;364;p21"/>
            <p:cNvSpPr/>
            <p:nvPr/>
          </p:nvSpPr>
          <p:spPr>
            <a:xfrm>
              <a:off x="0" y="0"/>
              <a:ext cx="21457920" cy="731520"/>
            </a:xfrm>
            <a:custGeom>
              <a:avLst/>
              <a:gdLst/>
              <a:ahLst/>
              <a:cxnLst/>
              <a:rect l="l" t="t" r="r" b="b"/>
              <a:pathLst>
                <a:path w="21457920" h="731520" extrusionOk="0">
                  <a:moveTo>
                    <a:pt x="0" y="0"/>
                  </a:moveTo>
                  <a:lnTo>
                    <a:pt x="21457920" y="0"/>
                  </a:lnTo>
                  <a:lnTo>
                    <a:pt x="21457920" y="731520"/>
                  </a:lnTo>
                  <a:lnTo>
                    <a:pt x="0" y="731520"/>
                  </a:lnTo>
                  <a:close/>
                </a:path>
              </a:pathLst>
            </a:custGeom>
            <a:blipFill rotWithShape="1">
              <a:blip r:embed="rId3">
                <a:alphaModFix amt="0"/>
              </a:blip>
              <a:stretch>
                <a:fillRect t="-521559" b="-521559"/>
              </a:stretch>
            </a:blipFill>
            <a:ln>
              <a:noFill/>
            </a:ln>
          </p:spPr>
        </p:sp>
        <p:sp>
          <p:nvSpPr>
            <p:cNvPr id="365" name="Google Shape;365;p21"/>
            <p:cNvSpPr txBox="1"/>
            <p:nvPr/>
          </p:nvSpPr>
          <p:spPr>
            <a:xfrm>
              <a:off x="0" y="-57150"/>
              <a:ext cx="21457920" cy="78867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1" i="0" u="none" strike="noStrike" cap="none">
                  <a:solidFill>
                    <a:srgbClr val="8B1A1A"/>
                  </a:solidFill>
                  <a:latin typeface="Calibri"/>
                  <a:ea typeface="Calibri"/>
                  <a:cs typeface="Calibri"/>
                  <a:sym typeface="Calibri"/>
                </a:rPr>
                <a:t>CASE 02 Political Governance Double Standard:</a:t>
              </a:r>
              <a:endParaRPr/>
            </a:p>
          </p:txBody>
        </p:sp>
      </p:grpSp>
      <p:grpSp>
        <p:nvGrpSpPr>
          <p:cNvPr id="366" name="Google Shape;366;p21"/>
          <p:cNvGrpSpPr/>
          <p:nvPr/>
        </p:nvGrpSpPr>
        <p:grpSpPr>
          <a:xfrm>
            <a:off x="1133856" y="7213473"/>
            <a:ext cx="16093440" cy="1857375"/>
            <a:chOff x="0" y="-38100"/>
            <a:chExt cx="21457920" cy="2476500"/>
          </a:xfrm>
        </p:grpSpPr>
        <p:sp>
          <p:nvSpPr>
            <p:cNvPr id="367" name="Google Shape;367;p21"/>
            <p:cNvSpPr/>
            <p:nvPr/>
          </p:nvSpPr>
          <p:spPr>
            <a:xfrm>
              <a:off x="0" y="0"/>
              <a:ext cx="21457920" cy="2438400"/>
            </a:xfrm>
            <a:custGeom>
              <a:avLst/>
              <a:gdLst/>
              <a:ahLst/>
              <a:cxnLst/>
              <a:rect l="l" t="t" r="r" b="b"/>
              <a:pathLst>
                <a:path w="21457920" h="2438400" extrusionOk="0">
                  <a:moveTo>
                    <a:pt x="0" y="0"/>
                  </a:moveTo>
                  <a:lnTo>
                    <a:pt x="21457920" y="0"/>
                  </a:lnTo>
                  <a:lnTo>
                    <a:pt x="21457920" y="2438400"/>
                  </a:lnTo>
                  <a:lnTo>
                    <a:pt x="0" y="2438400"/>
                  </a:lnTo>
                  <a:close/>
                </a:path>
              </a:pathLst>
            </a:custGeom>
            <a:blipFill rotWithShape="1">
              <a:blip r:embed="rId3">
                <a:alphaModFix amt="0"/>
              </a:blip>
              <a:stretch>
                <a:fillRect t="-121468" b="-121468"/>
              </a:stretch>
            </a:blipFill>
            <a:ln>
              <a:noFill/>
            </a:ln>
          </p:spPr>
        </p:sp>
        <p:sp>
          <p:nvSpPr>
            <p:cNvPr id="368" name="Google Shape;368;p21"/>
            <p:cNvSpPr txBox="1"/>
            <p:nvPr/>
          </p:nvSpPr>
          <p:spPr>
            <a:xfrm>
              <a:off x="0" y="-38100"/>
              <a:ext cx="21457920" cy="2476500"/>
            </a:xfrm>
            <a:prstGeom prst="rect">
              <a:avLst/>
            </a:prstGeom>
            <a:noFill/>
            <a:ln>
              <a:noFill/>
            </a:ln>
          </p:spPr>
          <p:txBody>
            <a:bodyPr spcFirstLastPara="1" wrap="square" lIns="0" tIns="0" rIns="0" bIns="0" anchor="ctr" anchorCtr="0">
              <a:noAutofit/>
            </a:bodyPr>
            <a:lstStyle/>
            <a:p>
              <a:pPr marL="0" marR="0" lvl="0" indent="0" algn="l" rtl="0">
                <a:lnSpc>
                  <a:spcPct val="119958"/>
                </a:lnSpc>
                <a:spcBef>
                  <a:spcPts val="0"/>
                </a:spcBef>
                <a:spcAft>
                  <a:spcPts val="0"/>
                </a:spcAft>
                <a:buNone/>
              </a:pPr>
              <a:r>
                <a:rPr lang="en-US" sz="2400" b="0" i="0" u="none" strike="noStrike" cap="none">
                  <a:solidFill>
                    <a:srgbClr val="2D2D2D"/>
                  </a:solidFill>
                  <a:latin typeface="Calibri"/>
                  <a:ea typeface="Calibri"/>
                  <a:cs typeface="Calibri"/>
                  <a:sym typeface="Calibri"/>
                </a:rPr>
                <a:t>Ashraf et al. document cases where the same Arabic question about government corruption receives a 'safe' classification from one political perspective and an 'unsafe' classification from another. Guardrails trained on English have no framework to detect this sensitivity and the inconsistency is invisible until it occurs in deployment.</a:t>
              </a:r>
              <a:endParaRPr/>
            </a:p>
          </p:txBody>
        </p:sp>
      </p:grpSp>
      <p:sp>
        <p:nvSpPr>
          <p:cNvPr id="369" name="Google Shape;369;p21"/>
          <p:cNvSpPr/>
          <p:nvPr/>
        </p:nvSpPr>
        <p:spPr>
          <a:xfrm>
            <a:off x="14838272" y="534945"/>
            <a:ext cx="3015388" cy="765909"/>
          </a:xfrm>
          <a:custGeom>
            <a:avLst/>
            <a:gdLst/>
            <a:ahLst/>
            <a:cxnLst/>
            <a:rect l="l" t="t" r="r" b="b"/>
            <a:pathLst>
              <a:path w="3015388" h="765909" extrusionOk="0">
                <a:moveTo>
                  <a:pt x="0" y="0"/>
                </a:moveTo>
                <a:lnTo>
                  <a:pt x="3015388" y="0"/>
                </a:lnTo>
                <a:lnTo>
                  <a:pt x="3015388" y="765909"/>
                </a:lnTo>
                <a:lnTo>
                  <a:pt x="0" y="765909"/>
                </a:lnTo>
                <a:lnTo>
                  <a:pt x="0" y="0"/>
                </a:lnTo>
                <a:close/>
              </a:path>
            </a:pathLst>
          </a:custGeom>
          <a:blipFill rotWithShape="1">
            <a:blip r:embed="rId4">
              <a:alphaModFix/>
            </a:blip>
            <a:stretch>
              <a:fillRect/>
            </a:stretch>
          </a:blipFill>
          <a:ln>
            <a:noFill/>
          </a:ln>
        </p:spPr>
      </p:sp>
      <p:sp>
        <p:nvSpPr>
          <p:cNvPr id="370" name="Google Shape;370;p21"/>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371" name="Google Shape;371;p21"/>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372" name="Google Shape;372;p21"/>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9</a:t>
            </a:r>
            <a:endParaRPr sz="1593">
              <a:solidFill>
                <a:srgbClr val="AAAAA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376"/>
        <p:cNvGrpSpPr/>
        <p:nvPr/>
      </p:nvGrpSpPr>
      <p:grpSpPr>
        <a:xfrm>
          <a:off x="0" y="0"/>
          <a:ext cx="0" cy="0"/>
          <a:chOff x="0" y="0"/>
          <a:chExt cx="0" cy="0"/>
        </a:xfrm>
      </p:grpSpPr>
      <p:grpSp>
        <p:nvGrpSpPr>
          <p:cNvPr id="377" name="Google Shape;377;p22"/>
          <p:cNvGrpSpPr/>
          <p:nvPr/>
        </p:nvGrpSpPr>
        <p:grpSpPr>
          <a:xfrm>
            <a:off x="1005840" y="1595914"/>
            <a:ext cx="3657600" cy="2244566"/>
            <a:chOff x="0" y="-66675"/>
            <a:chExt cx="4876800" cy="2992755"/>
          </a:xfrm>
        </p:grpSpPr>
        <p:sp>
          <p:nvSpPr>
            <p:cNvPr id="378" name="Google Shape;378;p22"/>
            <p:cNvSpPr/>
            <p:nvPr/>
          </p:nvSpPr>
          <p:spPr>
            <a:xfrm>
              <a:off x="0" y="0"/>
              <a:ext cx="4876800" cy="2926080"/>
            </a:xfrm>
            <a:custGeom>
              <a:avLst/>
              <a:gdLst/>
              <a:ahLst/>
              <a:cxnLst/>
              <a:rect l="l" t="t" r="r" b="b"/>
              <a:pathLst>
                <a:path w="4876800" h="2926080" extrusionOk="0">
                  <a:moveTo>
                    <a:pt x="0" y="0"/>
                  </a:moveTo>
                  <a:lnTo>
                    <a:pt x="4876800" y="0"/>
                  </a:lnTo>
                  <a:lnTo>
                    <a:pt x="4876800" y="2926080"/>
                  </a:lnTo>
                  <a:lnTo>
                    <a:pt x="0" y="2926080"/>
                  </a:lnTo>
                  <a:close/>
                </a:path>
              </a:pathLst>
            </a:custGeom>
            <a:blipFill rotWithShape="1">
              <a:blip r:embed="rId3">
                <a:alphaModFix amt="0"/>
              </a:blip>
              <a:stretch>
                <a:fillRect l="-26982" r="-26982"/>
              </a:stretch>
            </a:blipFill>
            <a:ln>
              <a:noFill/>
            </a:ln>
          </p:spPr>
        </p:sp>
        <p:sp>
          <p:nvSpPr>
            <p:cNvPr id="379" name="Google Shape;379;p22"/>
            <p:cNvSpPr txBox="1"/>
            <p:nvPr/>
          </p:nvSpPr>
          <p:spPr>
            <a:xfrm>
              <a:off x="0" y="-66675"/>
              <a:ext cx="4876800" cy="299275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17600" b="1" i="0" u="none" strike="noStrike" cap="none">
                  <a:solidFill>
                    <a:srgbClr val="8B1A1A"/>
                  </a:solidFill>
                  <a:latin typeface="Arial"/>
                  <a:ea typeface="Arial"/>
                  <a:cs typeface="Arial"/>
                  <a:sym typeface="Arial"/>
                </a:rPr>
                <a:t>05</a:t>
              </a:r>
              <a:endParaRPr/>
            </a:p>
          </p:txBody>
        </p:sp>
      </p:grpSp>
      <p:grpSp>
        <p:nvGrpSpPr>
          <p:cNvPr id="380" name="Google Shape;380;p22"/>
          <p:cNvGrpSpPr/>
          <p:nvPr/>
        </p:nvGrpSpPr>
        <p:grpSpPr>
          <a:xfrm>
            <a:off x="1005840" y="3811905"/>
            <a:ext cx="15544800" cy="2954655"/>
            <a:chOff x="0" y="-38100"/>
            <a:chExt cx="20726400" cy="3939540"/>
          </a:xfrm>
        </p:grpSpPr>
        <p:sp>
          <p:nvSpPr>
            <p:cNvPr id="381" name="Google Shape;381;p22"/>
            <p:cNvSpPr/>
            <p:nvPr/>
          </p:nvSpPr>
          <p:spPr>
            <a:xfrm>
              <a:off x="0" y="0"/>
              <a:ext cx="20726400" cy="3901440"/>
            </a:xfrm>
            <a:custGeom>
              <a:avLst/>
              <a:gdLst/>
              <a:ahLst/>
              <a:cxnLst/>
              <a:rect l="l" t="t" r="r" b="b"/>
              <a:pathLst>
                <a:path w="20726400" h="3901440" extrusionOk="0">
                  <a:moveTo>
                    <a:pt x="0" y="0"/>
                  </a:moveTo>
                  <a:lnTo>
                    <a:pt x="20726400" y="0"/>
                  </a:lnTo>
                  <a:lnTo>
                    <a:pt x="20726400" y="3901440"/>
                  </a:lnTo>
                  <a:lnTo>
                    <a:pt x="0" y="3901440"/>
                  </a:lnTo>
                  <a:close/>
                </a:path>
              </a:pathLst>
            </a:custGeom>
            <a:blipFill rotWithShape="1">
              <a:blip r:embed="rId3">
                <a:alphaModFix amt="0"/>
              </a:blip>
              <a:stretch>
                <a:fillRect t="-53515" b="-53515"/>
              </a:stretch>
            </a:blipFill>
            <a:ln>
              <a:noFill/>
            </a:ln>
          </p:spPr>
        </p:sp>
        <p:sp>
          <p:nvSpPr>
            <p:cNvPr id="382" name="Google Shape;382;p22"/>
            <p:cNvSpPr txBox="1"/>
            <p:nvPr/>
          </p:nvSpPr>
          <p:spPr>
            <a:xfrm>
              <a:off x="0" y="-38100"/>
              <a:ext cx="20726400" cy="393954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8800" b="1" i="0" u="none" strike="noStrike" cap="none">
                  <a:solidFill>
                    <a:srgbClr val="FFFFFF"/>
                  </a:solidFill>
                  <a:latin typeface="Arial"/>
                  <a:ea typeface="Arial"/>
                  <a:cs typeface="Arial"/>
                  <a:sym typeface="Arial"/>
                </a:rPr>
                <a:t>Recommendations</a:t>
              </a:r>
              <a:endParaRPr/>
            </a:p>
          </p:txBody>
        </p:sp>
      </p:grpSp>
      <p:sp>
        <p:nvSpPr>
          <p:cNvPr id="383" name="Google Shape;383;p22"/>
          <p:cNvSpPr/>
          <p:nvPr/>
        </p:nvSpPr>
        <p:spPr>
          <a:xfrm>
            <a:off x="993143" y="6900167"/>
            <a:ext cx="2037111" cy="153447"/>
          </a:xfrm>
          <a:custGeom>
            <a:avLst/>
            <a:gdLst/>
            <a:ahLst/>
            <a:cxnLst/>
            <a:rect l="l" t="t" r="r" b="b"/>
            <a:pathLst>
              <a:path w="2716149" h="204597" extrusionOk="0">
                <a:moveTo>
                  <a:pt x="0" y="0"/>
                </a:moveTo>
                <a:lnTo>
                  <a:pt x="2716149" y="0"/>
                </a:lnTo>
                <a:lnTo>
                  <a:pt x="2716149" y="204597"/>
                </a:lnTo>
                <a:lnTo>
                  <a:pt x="0" y="204597"/>
                </a:lnTo>
                <a:close/>
              </a:path>
            </a:pathLst>
          </a:custGeom>
          <a:solidFill>
            <a:srgbClr val="A52020"/>
          </a:solidFill>
          <a:ln w="25400" cap="sq" cmpd="sng">
            <a:solidFill>
              <a:srgbClr val="A52020"/>
            </a:solidFill>
            <a:prstDash val="solid"/>
            <a:miter lim="8000"/>
            <a:headEnd type="none" w="sm" len="sm"/>
            <a:tailEnd type="none" w="sm" len="sm"/>
          </a:ln>
        </p:spPr>
      </p:sp>
      <p:grpSp>
        <p:nvGrpSpPr>
          <p:cNvPr id="384" name="Google Shape;384;p22"/>
          <p:cNvGrpSpPr/>
          <p:nvPr/>
        </p:nvGrpSpPr>
        <p:grpSpPr>
          <a:xfrm>
            <a:off x="1005840" y="7180898"/>
            <a:ext cx="14996160" cy="957263"/>
            <a:chOff x="0" y="-57150"/>
            <a:chExt cx="19994880" cy="1276350"/>
          </a:xfrm>
        </p:grpSpPr>
        <p:sp>
          <p:nvSpPr>
            <p:cNvPr id="385" name="Google Shape;385;p22"/>
            <p:cNvSpPr/>
            <p:nvPr/>
          </p:nvSpPr>
          <p:spPr>
            <a:xfrm>
              <a:off x="0" y="0"/>
              <a:ext cx="19994880" cy="1219200"/>
            </a:xfrm>
            <a:custGeom>
              <a:avLst/>
              <a:gdLst/>
              <a:ahLst/>
              <a:cxnLst/>
              <a:rect l="l" t="t" r="r" b="b"/>
              <a:pathLst>
                <a:path w="19994880" h="1219200" extrusionOk="0">
                  <a:moveTo>
                    <a:pt x="0" y="0"/>
                  </a:moveTo>
                  <a:lnTo>
                    <a:pt x="19994880" y="0"/>
                  </a:lnTo>
                  <a:lnTo>
                    <a:pt x="19994880" y="1219200"/>
                  </a:lnTo>
                  <a:lnTo>
                    <a:pt x="0" y="1219200"/>
                  </a:lnTo>
                  <a:close/>
                </a:path>
              </a:pathLst>
            </a:custGeom>
            <a:blipFill rotWithShape="1">
              <a:blip r:embed="rId3">
                <a:alphaModFix amt="0"/>
              </a:blip>
              <a:stretch>
                <a:fillRect t="-269570" b="-269570"/>
              </a:stretch>
            </a:blipFill>
            <a:ln>
              <a:noFill/>
            </a:ln>
          </p:spPr>
        </p:sp>
        <p:sp>
          <p:nvSpPr>
            <p:cNvPr id="386" name="Google Shape;386;p22"/>
            <p:cNvSpPr txBox="1"/>
            <p:nvPr/>
          </p:nvSpPr>
          <p:spPr>
            <a:xfrm>
              <a:off x="0" y="-57150"/>
              <a:ext cx="19994880" cy="127635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600" b="0" i="0" u="none" strike="noStrike" cap="none">
                  <a:solidFill>
                    <a:srgbClr val="FFFFFF"/>
                  </a:solidFill>
                  <a:latin typeface="Calibri"/>
                  <a:ea typeface="Calibri"/>
                  <a:cs typeface="Calibri"/>
                  <a:sym typeface="Calibri"/>
                </a:rPr>
                <a:t>Three actionable requirements for UAE procurement and regulatory bodies.</a:t>
              </a:r>
              <a:endParaRPr/>
            </a:p>
          </p:txBody>
        </p:sp>
      </p:grpSp>
      <p:sp>
        <p:nvSpPr>
          <p:cNvPr id="387" name="Google Shape;387;p22"/>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388" name="Google Shape;388;p22"/>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389" name="Google Shape;389;p22"/>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10</a:t>
            </a:r>
            <a:endParaRPr sz="1593">
              <a:solidFill>
                <a:srgbClr val="AAAAAA"/>
              </a:solidFill>
              <a:latin typeface="Calibri"/>
              <a:ea typeface="Calibri"/>
              <a:cs typeface="Calibri"/>
              <a:sym typeface="Calibri"/>
            </a:endParaRPr>
          </a:p>
        </p:txBody>
      </p:sp>
      <p:sp>
        <p:nvSpPr>
          <p:cNvPr id="390" name="Google Shape;390;p22"/>
          <p:cNvSpPr/>
          <p:nvPr/>
        </p:nvSpPr>
        <p:spPr>
          <a:xfrm>
            <a:off x="12878380" y="693745"/>
            <a:ext cx="4418971" cy="1202350"/>
          </a:xfrm>
          <a:custGeom>
            <a:avLst/>
            <a:gdLst/>
            <a:ahLst/>
            <a:cxnLst/>
            <a:rect l="l" t="t" r="r" b="b"/>
            <a:pathLst>
              <a:path w="3079422" h="801567" extrusionOk="0">
                <a:moveTo>
                  <a:pt x="0" y="0"/>
                </a:moveTo>
                <a:lnTo>
                  <a:pt x="3079422" y="0"/>
                </a:lnTo>
                <a:lnTo>
                  <a:pt x="3079422" y="801567"/>
                </a:lnTo>
                <a:lnTo>
                  <a:pt x="0" y="801567"/>
                </a:lnTo>
                <a:lnTo>
                  <a:pt x="0" y="0"/>
                </a:lnTo>
                <a:close/>
              </a:path>
            </a:pathLst>
          </a:custGeom>
          <a:blipFill rotWithShape="1">
            <a:blip r:embed="rId4">
              <a:alphaModFix/>
            </a:blip>
            <a:stretch>
              <a:fillRect/>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grpSp>
        <p:nvGrpSpPr>
          <p:cNvPr id="395" name="Google Shape;395;p23"/>
          <p:cNvGrpSpPr/>
          <p:nvPr/>
        </p:nvGrpSpPr>
        <p:grpSpPr>
          <a:xfrm>
            <a:off x="718823" y="506813"/>
            <a:ext cx="9144000" cy="669612"/>
            <a:chOff x="0" y="-66675"/>
            <a:chExt cx="12192000" cy="892816"/>
          </a:xfrm>
        </p:grpSpPr>
        <p:sp>
          <p:nvSpPr>
            <p:cNvPr id="396" name="Google Shape;396;p23"/>
            <p:cNvSpPr/>
            <p:nvPr/>
          </p:nvSpPr>
          <p:spPr>
            <a:xfrm>
              <a:off x="0" y="0"/>
              <a:ext cx="12192000" cy="826141"/>
            </a:xfrm>
            <a:custGeom>
              <a:avLst/>
              <a:gdLst/>
              <a:ahLst/>
              <a:cxnLst/>
              <a:rect l="l" t="t" r="r" b="b"/>
              <a:pathLst>
                <a:path w="12192000" h="826141" extrusionOk="0">
                  <a:moveTo>
                    <a:pt x="0" y="0"/>
                  </a:moveTo>
                  <a:lnTo>
                    <a:pt x="12192000" y="0"/>
                  </a:lnTo>
                  <a:lnTo>
                    <a:pt x="12192000" y="826141"/>
                  </a:lnTo>
                  <a:lnTo>
                    <a:pt x="0" y="826141"/>
                  </a:lnTo>
                  <a:close/>
                </a:path>
              </a:pathLst>
            </a:custGeom>
            <a:blipFill rotWithShape="1">
              <a:blip r:embed="rId3">
                <a:alphaModFix amt="0"/>
              </a:blip>
              <a:stretch>
                <a:fillRect t="-249183" b="-225926"/>
              </a:stretch>
            </a:blipFill>
            <a:ln>
              <a:noFill/>
            </a:ln>
          </p:spPr>
        </p:sp>
        <p:sp>
          <p:nvSpPr>
            <p:cNvPr id="397" name="Google Shape;397;p23"/>
            <p:cNvSpPr txBox="1"/>
            <p:nvPr/>
          </p:nvSpPr>
          <p:spPr>
            <a:xfrm>
              <a:off x="0" y="-66675"/>
              <a:ext cx="12192000" cy="892816"/>
            </a:xfrm>
            <a:prstGeom prst="rect">
              <a:avLst/>
            </a:prstGeom>
            <a:noFill/>
            <a:ln>
              <a:noFill/>
            </a:ln>
          </p:spPr>
          <p:txBody>
            <a:bodyPr spcFirstLastPara="1" wrap="square" lIns="0" tIns="0" rIns="0" bIns="0" anchor="ctr" anchorCtr="0">
              <a:noAutofit/>
            </a:bodyPr>
            <a:lstStyle/>
            <a:p>
              <a:pPr marL="0" marR="0" lvl="0" indent="0" algn="l" rtl="0">
                <a:lnSpc>
                  <a:spcPct val="120006"/>
                </a:lnSpc>
                <a:spcBef>
                  <a:spcPts val="0"/>
                </a:spcBef>
                <a:spcAft>
                  <a:spcPts val="0"/>
                </a:spcAft>
                <a:buNone/>
              </a:pPr>
              <a:r>
                <a:rPr lang="en-US" sz="3499" b="1" i="0" u="none" strike="noStrike" cap="none">
                  <a:solidFill>
                    <a:srgbClr val="8B1A1A"/>
                  </a:solidFill>
                  <a:latin typeface="Calibri"/>
                  <a:ea typeface="Calibri"/>
                  <a:cs typeface="Calibri"/>
                  <a:sym typeface="Calibri"/>
                </a:rPr>
                <a:t>RECOMMENDATIONS</a:t>
              </a:r>
              <a:endParaRPr sz="1800"/>
            </a:p>
          </p:txBody>
        </p:sp>
      </p:grpSp>
      <p:grpSp>
        <p:nvGrpSpPr>
          <p:cNvPr id="398" name="Google Shape;398;p23"/>
          <p:cNvGrpSpPr/>
          <p:nvPr/>
        </p:nvGrpSpPr>
        <p:grpSpPr>
          <a:xfrm>
            <a:off x="640080" y="956791"/>
            <a:ext cx="16824960" cy="1183684"/>
            <a:chOff x="0" y="-38100"/>
            <a:chExt cx="22433280" cy="1578246"/>
          </a:xfrm>
        </p:grpSpPr>
        <p:sp>
          <p:nvSpPr>
            <p:cNvPr id="399" name="Google Shape;399;p23"/>
            <p:cNvSpPr/>
            <p:nvPr/>
          </p:nvSpPr>
          <p:spPr>
            <a:xfrm>
              <a:off x="0" y="0"/>
              <a:ext cx="22433280" cy="1540146"/>
            </a:xfrm>
            <a:custGeom>
              <a:avLst/>
              <a:gdLst/>
              <a:ahLst/>
              <a:cxnLst/>
              <a:rect l="l" t="t" r="r" b="b"/>
              <a:pathLst>
                <a:path w="22433280" h="1540146" extrusionOk="0">
                  <a:moveTo>
                    <a:pt x="0" y="0"/>
                  </a:moveTo>
                  <a:lnTo>
                    <a:pt x="22433280" y="0"/>
                  </a:lnTo>
                  <a:lnTo>
                    <a:pt x="22433280" y="1540146"/>
                  </a:lnTo>
                  <a:lnTo>
                    <a:pt x="0" y="1540146"/>
                  </a:lnTo>
                  <a:close/>
                </a:path>
              </a:pathLst>
            </a:custGeom>
            <a:blipFill rotWithShape="1">
              <a:blip r:embed="rId3">
                <a:alphaModFix amt="0"/>
              </a:blip>
              <a:stretch>
                <a:fillRect t="-237887" b="-229714"/>
              </a:stretch>
            </a:blipFill>
            <a:ln>
              <a:noFill/>
            </a:ln>
          </p:spPr>
        </p:sp>
        <p:sp>
          <p:nvSpPr>
            <p:cNvPr id="400" name="Google Shape;400;p23"/>
            <p:cNvSpPr txBox="1"/>
            <p:nvPr/>
          </p:nvSpPr>
          <p:spPr>
            <a:xfrm>
              <a:off x="0" y="-38100"/>
              <a:ext cx="22433280" cy="1578246"/>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1" i="0" u="none" strike="noStrike" cap="none">
                  <a:solidFill>
                    <a:srgbClr val="1A1A1A"/>
                  </a:solidFill>
                  <a:latin typeface="Arial"/>
                  <a:ea typeface="Arial"/>
                  <a:cs typeface="Arial"/>
                  <a:sym typeface="Arial"/>
                </a:rPr>
                <a:t>Three Actions for UAE Regulators:</a:t>
              </a:r>
              <a:endParaRPr/>
            </a:p>
          </p:txBody>
        </p:sp>
      </p:grpSp>
      <p:sp>
        <p:nvSpPr>
          <p:cNvPr id="401" name="Google Shape;401;p23"/>
          <p:cNvSpPr/>
          <p:nvPr/>
        </p:nvSpPr>
        <p:spPr>
          <a:xfrm>
            <a:off x="718823" y="2181863"/>
            <a:ext cx="16850391" cy="2311431"/>
          </a:xfrm>
          <a:custGeom>
            <a:avLst/>
            <a:gdLst/>
            <a:ahLst/>
            <a:cxnLst/>
            <a:rect l="l" t="t" r="r" b="b"/>
            <a:pathLst>
              <a:path w="22467188" h="3081909" extrusionOk="0">
                <a:moveTo>
                  <a:pt x="0" y="0"/>
                </a:moveTo>
                <a:lnTo>
                  <a:pt x="22467188" y="0"/>
                </a:lnTo>
                <a:lnTo>
                  <a:pt x="22467188" y="3081909"/>
                </a:lnTo>
                <a:lnTo>
                  <a:pt x="0" y="3081909"/>
                </a:lnTo>
                <a:close/>
              </a:path>
            </a:pathLst>
          </a:custGeom>
          <a:solidFill>
            <a:srgbClr val="EEEBE6"/>
          </a:solidFill>
          <a:ln w="25400" cap="sq" cmpd="sng">
            <a:solidFill>
              <a:srgbClr val="DDDDDD"/>
            </a:solidFill>
            <a:prstDash val="solid"/>
            <a:miter lim="8000"/>
            <a:headEnd type="none" w="sm" len="sm"/>
            <a:tailEnd type="none" w="sm" len="sm"/>
          </a:ln>
        </p:spPr>
      </p:sp>
      <p:sp>
        <p:nvSpPr>
          <p:cNvPr id="402" name="Google Shape;402;p23"/>
          <p:cNvSpPr/>
          <p:nvPr/>
        </p:nvSpPr>
        <p:spPr>
          <a:xfrm>
            <a:off x="718823" y="2181863"/>
            <a:ext cx="190023" cy="2311431"/>
          </a:xfrm>
          <a:custGeom>
            <a:avLst/>
            <a:gdLst/>
            <a:ahLst/>
            <a:cxnLst/>
            <a:rect l="l" t="t" r="r" b="b"/>
            <a:pathLst>
              <a:path w="253365" h="3081909" extrusionOk="0">
                <a:moveTo>
                  <a:pt x="0" y="0"/>
                </a:moveTo>
                <a:lnTo>
                  <a:pt x="253365" y="0"/>
                </a:lnTo>
                <a:lnTo>
                  <a:pt x="253365" y="3081909"/>
                </a:lnTo>
                <a:lnTo>
                  <a:pt x="0" y="3081909"/>
                </a:lnTo>
                <a:close/>
              </a:path>
            </a:pathLst>
          </a:custGeom>
          <a:solidFill>
            <a:srgbClr val="8B1A1A"/>
          </a:solidFill>
          <a:ln w="25400" cap="sq" cmpd="sng">
            <a:solidFill>
              <a:srgbClr val="8B1A1A"/>
            </a:solidFill>
            <a:prstDash val="solid"/>
            <a:miter lim="8000"/>
            <a:headEnd type="none" w="sm" len="sm"/>
            <a:tailEnd type="none" w="sm" len="sm"/>
          </a:ln>
        </p:spPr>
      </p:sp>
      <p:grpSp>
        <p:nvGrpSpPr>
          <p:cNvPr id="403" name="Google Shape;403;p23"/>
          <p:cNvGrpSpPr/>
          <p:nvPr/>
        </p:nvGrpSpPr>
        <p:grpSpPr>
          <a:xfrm>
            <a:off x="1133856" y="3003232"/>
            <a:ext cx="1097280" cy="654367"/>
            <a:chOff x="0" y="-19050"/>
            <a:chExt cx="1463040" cy="872490"/>
          </a:xfrm>
        </p:grpSpPr>
        <p:sp>
          <p:nvSpPr>
            <p:cNvPr id="404" name="Google Shape;404;p23"/>
            <p:cNvSpPr/>
            <p:nvPr/>
          </p:nvSpPr>
          <p:spPr>
            <a:xfrm>
              <a:off x="0" y="0"/>
              <a:ext cx="1463040" cy="853440"/>
            </a:xfrm>
            <a:custGeom>
              <a:avLst/>
              <a:gdLst/>
              <a:ahLst/>
              <a:cxnLst/>
              <a:rect l="l" t="t" r="r" b="b"/>
              <a:pathLst>
                <a:path w="1463040" h="853440" extrusionOk="0">
                  <a:moveTo>
                    <a:pt x="0" y="0"/>
                  </a:moveTo>
                  <a:lnTo>
                    <a:pt x="1463040" y="0"/>
                  </a:lnTo>
                  <a:lnTo>
                    <a:pt x="1463040" y="853440"/>
                  </a:lnTo>
                  <a:lnTo>
                    <a:pt x="0" y="853440"/>
                  </a:lnTo>
                  <a:close/>
                </a:path>
              </a:pathLst>
            </a:custGeom>
            <a:blipFill rotWithShape="1">
              <a:blip r:embed="rId3">
                <a:alphaModFix amt="0"/>
              </a:blip>
              <a:stretch>
                <a:fillRect l="-24844" r="-24844"/>
              </a:stretch>
            </a:blipFill>
            <a:ln>
              <a:noFill/>
            </a:ln>
          </p:spPr>
        </p:sp>
        <p:sp>
          <p:nvSpPr>
            <p:cNvPr id="405" name="Google Shape;405;p23"/>
            <p:cNvSpPr txBox="1"/>
            <p:nvPr/>
          </p:nvSpPr>
          <p:spPr>
            <a:xfrm>
              <a:off x="0" y="-19050"/>
              <a:ext cx="1463040" cy="87249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000" b="1" i="0" u="none" strike="noStrike" cap="none">
                  <a:solidFill>
                    <a:srgbClr val="8B1A1A"/>
                  </a:solidFill>
                  <a:latin typeface="Arial"/>
                  <a:ea typeface="Arial"/>
                  <a:cs typeface="Arial"/>
                  <a:sym typeface="Arial"/>
                </a:rPr>
                <a:t>01</a:t>
              </a:r>
              <a:endParaRPr/>
            </a:p>
          </p:txBody>
        </p:sp>
      </p:grpSp>
      <p:grpSp>
        <p:nvGrpSpPr>
          <p:cNvPr id="406" name="Google Shape;406;p23"/>
          <p:cNvGrpSpPr/>
          <p:nvPr/>
        </p:nvGrpSpPr>
        <p:grpSpPr>
          <a:xfrm>
            <a:off x="2103120" y="2826353"/>
            <a:ext cx="4663440" cy="986695"/>
            <a:chOff x="0" y="-47625"/>
            <a:chExt cx="6217920" cy="1315593"/>
          </a:xfrm>
        </p:grpSpPr>
        <p:sp>
          <p:nvSpPr>
            <p:cNvPr id="407" name="Google Shape;407;p23"/>
            <p:cNvSpPr/>
            <p:nvPr/>
          </p:nvSpPr>
          <p:spPr>
            <a:xfrm>
              <a:off x="0" y="0"/>
              <a:ext cx="6217920" cy="1267968"/>
            </a:xfrm>
            <a:custGeom>
              <a:avLst/>
              <a:gdLst/>
              <a:ahLst/>
              <a:cxnLst/>
              <a:rect l="l" t="t" r="r" b="b"/>
              <a:pathLst>
                <a:path w="6217920" h="1267968" extrusionOk="0">
                  <a:moveTo>
                    <a:pt x="0" y="0"/>
                  </a:moveTo>
                  <a:lnTo>
                    <a:pt x="6217920" y="0"/>
                  </a:lnTo>
                  <a:lnTo>
                    <a:pt x="6217920" y="1267968"/>
                  </a:lnTo>
                  <a:lnTo>
                    <a:pt x="0" y="1267968"/>
                  </a:lnTo>
                  <a:close/>
                </a:path>
              </a:pathLst>
            </a:custGeom>
            <a:blipFill rotWithShape="1">
              <a:blip r:embed="rId3">
                <a:alphaModFix amt="0"/>
              </a:blip>
              <a:stretch>
                <a:fillRect t="-45551" b="-45551"/>
              </a:stretch>
            </a:blipFill>
            <a:ln>
              <a:noFill/>
            </a:ln>
          </p:spPr>
        </p:sp>
        <p:sp>
          <p:nvSpPr>
            <p:cNvPr id="408" name="Google Shape;408;p23"/>
            <p:cNvSpPr txBox="1"/>
            <p:nvPr/>
          </p:nvSpPr>
          <p:spPr>
            <a:xfrm>
              <a:off x="0" y="-47625"/>
              <a:ext cx="6217920" cy="131559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300" b="1" i="0" u="none" strike="noStrike" cap="none">
                  <a:solidFill>
                    <a:srgbClr val="1A1A1A"/>
                  </a:solidFill>
                  <a:latin typeface="Calibri"/>
                  <a:ea typeface="Calibri"/>
                  <a:cs typeface="Calibri"/>
                  <a:sym typeface="Calibri"/>
                </a:rPr>
                <a:t>Require Arabic-specific red-teaming as a condition of procurement</a:t>
              </a:r>
              <a:endParaRPr/>
            </a:p>
          </p:txBody>
        </p:sp>
      </p:grpSp>
      <p:sp>
        <p:nvSpPr>
          <p:cNvPr id="409" name="Google Shape;409;p23"/>
          <p:cNvSpPr/>
          <p:nvPr/>
        </p:nvSpPr>
        <p:spPr>
          <a:xfrm>
            <a:off x="7031355" y="2367915"/>
            <a:ext cx="19050" cy="1939290"/>
          </a:xfrm>
          <a:custGeom>
            <a:avLst/>
            <a:gdLst/>
            <a:ahLst/>
            <a:cxnLst/>
            <a:rect l="l" t="t" r="r" b="b"/>
            <a:pathLst>
              <a:path w="25400" h="2585720" extrusionOk="0">
                <a:moveTo>
                  <a:pt x="0" y="0"/>
                </a:moveTo>
                <a:lnTo>
                  <a:pt x="25400" y="2585720"/>
                </a:lnTo>
              </a:path>
            </a:pathLst>
          </a:custGeom>
          <a:blipFill rotWithShape="1">
            <a:blip r:embed="rId3">
              <a:alphaModFix amt="0"/>
            </a:blip>
            <a:stretch>
              <a:fillRect l="-13038794" r="-13038794"/>
            </a:stretch>
          </a:blipFill>
          <a:ln w="19050" cap="sq" cmpd="sng">
            <a:solidFill>
              <a:srgbClr val="CCCCCC"/>
            </a:solidFill>
            <a:prstDash val="solid"/>
            <a:miter lim="8000"/>
            <a:headEnd type="none" w="sm" len="sm"/>
            <a:tailEnd type="none" w="sm" len="sm"/>
          </a:ln>
        </p:spPr>
      </p:sp>
      <p:grpSp>
        <p:nvGrpSpPr>
          <p:cNvPr id="410" name="Google Shape;410;p23"/>
          <p:cNvGrpSpPr/>
          <p:nvPr/>
        </p:nvGrpSpPr>
        <p:grpSpPr>
          <a:xfrm>
            <a:off x="7315200" y="2354050"/>
            <a:ext cx="9912096" cy="2047399"/>
            <a:chOff x="0" y="-47625"/>
            <a:chExt cx="13216128" cy="2729865"/>
          </a:xfrm>
        </p:grpSpPr>
        <p:sp>
          <p:nvSpPr>
            <p:cNvPr id="411" name="Google Shape;411;p23"/>
            <p:cNvSpPr/>
            <p:nvPr/>
          </p:nvSpPr>
          <p:spPr>
            <a:xfrm>
              <a:off x="0" y="0"/>
              <a:ext cx="13216128" cy="2682240"/>
            </a:xfrm>
            <a:custGeom>
              <a:avLst/>
              <a:gdLst/>
              <a:ahLst/>
              <a:cxnLst/>
              <a:rect l="l" t="t" r="r" b="b"/>
              <a:pathLst>
                <a:path w="13216128" h="2682240" extrusionOk="0">
                  <a:moveTo>
                    <a:pt x="0" y="0"/>
                  </a:moveTo>
                  <a:lnTo>
                    <a:pt x="13216128" y="0"/>
                  </a:lnTo>
                  <a:lnTo>
                    <a:pt x="13216128" y="2682240"/>
                  </a:lnTo>
                  <a:lnTo>
                    <a:pt x="0" y="2682240"/>
                  </a:lnTo>
                  <a:close/>
                </a:path>
              </a:pathLst>
            </a:custGeom>
            <a:blipFill rotWithShape="1">
              <a:blip r:embed="rId3">
                <a:alphaModFix amt="0"/>
              </a:blip>
              <a:stretch>
                <a:fillRect t="-46010" b="-46010"/>
              </a:stretch>
            </a:blipFill>
            <a:ln>
              <a:noFill/>
            </a:ln>
          </p:spPr>
        </p:sp>
        <p:sp>
          <p:nvSpPr>
            <p:cNvPr id="412" name="Google Shape;412;p23"/>
            <p:cNvSpPr txBox="1"/>
            <p:nvPr/>
          </p:nvSpPr>
          <p:spPr>
            <a:xfrm>
              <a:off x="0" y="-47625"/>
              <a:ext cx="13216128" cy="27298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a:solidFill>
                    <a:srgbClr val="2D2D2D"/>
                  </a:solidFill>
                  <a:latin typeface="Calibri"/>
                  <a:ea typeface="Calibri"/>
                  <a:cs typeface="Calibri"/>
                  <a:sym typeface="Calibri"/>
                </a:rPr>
                <a:t>Vendors should demonstrate they have tested models against Arabic-language adversarial inputs, not translations of English ones. The EU AI Act (Article 13), entering into force in August 2026, requires transparency documentation sufficient for the deployment context. The UAE can establish a standard that requires evidence of Arabic language safety.</a:t>
              </a:r>
              <a:endParaRPr/>
            </a:p>
          </p:txBody>
        </p:sp>
      </p:grpSp>
      <p:sp>
        <p:nvSpPr>
          <p:cNvPr id="413" name="Google Shape;413;p23"/>
          <p:cNvSpPr/>
          <p:nvPr/>
        </p:nvSpPr>
        <p:spPr>
          <a:xfrm>
            <a:off x="718823" y="4650743"/>
            <a:ext cx="16850391" cy="2311431"/>
          </a:xfrm>
          <a:custGeom>
            <a:avLst/>
            <a:gdLst/>
            <a:ahLst/>
            <a:cxnLst/>
            <a:rect l="l" t="t" r="r" b="b"/>
            <a:pathLst>
              <a:path w="22467188" h="3081909" extrusionOk="0">
                <a:moveTo>
                  <a:pt x="0" y="0"/>
                </a:moveTo>
                <a:lnTo>
                  <a:pt x="22467188" y="0"/>
                </a:lnTo>
                <a:lnTo>
                  <a:pt x="22467188" y="3081909"/>
                </a:lnTo>
                <a:lnTo>
                  <a:pt x="0" y="3081909"/>
                </a:lnTo>
                <a:close/>
              </a:path>
            </a:pathLst>
          </a:custGeom>
          <a:solidFill>
            <a:srgbClr val="FFFFFF"/>
          </a:solidFill>
          <a:ln w="25400" cap="sq" cmpd="sng">
            <a:solidFill>
              <a:srgbClr val="DDDDDD"/>
            </a:solidFill>
            <a:prstDash val="solid"/>
            <a:miter lim="8000"/>
            <a:headEnd type="none" w="sm" len="sm"/>
            <a:tailEnd type="none" w="sm" len="sm"/>
          </a:ln>
        </p:spPr>
      </p:sp>
      <p:sp>
        <p:nvSpPr>
          <p:cNvPr id="414" name="Google Shape;414;p23"/>
          <p:cNvSpPr/>
          <p:nvPr/>
        </p:nvSpPr>
        <p:spPr>
          <a:xfrm>
            <a:off x="718823" y="4650743"/>
            <a:ext cx="190023" cy="2311431"/>
          </a:xfrm>
          <a:custGeom>
            <a:avLst/>
            <a:gdLst/>
            <a:ahLst/>
            <a:cxnLst/>
            <a:rect l="l" t="t" r="r" b="b"/>
            <a:pathLst>
              <a:path w="253365" h="3081909" extrusionOk="0">
                <a:moveTo>
                  <a:pt x="0" y="0"/>
                </a:moveTo>
                <a:lnTo>
                  <a:pt x="253365" y="0"/>
                </a:lnTo>
                <a:lnTo>
                  <a:pt x="253365" y="3081909"/>
                </a:lnTo>
                <a:lnTo>
                  <a:pt x="0" y="3081909"/>
                </a:lnTo>
                <a:close/>
              </a:path>
            </a:pathLst>
          </a:custGeom>
          <a:solidFill>
            <a:srgbClr val="8B1A1A"/>
          </a:solidFill>
          <a:ln w="25400" cap="sq" cmpd="sng">
            <a:solidFill>
              <a:srgbClr val="8B1A1A"/>
            </a:solidFill>
            <a:prstDash val="solid"/>
            <a:miter lim="8000"/>
            <a:headEnd type="none" w="sm" len="sm"/>
            <a:tailEnd type="none" w="sm" len="sm"/>
          </a:ln>
        </p:spPr>
      </p:sp>
      <p:grpSp>
        <p:nvGrpSpPr>
          <p:cNvPr id="415" name="Google Shape;415;p23"/>
          <p:cNvGrpSpPr/>
          <p:nvPr/>
        </p:nvGrpSpPr>
        <p:grpSpPr>
          <a:xfrm>
            <a:off x="1133856" y="5462969"/>
            <a:ext cx="1097280" cy="654368"/>
            <a:chOff x="0" y="-19050"/>
            <a:chExt cx="1463040" cy="872490"/>
          </a:xfrm>
        </p:grpSpPr>
        <p:sp>
          <p:nvSpPr>
            <p:cNvPr id="416" name="Google Shape;416;p23"/>
            <p:cNvSpPr/>
            <p:nvPr/>
          </p:nvSpPr>
          <p:spPr>
            <a:xfrm>
              <a:off x="0" y="0"/>
              <a:ext cx="1463040" cy="853440"/>
            </a:xfrm>
            <a:custGeom>
              <a:avLst/>
              <a:gdLst/>
              <a:ahLst/>
              <a:cxnLst/>
              <a:rect l="l" t="t" r="r" b="b"/>
              <a:pathLst>
                <a:path w="1463040" h="853440" extrusionOk="0">
                  <a:moveTo>
                    <a:pt x="0" y="0"/>
                  </a:moveTo>
                  <a:lnTo>
                    <a:pt x="1463040" y="0"/>
                  </a:lnTo>
                  <a:lnTo>
                    <a:pt x="1463040" y="853440"/>
                  </a:lnTo>
                  <a:lnTo>
                    <a:pt x="0" y="853440"/>
                  </a:lnTo>
                  <a:close/>
                </a:path>
              </a:pathLst>
            </a:custGeom>
            <a:blipFill rotWithShape="1">
              <a:blip r:embed="rId3">
                <a:alphaModFix amt="0"/>
              </a:blip>
              <a:stretch>
                <a:fillRect l="-24844" r="-24844"/>
              </a:stretch>
            </a:blipFill>
            <a:ln>
              <a:noFill/>
            </a:ln>
          </p:spPr>
        </p:sp>
        <p:sp>
          <p:nvSpPr>
            <p:cNvPr id="417" name="Google Shape;417;p23"/>
            <p:cNvSpPr txBox="1"/>
            <p:nvPr/>
          </p:nvSpPr>
          <p:spPr>
            <a:xfrm>
              <a:off x="0" y="-19050"/>
              <a:ext cx="1463040" cy="87249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000" b="1" i="0" u="none" strike="noStrike" cap="none">
                  <a:solidFill>
                    <a:srgbClr val="8B1A1A"/>
                  </a:solidFill>
                  <a:latin typeface="Arial"/>
                  <a:ea typeface="Arial"/>
                  <a:cs typeface="Arial"/>
                  <a:sym typeface="Arial"/>
                </a:rPr>
                <a:t>02</a:t>
              </a:r>
              <a:endParaRPr/>
            </a:p>
          </p:txBody>
        </p:sp>
      </p:grpSp>
      <p:grpSp>
        <p:nvGrpSpPr>
          <p:cNvPr id="418" name="Google Shape;418;p23"/>
          <p:cNvGrpSpPr/>
          <p:nvPr/>
        </p:nvGrpSpPr>
        <p:grpSpPr>
          <a:xfrm>
            <a:off x="2103120" y="5286089"/>
            <a:ext cx="4663440" cy="986695"/>
            <a:chOff x="0" y="-47625"/>
            <a:chExt cx="6217920" cy="1315593"/>
          </a:xfrm>
        </p:grpSpPr>
        <p:sp>
          <p:nvSpPr>
            <p:cNvPr id="419" name="Google Shape;419;p23"/>
            <p:cNvSpPr/>
            <p:nvPr/>
          </p:nvSpPr>
          <p:spPr>
            <a:xfrm>
              <a:off x="0" y="0"/>
              <a:ext cx="6217920" cy="1267968"/>
            </a:xfrm>
            <a:custGeom>
              <a:avLst/>
              <a:gdLst/>
              <a:ahLst/>
              <a:cxnLst/>
              <a:rect l="l" t="t" r="r" b="b"/>
              <a:pathLst>
                <a:path w="6217920" h="1267968" extrusionOk="0">
                  <a:moveTo>
                    <a:pt x="0" y="0"/>
                  </a:moveTo>
                  <a:lnTo>
                    <a:pt x="6217920" y="0"/>
                  </a:lnTo>
                  <a:lnTo>
                    <a:pt x="6217920" y="1267968"/>
                  </a:lnTo>
                  <a:lnTo>
                    <a:pt x="0" y="1267968"/>
                  </a:lnTo>
                  <a:close/>
                </a:path>
              </a:pathLst>
            </a:custGeom>
            <a:blipFill rotWithShape="1">
              <a:blip r:embed="rId3">
                <a:alphaModFix amt="0"/>
              </a:blip>
              <a:stretch>
                <a:fillRect t="-45551" b="-45551"/>
              </a:stretch>
            </a:blipFill>
            <a:ln>
              <a:noFill/>
            </a:ln>
          </p:spPr>
        </p:sp>
        <p:sp>
          <p:nvSpPr>
            <p:cNvPr id="420" name="Google Shape;420;p23"/>
            <p:cNvSpPr txBox="1"/>
            <p:nvPr/>
          </p:nvSpPr>
          <p:spPr>
            <a:xfrm>
              <a:off x="0" y="-47625"/>
              <a:ext cx="6217920" cy="131559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300" b="1" i="0" u="none" strike="noStrike" cap="none">
                  <a:solidFill>
                    <a:srgbClr val="1A1A1A"/>
                  </a:solidFill>
                  <a:latin typeface="Calibri"/>
                  <a:ea typeface="Calibri"/>
                  <a:cs typeface="Calibri"/>
                  <a:sym typeface="Calibri"/>
                </a:rPr>
                <a:t>Require per-language harm-rate breakdowns for all categories in vendor system cards</a:t>
              </a:r>
              <a:endParaRPr/>
            </a:p>
          </p:txBody>
        </p:sp>
      </p:grpSp>
      <p:sp>
        <p:nvSpPr>
          <p:cNvPr id="421" name="Google Shape;421;p23"/>
          <p:cNvSpPr/>
          <p:nvPr/>
        </p:nvSpPr>
        <p:spPr>
          <a:xfrm>
            <a:off x="7031355" y="4836795"/>
            <a:ext cx="19050" cy="1939290"/>
          </a:xfrm>
          <a:custGeom>
            <a:avLst/>
            <a:gdLst/>
            <a:ahLst/>
            <a:cxnLst/>
            <a:rect l="l" t="t" r="r" b="b"/>
            <a:pathLst>
              <a:path w="25400" h="2585720" extrusionOk="0">
                <a:moveTo>
                  <a:pt x="0" y="0"/>
                </a:moveTo>
                <a:lnTo>
                  <a:pt x="25400" y="2585720"/>
                </a:lnTo>
              </a:path>
            </a:pathLst>
          </a:custGeom>
          <a:blipFill rotWithShape="1">
            <a:blip r:embed="rId3">
              <a:alphaModFix amt="0"/>
            </a:blip>
            <a:stretch>
              <a:fillRect l="-13038794" r="-13038794"/>
            </a:stretch>
          </a:blipFill>
          <a:ln w="19050" cap="sq" cmpd="sng">
            <a:solidFill>
              <a:srgbClr val="CCCCCC"/>
            </a:solidFill>
            <a:prstDash val="solid"/>
            <a:miter lim="8000"/>
            <a:headEnd type="none" w="sm" len="sm"/>
            <a:tailEnd type="none" w="sm" len="sm"/>
          </a:ln>
        </p:spPr>
      </p:sp>
      <p:grpSp>
        <p:nvGrpSpPr>
          <p:cNvPr id="422" name="Google Shape;422;p23"/>
          <p:cNvGrpSpPr/>
          <p:nvPr/>
        </p:nvGrpSpPr>
        <p:grpSpPr>
          <a:xfrm>
            <a:off x="7315200" y="4755737"/>
            <a:ext cx="9912096" cy="2047399"/>
            <a:chOff x="0" y="-47625"/>
            <a:chExt cx="13216128" cy="2729865"/>
          </a:xfrm>
        </p:grpSpPr>
        <p:sp>
          <p:nvSpPr>
            <p:cNvPr id="423" name="Google Shape;423;p23"/>
            <p:cNvSpPr/>
            <p:nvPr/>
          </p:nvSpPr>
          <p:spPr>
            <a:xfrm>
              <a:off x="0" y="0"/>
              <a:ext cx="13216128" cy="2682240"/>
            </a:xfrm>
            <a:custGeom>
              <a:avLst/>
              <a:gdLst/>
              <a:ahLst/>
              <a:cxnLst/>
              <a:rect l="l" t="t" r="r" b="b"/>
              <a:pathLst>
                <a:path w="13216128" h="2682240" extrusionOk="0">
                  <a:moveTo>
                    <a:pt x="0" y="0"/>
                  </a:moveTo>
                  <a:lnTo>
                    <a:pt x="13216128" y="0"/>
                  </a:lnTo>
                  <a:lnTo>
                    <a:pt x="13216128" y="2682240"/>
                  </a:lnTo>
                  <a:lnTo>
                    <a:pt x="0" y="2682240"/>
                  </a:lnTo>
                  <a:close/>
                </a:path>
              </a:pathLst>
            </a:custGeom>
            <a:blipFill rotWithShape="1">
              <a:blip r:embed="rId3">
                <a:alphaModFix amt="0"/>
              </a:blip>
              <a:stretch>
                <a:fillRect t="-46010" b="-46010"/>
              </a:stretch>
            </a:blipFill>
            <a:ln>
              <a:noFill/>
            </a:ln>
          </p:spPr>
        </p:sp>
        <p:sp>
          <p:nvSpPr>
            <p:cNvPr id="424" name="Google Shape;424;p23"/>
            <p:cNvSpPr txBox="1"/>
            <p:nvPr/>
          </p:nvSpPr>
          <p:spPr>
            <a:xfrm>
              <a:off x="0" y="-47625"/>
              <a:ext cx="13216128" cy="27298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a:solidFill>
                    <a:srgbClr val="2D2D2D"/>
                  </a:solidFill>
                  <a:latin typeface="Calibri"/>
                  <a:ea typeface="Calibri"/>
                  <a:cs typeface="Calibri"/>
                  <a:sym typeface="Calibri"/>
                </a:rPr>
                <a:t>This format already exists in Claude's documentation, which reports refusal rate and harmless response rate by language. The UAE can require all vendors to adopt the same standard and extend it to Arabic-specific harm categories.</a:t>
              </a:r>
              <a:endParaRPr/>
            </a:p>
          </p:txBody>
        </p:sp>
      </p:grpSp>
      <p:sp>
        <p:nvSpPr>
          <p:cNvPr id="425" name="Google Shape;425;p23"/>
          <p:cNvSpPr/>
          <p:nvPr/>
        </p:nvSpPr>
        <p:spPr>
          <a:xfrm>
            <a:off x="718823" y="7119623"/>
            <a:ext cx="16850391" cy="2311431"/>
          </a:xfrm>
          <a:custGeom>
            <a:avLst/>
            <a:gdLst/>
            <a:ahLst/>
            <a:cxnLst/>
            <a:rect l="l" t="t" r="r" b="b"/>
            <a:pathLst>
              <a:path w="22467188" h="3081909" extrusionOk="0">
                <a:moveTo>
                  <a:pt x="0" y="0"/>
                </a:moveTo>
                <a:lnTo>
                  <a:pt x="22467188" y="0"/>
                </a:lnTo>
                <a:lnTo>
                  <a:pt x="22467188" y="3081909"/>
                </a:lnTo>
                <a:lnTo>
                  <a:pt x="0" y="3081909"/>
                </a:lnTo>
                <a:close/>
              </a:path>
            </a:pathLst>
          </a:custGeom>
          <a:solidFill>
            <a:srgbClr val="EEEBE6"/>
          </a:solidFill>
          <a:ln w="25400" cap="sq" cmpd="sng">
            <a:solidFill>
              <a:srgbClr val="DDDDDD"/>
            </a:solidFill>
            <a:prstDash val="solid"/>
            <a:miter lim="8000"/>
            <a:headEnd type="none" w="sm" len="sm"/>
            <a:tailEnd type="none" w="sm" len="sm"/>
          </a:ln>
        </p:spPr>
      </p:sp>
      <p:sp>
        <p:nvSpPr>
          <p:cNvPr id="426" name="Google Shape;426;p23"/>
          <p:cNvSpPr/>
          <p:nvPr/>
        </p:nvSpPr>
        <p:spPr>
          <a:xfrm>
            <a:off x="718823" y="7119623"/>
            <a:ext cx="190023" cy="2311431"/>
          </a:xfrm>
          <a:custGeom>
            <a:avLst/>
            <a:gdLst/>
            <a:ahLst/>
            <a:cxnLst/>
            <a:rect l="l" t="t" r="r" b="b"/>
            <a:pathLst>
              <a:path w="253365" h="3081909" extrusionOk="0">
                <a:moveTo>
                  <a:pt x="0" y="0"/>
                </a:moveTo>
                <a:lnTo>
                  <a:pt x="253365" y="0"/>
                </a:lnTo>
                <a:lnTo>
                  <a:pt x="253365" y="3081909"/>
                </a:lnTo>
                <a:lnTo>
                  <a:pt x="0" y="3081909"/>
                </a:lnTo>
                <a:close/>
              </a:path>
            </a:pathLst>
          </a:custGeom>
          <a:solidFill>
            <a:srgbClr val="8B1A1A"/>
          </a:solidFill>
          <a:ln w="25400" cap="sq" cmpd="sng">
            <a:solidFill>
              <a:srgbClr val="8B1A1A"/>
            </a:solidFill>
            <a:prstDash val="solid"/>
            <a:miter lim="8000"/>
            <a:headEnd type="none" w="sm" len="sm"/>
            <a:tailEnd type="none" w="sm" len="sm"/>
          </a:ln>
        </p:spPr>
      </p:sp>
      <p:grpSp>
        <p:nvGrpSpPr>
          <p:cNvPr id="427" name="Google Shape;427;p23"/>
          <p:cNvGrpSpPr/>
          <p:nvPr/>
        </p:nvGrpSpPr>
        <p:grpSpPr>
          <a:xfrm>
            <a:off x="1133856" y="7776534"/>
            <a:ext cx="1097280" cy="654368"/>
            <a:chOff x="0" y="-19050"/>
            <a:chExt cx="1463040" cy="872490"/>
          </a:xfrm>
        </p:grpSpPr>
        <p:sp>
          <p:nvSpPr>
            <p:cNvPr id="428" name="Google Shape;428;p23"/>
            <p:cNvSpPr/>
            <p:nvPr/>
          </p:nvSpPr>
          <p:spPr>
            <a:xfrm>
              <a:off x="0" y="0"/>
              <a:ext cx="1463040" cy="853440"/>
            </a:xfrm>
            <a:custGeom>
              <a:avLst/>
              <a:gdLst/>
              <a:ahLst/>
              <a:cxnLst/>
              <a:rect l="l" t="t" r="r" b="b"/>
              <a:pathLst>
                <a:path w="1463040" h="853440" extrusionOk="0">
                  <a:moveTo>
                    <a:pt x="0" y="0"/>
                  </a:moveTo>
                  <a:lnTo>
                    <a:pt x="1463040" y="0"/>
                  </a:lnTo>
                  <a:lnTo>
                    <a:pt x="1463040" y="853440"/>
                  </a:lnTo>
                  <a:lnTo>
                    <a:pt x="0" y="853440"/>
                  </a:lnTo>
                  <a:close/>
                </a:path>
              </a:pathLst>
            </a:custGeom>
            <a:blipFill rotWithShape="1">
              <a:blip r:embed="rId3">
                <a:alphaModFix amt="0"/>
              </a:blip>
              <a:stretch>
                <a:fillRect l="-24844" r="-24844"/>
              </a:stretch>
            </a:blipFill>
            <a:ln>
              <a:noFill/>
            </a:ln>
          </p:spPr>
        </p:sp>
        <p:sp>
          <p:nvSpPr>
            <p:cNvPr id="429" name="Google Shape;429;p23"/>
            <p:cNvSpPr txBox="1"/>
            <p:nvPr/>
          </p:nvSpPr>
          <p:spPr>
            <a:xfrm>
              <a:off x="0" y="-19050"/>
              <a:ext cx="1463040" cy="87249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4000" b="1" i="0" u="none" strike="noStrike" cap="none">
                  <a:solidFill>
                    <a:srgbClr val="8B1A1A"/>
                  </a:solidFill>
                  <a:latin typeface="Arial"/>
                  <a:ea typeface="Arial"/>
                  <a:cs typeface="Arial"/>
                  <a:sym typeface="Arial"/>
                </a:rPr>
                <a:t>03</a:t>
              </a:r>
              <a:endParaRPr/>
            </a:p>
          </p:txBody>
        </p:sp>
      </p:grpSp>
      <p:grpSp>
        <p:nvGrpSpPr>
          <p:cNvPr id="430" name="Google Shape;430;p23"/>
          <p:cNvGrpSpPr/>
          <p:nvPr/>
        </p:nvGrpSpPr>
        <p:grpSpPr>
          <a:xfrm>
            <a:off x="2101215" y="7650327"/>
            <a:ext cx="4663440" cy="986695"/>
            <a:chOff x="0" y="-47625"/>
            <a:chExt cx="6217920" cy="1315593"/>
          </a:xfrm>
        </p:grpSpPr>
        <p:sp>
          <p:nvSpPr>
            <p:cNvPr id="431" name="Google Shape;431;p23"/>
            <p:cNvSpPr/>
            <p:nvPr/>
          </p:nvSpPr>
          <p:spPr>
            <a:xfrm>
              <a:off x="0" y="0"/>
              <a:ext cx="6217920" cy="1267968"/>
            </a:xfrm>
            <a:custGeom>
              <a:avLst/>
              <a:gdLst/>
              <a:ahLst/>
              <a:cxnLst/>
              <a:rect l="l" t="t" r="r" b="b"/>
              <a:pathLst>
                <a:path w="6217920" h="1267968" extrusionOk="0">
                  <a:moveTo>
                    <a:pt x="0" y="0"/>
                  </a:moveTo>
                  <a:lnTo>
                    <a:pt x="6217920" y="0"/>
                  </a:lnTo>
                  <a:lnTo>
                    <a:pt x="6217920" y="1267968"/>
                  </a:lnTo>
                  <a:lnTo>
                    <a:pt x="0" y="1267968"/>
                  </a:lnTo>
                  <a:close/>
                </a:path>
              </a:pathLst>
            </a:custGeom>
            <a:blipFill rotWithShape="1">
              <a:blip r:embed="rId3">
                <a:alphaModFix amt="0"/>
              </a:blip>
              <a:stretch>
                <a:fillRect t="-45551" b="-45551"/>
              </a:stretch>
            </a:blipFill>
            <a:ln>
              <a:noFill/>
            </a:ln>
          </p:spPr>
        </p:sp>
        <p:sp>
          <p:nvSpPr>
            <p:cNvPr id="432" name="Google Shape;432;p23"/>
            <p:cNvSpPr txBox="1"/>
            <p:nvPr/>
          </p:nvSpPr>
          <p:spPr>
            <a:xfrm>
              <a:off x="0" y="-47625"/>
              <a:ext cx="6217920" cy="131559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300" b="1" i="0" u="none" strike="noStrike" cap="none">
                  <a:solidFill>
                    <a:srgbClr val="1A1A1A"/>
                  </a:solidFill>
                  <a:latin typeface="Calibri"/>
                  <a:ea typeface="Calibri"/>
                  <a:cs typeface="Calibri"/>
                  <a:sym typeface="Calibri"/>
                </a:rPr>
                <a:t>Establish an Arabic AI safety benchmark</a:t>
              </a:r>
              <a:endParaRPr/>
            </a:p>
          </p:txBody>
        </p:sp>
      </p:grpSp>
      <p:sp>
        <p:nvSpPr>
          <p:cNvPr id="433" name="Google Shape;433;p23"/>
          <p:cNvSpPr/>
          <p:nvPr/>
        </p:nvSpPr>
        <p:spPr>
          <a:xfrm>
            <a:off x="7031355" y="7305675"/>
            <a:ext cx="19050" cy="1939290"/>
          </a:xfrm>
          <a:custGeom>
            <a:avLst/>
            <a:gdLst/>
            <a:ahLst/>
            <a:cxnLst/>
            <a:rect l="l" t="t" r="r" b="b"/>
            <a:pathLst>
              <a:path w="25400" h="2585720" extrusionOk="0">
                <a:moveTo>
                  <a:pt x="0" y="0"/>
                </a:moveTo>
                <a:lnTo>
                  <a:pt x="25400" y="2585720"/>
                </a:lnTo>
              </a:path>
            </a:pathLst>
          </a:custGeom>
          <a:blipFill rotWithShape="1">
            <a:blip r:embed="rId3">
              <a:alphaModFix amt="0"/>
            </a:blip>
            <a:stretch>
              <a:fillRect l="-13038794" r="-13038794"/>
            </a:stretch>
          </a:blipFill>
          <a:ln w="19050" cap="sq" cmpd="sng">
            <a:solidFill>
              <a:srgbClr val="CCCCCC"/>
            </a:solidFill>
            <a:prstDash val="solid"/>
            <a:miter lim="8000"/>
            <a:headEnd type="none" w="sm" len="sm"/>
            <a:tailEnd type="none" w="sm" len="sm"/>
          </a:ln>
        </p:spPr>
      </p:sp>
      <p:grpSp>
        <p:nvGrpSpPr>
          <p:cNvPr id="434" name="Google Shape;434;p23"/>
          <p:cNvGrpSpPr/>
          <p:nvPr/>
        </p:nvGrpSpPr>
        <p:grpSpPr>
          <a:xfrm>
            <a:off x="7315200" y="7224617"/>
            <a:ext cx="9912096" cy="2047399"/>
            <a:chOff x="0" y="-47625"/>
            <a:chExt cx="13216128" cy="2729865"/>
          </a:xfrm>
        </p:grpSpPr>
        <p:sp>
          <p:nvSpPr>
            <p:cNvPr id="435" name="Google Shape;435;p23"/>
            <p:cNvSpPr/>
            <p:nvPr/>
          </p:nvSpPr>
          <p:spPr>
            <a:xfrm>
              <a:off x="0" y="0"/>
              <a:ext cx="13216128" cy="2682240"/>
            </a:xfrm>
            <a:custGeom>
              <a:avLst/>
              <a:gdLst/>
              <a:ahLst/>
              <a:cxnLst/>
              <a:rect l="l" t="t" r="r" b="b"/>
              <a:pathLst>
                <a:path w="13216128" h="2682240" extrusionOk="0">
                  <a:moveTo>
                    <a:pt x="0" y="0"/>
                  </a:moveTo>
                  <a:lnTo>
                    <a:pt x="13216128" y="0"/>
                  </a:lnTo>
                  <a:lnTo>
                    <a:pt x="13216128" y="2682240"/>
                  </a:lnTo>
                  <a:lnTo>
                    <a:pt x="0" y="2682240"/>
                  </a:lnTo>
                  <a:close/>
                </a:path>
              </a:pathLst>
            </a:custGeom>
            <a:blipFill rotWithShape="1">
              <a:blip r:embed="rId3">
                <a:alphaModFix amt="0"/>
              </a:blip>
              <a:stretch>
                <a:fillRect t="-46010" b="-46010"/>
              </a:stretch>
            </a:blipFill>
            <a:ln>
              <a:noFill/>
            </a:ln>
          </p:spPr>
        </p:sp>
        <p:sp>
          <p:nvSpPr>
            <p:cNvPr id="436" name="Google Shape;436;p23"/>
            <p:cNvSpPr txBox="1"/>
            <p:nvPr/>
          </p:nvSpPr>
          <p:spPr>
            <a:xfrm>
              <a:off x="0" y="-47625"/>
              <a:ext cx="13216128" cy="2729865"/>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200" b="0" i="0" u="none" strike="noStrike" cap="none">
                  <a:solidFill>
                    <a:srgbClr val="2D2D2D"/>
                  </a:solidFill>
                  <a:latin typeface="Calibri"/>
                  <a:ea typeface="Calibri"/>
                  <a:cs typeface="Calibri"/>
                  <a:sym typeface="Calibri"/>
                </a:rPr>
                <a:t>The UAE and MBZUAI published ArabicMMLU, the first multi-task Arabic language understanding benchmark at ACL 2024. No equivalent exists for Arabic safety evaluation. Extending that work into a repeatable, versioned safety standard would be a direct UAE contribution to global AI safety infrastructure and give procurement bodies a benchmark to require vendors to publish results against.</a:t>
              </a:r>
              <a:endParaRPr/>
            </a:p>
          </p:txBody>
        </p:sp>
      </p:grpSp>
      <p:sp>
        <p:nvSpPr>
          <p:cNvPr id="437" name="Google Shape;437;p23"/>
          <p:cNvSpPr/>
          <p:nvPr/>
        </p:nvSpPr>
        <p:spPr>
          <a:xfrm>
            <a:off x="14838272" y="534945"/>
            <a:ext cx="3015388" cy="765909"/>
          </a:xfrm>
          <a:custGeom>
            <a:avLst/>
            <a:gdLst/>
            <a:ahLst/>
            <a:cxnLst/>
            <a:rect l="l" t="t" r="r" b="b"/>
            <a:pathLst>
              <a:path w="3015388" h="765909" extrusionOk="0">
                <a:moveTo>
                  <a:pt x="0" y="0"/>
                </a:moveTo>
                <a:lnTo>
                  <a:pt x="3015388" y="0"/>
                </a:lnTo>
                <a:lnTo>
                  <a:pt x="3015388" y="765909"/>
                </a:lnTo>
                <a:lnTo>
                  <a:pt x="0" y="765909"/>
                </a:lnTo>
                <a:lnTo>
                  <a:pt x="0" y="0"/>
                </a:lnTo>
                <a:close/>
              </a:path>
            </a:pathLst>
          </a:custGeom>
          <a:blipFill rotWithShape="1">
            <a:blip r:embed="rId4">
              <a:alphaModFix/>
            </a:blip>
            <a:stretch>
              <a:fillRect/>
            </a:stretch>
          </a:blipFill>
          <a:ln>
            <a:noFill/>
          </a:ln>
        </p:spPr>
      </p:sp>
      <p:sp>
        <p:nvSpPr>
          <p:cNvPr id="438" name="Google Shape;438;p23"/>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439" name="Google Shape;439;p23"/>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440" name="Google Shape;440;p23"/>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11</a:t>
            </a:r>
            <a:endParaRPr sz="1593">
              <a:solidFill>
                <a:srgbClr val="AAAAAA"/>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4"/>
        <p:cNvGrpSpPr/>
        <p:nvPr/>
      </p:nvGrpSpPr>
      <p:grpSpPr>
        <a:xfrm>
          <a:off x="0" y="0"/>
          <a:ext cx="0" cy="0"/>
          <a:chOff x="0" y="0"/>
          <a:chExt cx="0" cy="0"/>
        </a:xfrm>
      </p:grpSpPr>
      <p:grpSp>
        <p:nvGrpSpPr>
          <p:cNvPr id="445" name="Google Shape;445;p24"/>
          <p:cNvGrpSpPr/>
          <p:nvPr/>
        </p:nvGrpSpPr>
        <p:grpSpPr>
          <a:xfrm>
            <a:off x="828675" y="486040"/>
            <a:ext cx="5486400" cy="839992"/>
            <a:chOff x="0" y="-76200"/>
            <a:chExt cx="7315200" cy="1119990"/>
          </a:xfrm>
        </p:grpSpPr>
        <p:sp>
          <p:nvSpPr>
            <p:cNvPr id="446" name="Google Shape;446;p24"/>
            <p:cNvSpPr/>
            <p:nvPr/>
          </p:nvSpPr>
          <p:spPr>
            <a:xfrm>
              <a:off x="0" y="0"/>
              <a:ext cx="7315200" cy="1043789"/>
            </a:xfrm>
            <a:custGeom>
              <a:avLst/>
              <a:gdLst/>
              <a:ahLst/>
              <a:cxnLst/>
              <a:rect l="l" t="t" r="r" b="b"/>
              <a:pathLst>
                <a:path w="7315200" h="1043789" extrusionOk="0">
                  <a:moveTo>
                    <a:pt x="0" y="0"/>
                  </a:moveTo>
                  <a:lnTo>
                    <a:pt x="7315200" y="0"/>
                  </a:lnTo>
                  <a:lnTo>
                    <a:pt x="7315200" y="1043789"/>
                  </a:lnTo>
                  <a:lnTo>
                    <a:pt x="0" y="1043789"/>
                  </a:lnTo>
                  <a:close/>
                </a:path>
              </a:pathLst>
            </a:custGeom>
            <a:blipFill rotWithShape="1">
              <a:blip r:embed="rId3">
                <a:alphaModFix amt="0"/>
              </a:blip>
              <a:stretch>
                <a:fillRect t="-106186" b="-66926"/>
              </a:stretch>
            </a:blipFill>
            <a:ln>
              <a:noFill/>
            </a:ln>
          </p:spPr>
        </p:sp>
        <p:sp>
          <p:nvSpPr>
            <p:cNvPr id="447" name="Google Shape;447;p24"/>
            <p:cNvSpPr txBox="1"/>
            <p:nvPr/>
          </p:nvSpPr>
          <p:spPr>
            <a:xfrm>
              <a:off x="0" y="-76200"/>
              <a:ext cx="7315200" cy="1119990"/>
            </a:xfrm>
            <a:prstGeom prst="rect">
              <a:avLst/>
            </a:prstGeom>
            <a:noFill/>
            <a:ln>
              <a:noFill/>
            </a:ln>
          </p:spPr>
          <p:txBody>
            <a:bodyPr spcFirstLastPara="1" wrap="square" lIns="0" tIns="0" rIns="0" bIns="0" anchor="ctr" anchorCtr="0">
              <a:noAutofit/>
            </a:bodyPr>
            <a:lstStyle/>
            <a:p>
              <a:pPr marL="0" marR="0" lvl="0" indent="0" algn="l" rtl="0">
                <a:lnSpc>
                  <a:spcPct val="120005"/>
                </a:lnSpc>
                <a:spcBef>
                  <a:spcPts val="0"/>
                </a:spcBef>
                <a:spcAft>
                  <a:spcPts val="0"/>
                </a:spcAft>
                <a:buNone/>
              </a:pPr>
              <a:r>
                <a:rPr lang="en-US" sz="3899" b="1" i="0" u="none" strike="noStrike" cap="none">
                  <a:solidFill>
                    <a:srgbClr val="8B1A1A"/>
                  </a:solidFill>
                  <a:latin typeface="Calibri"/>
                  <a:ea typeface="Calibri"/>
                  <a:cs typeface="Calibri"/>
                  <a:sym typeface="Calibri"/>
                </a:rPr>
                <a:t>REFERENCES</a:t>
              </a:r>
              <a:endParaRPr/>
            </a:p>
          </p:txBody>
        </p:sp>
      </p:grpSp>
      <p:grpSp>
        <p:nvGrpSpPr>
          <p:cNvPr id="448" name="Google Shape;448;p24"/>
          <p:cNvGrpSpPr/>
          <p:nvPr/>
        </p:nvGrpSpPr>
        <p:grpSpPr>
          <a:xfrm>
            <a:off x="822960" y="1079451"/>
            <a:ext cx="16824960" cy="1183685"/>
            <a:chOff x="0" y="-38100"/>
            <a:chExt cx="22433280" cy="1578246"/>
          </a:xfrm>
        </p:grpSpPr>
        <p:sp>
          <p:nvSpPr>
            <p:cNvPr id="449" name="Google Shape;449;p24"/>
            <p:cNvSpPr/>
            <p:nvPr/>
          </p:nvSpPr>
          <p:spPr>
            <a:xfrm>
              <a:off x="0" y="0"/>
              <a:ext cx="22433280" cy="1540146"/>
            </a:xfrm>
            <a:custGeom>
              <a:avLst/>
              <a:gdLst/>
              <a:ahLst/>
              <a:cxnLst/>
              <a:rect l="l" t="t" r="r" b="b"/>
              <a:pathLst>
                <a:path w="22433280" h="1540146" extrusionOk="0">
                  <a:moveTo>
                    <a:pt x="0" y="0"/>
                  </a:moveTo>
                  <a:lnTo>
                    <a:pt x="22433280" y="0"/>
                  </a:lnTo>
                  <a:lnTo>
                    <a:pt x="22433280" y="1540146"/>
                  </a:lnTo>
                  <a:lnTo>
                    <a:pt x="0" y="1540146"/>
                  </a:lnTo>
                  <a:close/>
                </a:path>
              </a:pathLst>
            </a:custGeom>
            <a:blipFill rotWithShape="1">
              <a:blip r:embed="rId3">
                <a:alphaModFix amt="0"/>
              </a:blip>
              <a:stretch>
                <a:fillRect t="-240279" b="-227354"/>
              </a:stretch>
            </a:blipFill>
            <a:ln>
              <a:noFill/>
            </a:ln>
          </p:spPr>
        </p:sp>
        <p:sp>
          <p:nvSpPr>
            <p:cNvPr id="450" name="Google Shape;450;p24"/>
            <p:cNvSpPr txBox="1"/>
            <p:nvPr/>
          </p:nvSpPr>
          <p:spPr>
            <a:xfrm>
              <a:off x="0" y="-38100"/>
              <a:ext cx="22433280" cy="1578246"/>
            </a:xfrm>
            <a:prstGeom prst="rect">
              <a:avLst/>
            </a:prstGeom>
            <a:noFill/>
            <a:ln>
              <a:noFill/>
            </a:ln>
          </p:spPr>
          <p:txBody>
            <a:bodyPr spcFirstLastPara="1" wrap="square" lIns="0" tIns="0" rIns="0" bIns="0" anchor="ctr" anchorCtr="0">
              <a:noAutofit/>
            </a:bodyPr>
            <a:lstStyle/>
            <a:p>
              <a:pPr marL="0" marR="0" lvl="0" indent="0" algn="l" rtl="0">
                <a:lnSpc>
                  <a:spcPct val="120003"/>
                </a:lnSpc>
                <a:spcBef>
                  <a:spcPts val="0"/>
                </a:spcBef>
                <a:spcAft>
                  <a:spcPts val="0"/>
                </a:spcAft>
                <a:buNone/>
              </a:pPr>
              <a:r>
                <a:rPr lang="en-US" sz="5599" b="1" i="0" u="sng" strike="noStrike" cap="none">
                  <a:solidFill>
                    <a:srgbClr val="1A1A1A"/>
                  </a:solidFill>
                  <a:latin typeface="Arial"/>
                  <a:ea typeface="Arial"/>
                  <a:cs typeface="Arial"/>
                  <a:sym typeface="Arial"/>
                </a:rPr>
                <a:t>Sources &amp; Citations:</a:t>
              </a:r>
              <a:endParaRPr/>
            </a:p>
          </p:txBody>
        </p:sp>
      </p:grpSp>
      <p:sp>
        <p:nvSpPr>
          <p:cNvPr id="451" name="Google Shape;451;p24"/>
          <p:cNvSpPr txBox="1"/>
          <p:nvPr/>
        </p:nvSpPr>
        <p:spPr>
          <a:xfrm>
            <a:off x="804673" y="2325243"/>
            <a:ext cx="5853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[1]</a:t>
            </a:r>
            <a:endParaRPr/>
          </a:p>
        </p:txBody>
      </p:sp>
      <p:grpSp>
        <p:nvGrpSpPr>
          <p:cNvPr id="452" name="Google Shape;452;p24"/>
          <p:cNvGrpSpPr/>
          <p:nvPr/>
        </p:nvGrpSpPr>
        <p:grpSpPr>
          <a:xfrm>
            <a:off x="1536193" y="2231485"/>
            <a:ext cx="15947136" cy="796671"/>
            <a:chOff x="0" y="-38100"/>
            <a:chExt cx="21262848" cy="1062228"/>
          </a:xfrm>
        </p:grpSpPr>
        <p:sp>
          <p:nvSpPr>
            <p:cNvPr id="453" name="Google Shape;453;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54" name="Google Shape;454;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Government of Dubai Media Office. Mohammed bin Rashid unveils framework to deploy agentic AI across 50% of government sectors within 2 years. April 23, 2026. </a:t>
              </a:r>
              <a:r>
                <a:rPr lang="en-US" sz="2000" b="0" i="0" u="sng" strike="noStrike" cap="none">
                  <a:solidFill>
                    <a:schemeClr val="hlink"/>
                  </a:solidFill>
                  <a:latin typeface="Calibri"/>
                  <a:ea typeface="Calibri"/>
                  <a:cs typeface="Calibri"/>
                  <a:sym typeface="Calibri"/>
                  <a:hlinkClick r:id="rId4"/>
                </a:rPr>
                <a:t>https://www.mediaoffice.ae/en/news/2026/april/23-04/mohammed-bin-rashid-chairs-uae-cabinet-meeting</a:t>
              </a:r>
              <a:endParaRPr/>
            </a:p>
          </p:txBody>
        </p:sp>
      </p:grpSp>
      <p:sp>
        <p:nvSpPr>
          <p:cNvPr id="455" name="Google Shape;455;p24"/>
          <p:cNvSpPr/>
          <p:nvPr/>
        </p:nvSpPr>
        <p:spPr>
          <a:xfrm>
            <a:off x="816629" y="3190039"/>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56" name="Google Shape;456;p24"/>
          <p:cNvSpPr txBox="1"/>
          <p:nvPr/>
        </p:nvSpPr>
        <p:spPr>
          <a:xfrm>
            <a:off x="807513" y="3416212"/>
            <a:ext cx="5853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[2]</a:t>
            </a:r>
            <a:endParaRPr/>
          </a:p>
        </p:txBody>
      </p:sp>
      <p:grpSp>
        <p:nvGrpSpPr>
          <p:cNvPr id="457" name="Google Shape;457;p24"/>
          <p:cNvGrpSpPr/>
          <p:nvPr/>
        </p:nvGrpSpPr>
        <p:grpSpPr>
          <a:xfrm>
            <a:off x="1533318" y="3347981"/>
            <a:ext cx="15947136" cy="796671"/>
            <a:chOff x="0" y="-38100"/>
            <a:chExt cx="21262848" cy="1062228"/>
          </a:xfrm>
        </p:grpSpPr>
        <p:sp>
          <p:nvSpPr>
            <p:cNvPr id="458" name="Google Shape;458;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59" name="Google Shape;459;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UAE Ministry of Artificial Intelligence. Leading Generative AI Applications. May 2026.</a:t>
              </a:r>
              <a:r>
                <a:rPr lang="en-US" sz="2000" b="0" i="0" u="sng" strike="noStrike" cap="none">
                  <a:solidFill>
                    <a:schemeClr val="hlink"/>
                  </a:solidFill>
                  <a:latin typeface="Calibri"/>
                  <a:ea typeface="Calibri"/>
                  <a:cs typeface="Calibri"/>
                  <a:sym typeface="Calibri"/>
                  <a:hlinkClick r:id="rId5"/>
                </a:rPr>
                <a:t> https://ai.gov.ae/wp-content/uploads/2026/05/Leading-Generative-AI-Applications-EN.pdf</a:t>
              </a:r>
              <a:endParaRPr/>
            </a:p>
          </p:txBody>
        </p:sp>
      </p:grpSp>
      <p:sp>
        <p:nvSpPr>
          <p:cNvPr id="460" name="Google Shape;460;p24"/>
          <p:cNvSpPr/>
          <p:nvPr/>
        </p:nvSpPr>
        <p:spPr>
          <a:xfrm>
            <a:off x="816617" y="4289946"/>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61" name="Google Shape;461;p24"/>
          <p:cNvSpPr txBox="1"/>
          <p:nvPr/>
        </p:nvSpPr>
        <p:spPr>
          <a:xfrm>
            <a:off x="807525" y="4431277"/>
            <a:ext cx="5853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[3]</a:t>
            </a:r>
            <a:endParaRPr/>
          </a:p>
        </p:txBody>
      </p:sp>
      <p:grpSp>
        <p:nvGrpSpPr>
          <p:cNvPr id="462" name="Google Shape;462;p24"/>
          <p:cNvGrpSpPr/>
          <p:nvPr/>
        </p:nvGrpSpPr>
        <p:grpSpPr>
          <a:xfrm>
            <a:off x="1533330" y="4380577"/>
            <a:ext cx="15947136" cy="796671"/>
            <a:chOff x="0" y="-38100"/>
            <a:chExt cx="21262848" cy="1062228"/>
          </a:xfrm>
        </p:grpSpPr>
        <p:sp>
          <p:nvSpPr>
            <p:cNvPr id="463" name="Google Shape;463;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64" name="Google Shape;464;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Yue Deng et al. Multilingual Jailbreak Challenges in Large Language Models. ICLR, May 2024. h</a:t>
              </a:r>
              <a:r>
                <a:rPr lang="en-US" sz="2000" b="0" i="0" u="sng" strike="noStrike" cap="none">
                  <a:solidFill>
                    <a:schemeClr val="hlink"/>
                  </a:solidFill>
                  <a:latin typeface="Calibri"/>
                  <a:ea typeface="Calibri"/>
                  <a:cs typeface="Calibri"/>
                  <a:sym typeface="Calibri"/>
                  <a:hlinkClick r:id="rId6"/>
                </a:rPr>
                <a:t>ttps://proceedings.iclr.cc/paper_files/paper/2024/file/6b396f766a50e0853a5164e68048540c-PaperConference.pdf</a:t>
              </a:r>
              <a:endParaRPr/>
            </a:p>
          </p:txBody>
        </p:sp>
      </p:grpSp>
      <p:sp>
        <p:nvSpPr>
          <p:cNvPr id="465" name="Google Shape;465;p24"/>
          <p:cNvSpPr/>
          <p:nvPr/>
        </p:nvSpPr>
        <p:spPr>
          <a:xfrm>
            <a:off x="725167" y="5301427"/>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66" name="Google Shape;466;p24"/>
          <p:cNvSpPr txBox="1"/>
          <p:nvPr/>
        </p:nvSpPr>
        <p:spPr>
          <a:xfrm>
            <a:off x="807538" y="5415445"/>
            <a:ext cx="5853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[4]</a:t>
            </a:r>
            <a:endParaRPr/>
          </a:p>
        </p:txBody>
      </p:sp>
      <p:grpSp>
        <p:nvGrpSpPr>
          <p:cNvPr id="467" name="Google Shape;467;p24"/>
          <p:cNvGrpSpPr/>
          <p:nvPr/>
        </p:nvGrpSpPr>
        <p:grpSpPr>
          <a:xfrm>
            <a:off x="1533305" y="5219513"/>
            <a:ext cx="15947136" cy="796671"/>
            <a:chOff x="0" y="-38100"/>
            <a:chExt cx="21262848" cy="1062228"/>
          </a:xfrm>
        </p:grpSpPr>
        <p:sp>
          <p:nvSpPr>
            <p:cNvPr id="468" name="Google Shape;468;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69" name="Google Shape;469;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Yasser Ashraf et al. Arabic Dataset for LLM Safeguard Evaluation. NAACL, April 2025. </a:t>
              </a:r>
              <a:r>
                <a:rPr lang="en-US" sz="2000" b="0" i="0" u="sng" strike="noStrike" cap="none">
                  <a:solidFill>
                    <a:schemeClr val="hlink"/>
                  </a:solidFill>
                  <a:latin typeface="Calibri"/>
                  <a:ea typeface="Calibri"/>
                  <a:cs typeface="Calibri"/>
                  <a:sym typeface="Calibri"/>
                  <a:hlinkClick r:id="rId7"/>
                </a:rPr>
                <a:t>https://aclanthology.org/2025.naacl-long.285.pdf</a:t>
              </a:r>
              <a:endParaRPr/>
            </a:p>
          </p:txBody>
        </p:sp>
      </p:grpSp>
      <p:sp>
        <p:nvSpPr>
          <p:cNvPr id="470" name="Google Shape;470;p24"/>
          <p:cNvSpPr/>
          <p:nvPr/>
        </p:nvSpPr>
        <p:spPr>
          <a:xfrm>
            <a:off x="725167" y="5978683"/>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71" name="Google Shape;471;p24"/>
          <p:cNvSpPr txBox="1"/>
          <p:nvPr/>
        </p:nvSpPr>
        <p:spPr>
          <a:xfrm>
            <a:off x="828675" y="6157492"/>
            <a:ext cx="585216" cy="36192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[5]</a:t>
            </a:r>
            <a:endParaRPr/>
          </a:p>
        </p:txBody>
      </p:sp>
      <p:grpSp>
        <p:nvGrpSpPr>
          <p:cNvPr id="472" name="Google Shape;472;p24"/>
          <p:cNvGrpSpPr/>
          <p:nvPr/>
        </p:nvGrpSpPr>
        <p:grpSpPr>
          <a:xfrm>
            <a:off x="1554480" y="6058458"/>
            <a:ext cx="15947136" cy="796671"/>
            <a:chOff x="0" y="-38100"/>
            <a:chExt cx="21262848" cy="1062228"/>
          </a:xfrm>
        </p:grpSpPr>
        <p:sp>
          <p:nvSpPr>
            <p:cNvPr id="473" name="Google Shape;473;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74" name="Google Shape;474;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Mansour Al Ghanim et al. Jailbreaking LLMs with Arabic Transliteration and Arabizi. EMNLP, November 2024. </a:t>
              </a:r>
              <a:r>
                <a:rPr lang="en-US" sz="2000" b="0" i="0" u="sng" strike="noStrike" cap="none">
                  <a:solidFill>
                    <a:schemeClr val="hlink"/>
                  </a:solidFill>
                  <a:latin typeface="Calibri"/>
                  <a:ea typeface="Calibri"/>
                  <a:cs typeface="Calibri"/>
                  <a:sym typeface="Calibri"/>
                  <a:hlinkClick r:id="rId8"/>
                </a:rPr>
                <a:t>https://aclanthology.org/2024.emnlp-main.1034.pdf</a:t>
              </a:r>
              <a:endParaRPr/>
            </a:p>
          </p:txBody>
        </p:sp>
      </p:grpSp>
      <p:sp>
        <p:nvSpPr>
          <p:cNvPr id="475" name="Google Shape;475;p24"/>
          <p:cNvSpPr/>
          <p:nvPr/>
        </p:nvSpPr>
        <p:spPr>
          <a:xfrm>
            <a:off x="816617" y="6962027"/>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76" name="Google Shape;476;p24"/>
          <p:cNvSpPr txBox="1"/>
          <p:nvPr/>
        </p:nvSpPr>
        <p:spPr>
          <a:xfrm>
            <a:off x="828675" y="7188219"/>
            <a:ext cx="5853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[6]</a:t>
            </a:r>
            <a:endParaRPr/>
          </a:p>
        </p:txBody>
      </p:sp>
      <p:sp>
        <p:nvSpPr>
          <p:cNvPr id="477" name="Google Shape;477;p24"/>
          <p:cNvSpPr txBox="1"/>
          <p:nvPr/>
        </p:nvSpPr>
        <p:spPr>
          <a:xfrm>
            <a:off x="1533330" y="6992291"/>
            <a:ext cx="15947100" cy="796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Anthropic. Claude Opus 4.5 System Card. November 2025. </a:t>
            </a:r>
            <a:r>
              <a:rPr lang="en-US" sz="2000" b="0" i="0" u="sng" strike="noStrike" cap="none">
                <a:solidFill>
                  <a:schemeClr val="hlink"/>
                </a:solidFill>
                <a:latin typeface="Calibri"/>
                <a:ea typeface="Calibri"/>
                <a:cs typeface="Calibri"/>
                <a:sym typeface="Calibri"/>
                <a:hlinkClick r:id="rId9"/>
              </a:rPr>
              <a:t>https://www.anthropic.com/claude-opus-4-5-system-card</a:t>
            </a:r>
            <a:endParaRPr/>
          </a:p>
        </p:txBody>
      </p:sp>
      <p:sp>
        <p:nvSpPr>
          <p:cNvPr id="478" name="Google Shape;478;p24"/>
          <p:cNvSpPr/>
          <p:nvPr/>
        </p:nvSpPr>
        <p:spPr>
          <a:xfrm>
            <a:off x="725167" y="7763684"/>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79" name="Google Shape;479;p24"/>
          <p:cNvSpPr txBox="1"/>
          <p:nvPr/>
        </p:nvSpPr>
        <p:spPr>
          <a:xfrm>
            <a:off x="804673" y="8014474"/>
            <a:ext cx="585300" cy="323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[7]</a:t>
            </a:r>
            <a:endParaRPr/>
          </a:p>
        </p:txBody>
      </p:sp>
      <p:grpSp>
        <p:nvGrpSpPr>
          <p:cNvPr id="480" name="Google Shape;480;p24"/>
          <p:cNvGrpSpPr/>
          <p:nvPr/>
        </p:nvGrpSpPr>
        <p:grpSpPr>
          <a:xfrm>
            <a:off x="1536193" y="7806625"/>
            <a:ext cx="15947136" cy="796671"/>
            <a:chOff x="0" y="-38100"/>
            <a:chExt cx="21262848" cy="1062228"/>
          </a:xfrm>
        </p:grpSpPr>
        <p:sp>
          <p:nvSpPr>
            <p:cNvPr id="481" name="Google Shape;481;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82" name="Google Shape;482;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European Union Artificial Intelligence Act, Article 13. Entry into force August 2, 2026. </a:t>
              </a:r>
              <a:r>
                <a:rPr lang="en-US" sz="2000" b="0" i="0" u="sng" strike="noStrike" cap="none">
                  <a:solidFill>
                    <a:schemeClr val="hlink"/>
                  </a:solidFill>
                  <a:latin typeface="Calibri"/>
                  <a:ea typeface="Calibri"/>
                  <a:cs typeface="Calibri"/>
                  <a:sym typeface="Calibri"/>
                  <a:hlinkClick r:id="rId10"/>
                </a:rPr>
                <a:t>https://artificialintelligenceact.eu/article/13/</a:t>
              </a:r>
              <a:endParaRPr/>
            </a:p>
          </p:txBody>
        </p:sp>
      </p:grpSp>
      <p:sp>
        <p:nvSpPr>
          <p:cNvPr id="483" name="Google Shape;483;p24"/>
          <p:cNvSpPr/>
          <p:nvPr/>
        </p:nvSpPr>
        <p:spPr>
          <a:xfrm>
            <a:off x="816617" y="8633566"/>
            <a:ext cx="16837628" cy="12668"/>
          </a:xfrm>
          <a:custGeom>
            <a:avLst/>
            <a:gdLst/>
            <a:ahLst/>
            <a:cxnLst/>
            <a:rect l="l" t="t" r="r" b="b"/>
            <a:pathLst>
              <a:path w="22450171" h="16891" extrusionOk="0">
                <a:moveTo>
                  <a:pt x="0" y="0"/>
                </a:moveTo>
                <a:lnTo>
                  <a:pt x="22450171" y="16891"/>
                </a:lnTo>
              </a:path>
            </a:pathLst>
          </a:custGeom>
          <a:blipFill rotWithShape="1">
            <a:blip r:embed="rId3">
              <a:alphaModFix amt="0"/>
            </a:blip>
            <a:stretch>
              <a:fillRect t="-25856498" b="-25857016"/>
            </a:stretch>
          </a:blipFill>
          <a:ln w="12700" cap="sq" cmpd="sng">
            <a:solidFill>
              <a:srgbClr val="DDDDDD"/>
            </a:solidFill>
            <a:prstDash val="solid"/>
            <a:miter lim="8000"/>
            <a:headEnd type="none" w="sm" len="sm"/>
            <a:tailEnd type="none" w="sm" len="sm"/>
          </a:ln>
        </p:spPr>
      </p:sp>
      <p:sp>
        <p:nvSpPr>
          <p:cNvPr id="484" name="Google Shape;484;p24"/>
          <p:cNvSpPr txBox="1"/>
          <p:nvPr/>
        </p:nvSpPr>
        <p:spPr>
          <a:xfrm>
            <a:off x="828675" y="8774173"/>
            <a:ext cx="585216" cy="36192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8B1A1A"/>
                </a:solidFill>
                <a:latin typeface="Calibri"/>
                <a:ea typeface="Calibri"/>
                <a:cs typeface="Calibri"/>
                <a:sym typeface="Calibri"/>
              </a:rPr>
              <a:t>[8]</a:t>
            </a:r>
            <a:endParaRPr/>
          </a:p>
        </p:txBody>
      </p:sp>
      <p:grpSp>
        <p:nvGrpSpPr>
          <p:cNvPr id="485" name="Google Shape;485;p24"/>
          <p:cNvGrpSpPr/>
          <p:nvPr/>
        </p:nvGrpSpPr>
        <p:grpSpPr>
          <a:xfrm>
            <a:off x="1554480" y="8539353"/>
            <a:ext cx="15947136" cy="796671"/>
            <a:chOff x="0" y="-38100"/>
            <a:chExt cx="21262848" cy="1062228"/>
          </a:xfrm>
        </p:grpSpPr>
        <p:sp>
          <p:nvSpPr>
            <p:cNvPr id="486" name="Google Shape;486;p24"/>
            <p:cNvSpPr/>
            <p:nvPr/>
          </p:nvSpPr>
          <p:spPr>
            <a:xfrm>
              <a:off x="0" y="0"/>
              <a:ext cx="21262848" cy="1024128"/>
            </a:xfrm>
            <a:custGeom>
              <a:avLst/>
              <a:gdLst/>
              <a:ahLst/>
              <a:cxnLst/>
              <a:rect l="l" t="t" r="r" b="b"/>
              <a:pathLst>
                <a:path w="21262848" h="1024128" extrusionOk="0">
                  <a:moveTo>
                    <a:pt x="0" y="0"/>
                  </a:moveTo>
                  <a:lnTo>
                    <a:pt x="21262848" y="0"/>
                  </a:lnTo>
                  <a:lnTo>
                    <a:pt x="21262848" y="1024128"/>
                  </a:lnTo>
                  <a:lnTo>
                    <a:pt x="0" y="1024128"/>
                  </a:lnTo>
                  <a:close/>
                </a:path>
              </a:pathLst>
            </a:custGeom>
            <a:blipFill rotWithShape="1">
              <a:blip r:embed="rId3">
                <a:alphaModFix amt="0"/>
              </a:blip>
              <a:stretch>
                <a:fillRect t="-354531" b="-354531"/>
              </a:stretch>
            </a:blipFill>
            <a:ln>
              <a:noFill/>
            </a:ln>
          </p:spPr>
        </p:sp>
        <p:sp>
          <p:nvSpPr>
            <p:cNvPr id="487" name="Google Shape;487;p24"/>
            <p:cNvSpPr txBox="1"/>
            <p:nvPr/>
          </p:nvSpPr>
          <p:spPr>
            <a:xfrm>
              <a:off x="0" y="-38100"/>
              <a:ext cx="21262848" cy="106222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000" b="0" i="0" u="none" strike="noStrike" cap="none">
                  <a:solidFill>
                    <a:srgbClr val="2D2D2D"/>
                  </a:solidFill>
                  <a:latin typeface="Calibri"/>
                  <a:ea typeface="Calibri"/>
                  <a:cs typeface="Calibri"/>
                  <a:sym typeface="Calibri"/>
                </a:rPr>
                <a:t>Fajri Koto et al. ArabicMMLU. ACL 2024. </a:t>
              </a:r>
              <a:r>
                <a:rPr lang="en-US" sz="2000" b="0" i="0" u="sng" strike="noStrike" cap="none">
                  <a:solidFill>
                    <a:schemeClr val="hlink"/>
                  </a:solidFill>
                  <a:latin typeface="Calibri"/>
                  <a:ea typeface="Calibri"/>
                  <a:cs typeface="Calibri"/>
                  <a:sym typeface="Calibri"/>
                  <a:hlinkClick r:id="rId11"/>
                </a:rPr>
                <a:t>https://aclanthology.org/2024.findings-acl.334/</a:t>
              </a:r>
              <a:endParaRPr/>
            </a:p>
          </p:txBody>
        </p:sp>
      </p:grpSp>
      <p:sp>
        <p:nvSpPr>
          <p:cNvPr id="488" name="Google Shape;488;p24"/>
          <p:cNvSpPr/>
          <p:nvPr/>
        </p:nvSpPr>
        <p:spPr>
          <a:xfrm>
            <a:off x="14838272" y="534945"/>
            <a:ext cx="3015388" cy="765909"/>
          </a:xfrm>
          <a:custGeom>
            <a:avLst/>
            <a:gdLst/>
            <a:ahLst/>
            <a:cxnLst/>
            <a:rect l="l" t="t" r="r" b="b"/>
            <a:pathLst>
              <a:path w="3015388" h="765909" extrusionOk="0">
                <a:moveTo>
                  <a:pt x="0" y="0"/>
                </a:moveTo>
                <a:lnTo>
                  <a:pt x="3015388" y="0"/>
                </a:lnTo>
                <a:lnTo>
                  <a:pt x="3015388" y="765909"/>
                </a:lnTo>
                <a:lnTo>
                  <a:pt x="0" y="765909"/>
                </a:lnTo>
                <a:lnTo>
                  <a:pt x="0" y="0"/>
                </a:lnTo>
                <a:close/>
              </a:path>
            </a:pathLst>
          </a:custGeom>
          <a:blipFill rotWithShape="1">
            <a:blip r:embed="rId12">
              <a:alphaModFix/>
            </a:blip>
            <a:stretch>
              <a:fillRect/>
            </a:stretch>
          </a:blipFill>
          <a:ln>
            <a:noFill/>
          </a:ln>
        </p:spPr>
      </p:sp>
      <p:sp>
        <p:nvSpPr>
          <p:cNvPr id="489" name="Google Shape;489;p24"/>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490" name="Google Shape;490;p24"/>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491" name="Google Shape;491;p24"/>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12</a:t>
            </a:r>
            <a:endParaRPr sz="1593">
              <a:solidFill>
                <a:srgbClr val="AAAAAA"/>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495"/>
        <p:cNvGrpSpPr/>
        <p:nvPr/>
      </p:nvGrpSpPr>
      <p:grpSpPr>
        <a:xfrm>
          <a:off x="0" y="0"/>
          <a:ext cx="0" cy="0"/>
          <a:chOff x="0" y="0"/>
          <a:chExt cx="0" cy="0"/>
        </a:xfrm>
      </p:grpSpPr>
      <p:grpSp>
        <p:nvGrpSpPr>
          <p:cNvPr id="496" name="Google Shape;496;p25"/>
          <p:cNvGrpSpPr/>
          <p:nvPr/>
        </p:nvGrpSpPr>
        <p:grpSpPr>
          <a:xfrm>
            <a:off x="920744" y="2517762"/>
            <a:ext cx="16459200" cy="2420302"/>
            <a:chOff x="0" y="-57150"/>
            <a:chExt cx="21945600" cy="3227070"/>
          </a:xfrm>
        </p:grpSpPr>
        <p:sp>
          <p:nvSpPr>
            <p:cNvPr id="497" name="Google Shape;497;p25"/>
            <p:cNvSpPr/>
            <p:nvPr/>
          </p:nvSpPr>
          <p:spPr>
            <a:xfrm>
              <a:off x="0" y="0"/>
              <a:ext cx="21945600" cy="3169920"/>
            </a:xfrm>
            <a:custGeom>
              <a:avLst/>
              <a:gdLst/>
              <a:ahLst/>
              <a:cxnLst/>
              <a:rect l="l" t="t" r="r" b="b"/>
              <a:pathLst>
                <a:path w="21945600" h="3169920" extrusionOk="0">
                  <a:moveTo>
                    <a:pt x="0" y="0"/>
                  </a:moveTo>
                  <a:lnTo>
                    <a:pt x="21945600" y="0"/>
                  </a:lnTo>
                  <a:lnTo>
                    <a:pt x="21945600" y="3169920"/>
                  </a:lnTo>
                  <a:lnTo>
                    <a:pt x="0" y="3169920"/>
                  </a:lnTo>
                  <a:close/>
                </a:path>
              </a:pathLst>
            </a:custGeom>
            <a:blipFill rotWithShape="1">
              <a:blip r:embed="rId3">
                <a:alphaModFix amt="0"/>
              </a:blip>
              <a:stretch>
                <a:fillRect t="-84894" b="-84894"/>
              </a:stretch>
            </a:blipFill>
            <a:ln>
              <a:noFill/>
            </a:ln>
          </p:spPr>
        </p:sp>
        <p:sp>
          <p:nvSpPr>
            <p:cNvPr id="498" name="Google Shape;498;p25"/>
            <p:cNvSpPr txBox="1"/>
            <p:nvPr/>
          </p:nvSpPr>
          <p:spPr>
            <a:xfrm>
              <a:off x="0" y="-57150"/>
              <a:ext cx="21945600" cy="3227070"/>
            </a:xfrm>
            <a:prstGeom prst="rect">
              <a:avLst/>
            </a:prstGeom>
            <a:noFill/>
            <a:ln>
              <a:noFill/>
            </a:ln>
          </p:spPr>
          <p:txBody>
            <a:bodyPr spcFirstLastPara="1" wrap="square" lIns="0" tIns="0" rIns="0" bIns="0" anchor="ctr" anchorCtr="0">
              <a:noAutofit/>
            </a:bodyPr>
            <a:lstStyle/>
            <a:p>
              <a:pPr marL="0" marR="0" lvl="0" indent="0" algn="ctr" rtl="0">
                <a:lnSpc>
                  <a:spcPct val="119992"/>
                </a:lnSpc>
                <a:spcBef>
                  <a:spcPts val="0"/>
                </a:spcBef>
                <a:spcAft>
                  <a:spcPts val="0"/>
                </a:spcAft>
                <a:buNone/>
              </a:pPr>
              <a:r>
                <a:rPr lang="en-US" sz="13600" b="1" i="0" u="none" strike="noStrike" cap="none">
                  <a:solidFill>
                    <a:srgbClr val="FFFFFF"/>
                  </a:solidFill>
                  <a:latin typeface="Arial"/>
                  <a:ea typeface="Arial"/>
                  <a:cs typeface="Arial"/>
                  <a:sym typeface="Arial"/>
                </a:rPr>
                <a:t>Thank You</a:t>
              </a:r>
              <a:endParaRPr/>
            </a:p>
          </p:txBody>
        </p:sp>
      </p:grpSp>
      <p:sp>
        <p:nvSpPr>
          <p:cNvPr id="499" name="Google Shape;499;p25"/>
          <p:cNvSpPr/>
          <p:nvPr/>
        </p:nvSpPr>
        <p:spPr>
          <a:xfrm>
            <a:off x="6394447" y="4861354"/>
            <a:ext cx="5511831" cy="153447"/>
          </a:xfrm>
          <a:custGeom>
            <a:avLst/>
            <a:gdLst/>
            <a:ahLst/>
            <a:cxnLst/>
            <a:rect l="l" t="t" r="r" b="b"/>
            <a:pathLst>
              <a:path w="7349109" h="204597" extrusionOk="0">
                <a:moveTo>
                  <a:pt x="0" y="0"/>
                </a:moveTo>
                <a:lnTo>
                  <a:pt x="7349109" y="0"/>
                </a:lnTo>
                <a:lnTo>
                  <a:pt x="7349109" y="204597"/>
                </a:lnTo>
                <a:lnTo>
                  <a:pt x="0" y="204597"/>
                </a:lnTo>
                <a:close/>
              </a:path>
            </a:pathLst>
          </a:custGeom>
          <a:solidFill>
            <a:srgbClr val="8B1A1A"/>
          </a:solidFill>
          <a:ln w="25400" cap="sq" cmpd="sng">
            <a:solidFill>
              <a:srgbClr val="8B1A1A"/>
            </a:solidFill>
            <a:prstDash val="solid"/>
            <a:miter lim="8000"/>
            <a:headEnd type="none" w="sm" len="sm"/>
            <a:tailEnd type="none" w="sm" len="sm"/>
          </a:ln>
        </p:spPr>
      </p:sp>
      <p:grpSp>
        <p:nvGrpSpPr>
          <p:cNvPr id="500" name="Google Shape;500;p25"/>
          <p:cNvGrpSpPr/>
          <p:nvPr/>
        </p:nvGrpSpPr>
        <p:grpSpPr>
          <a:xfrm>
            <a:off x="908047" y="5143310"/>
            <a:ext cx="16459200" cy="628079"/>
            <a:chOff x="0" y="-57150"/>
            <a:chExt cx="21945600" cy="837438"/>
          </a:xfrm>
        </p:grpSpPr>
        <p:sp>
          <p:nvSpPr>
            <p:cNvPr id="501" name="Google Shape;501;p25"/>
            <p:cNvSpPr/>
            <p:nvPr/>
          </p:nvSpPr>
          <p:spPr>
            <a:xfrm>
              <a:off x="0" y="0"/>
              <a:ext cx="21945600" cy="780288"/>
            </a:xfrm>
            <a:custGeom>
              <a:avLst/>
              <a:gdLst/>
              <a:ahLst/>
              <a:cxnLst/>
              <a:rect l="l" t="t" r="r" b="b"/>
              <a:pathLst>
                <a:path w="21945600" h="780288" extrusionOk="0">
                  <a:moveTo>
                    <a:pt x="0" y="0"/>
                  </a:moveTo>
                  <a:lnTo>
                    <a:pt x="21945600" y="0"/>
                  </a:lnTo>
                  <a:lnTo>
                    <a:pt x="21945600" y="780288"/>
                  </a:lnTo>
                  <a:lnTo>
                    <a:pt x="0" y="780288"/>
                  </a:lnTo>
                  <a:close/>
                </a:path>
              </a:pathLst>
            </a:custGeom>
            <a:blipFill rotWithShape="1">
              <a:blip r:embed="rId3">
                <a:alphaModFix amt="0"/>
              </a:blip>
              <a:stretch>
                <a:fillRect t="-498005" b="-498005"/>
              </a:stretch>
            </a:blipFill>
            <a:ln>
              <a:noFill/>
            </a:ln>
          </p:spPr>
        </p:sp>
        <p:sp>
          <p:nvSpPr>
            <p:cNvPr id="502" name="Google Shape;502;p25"/>
            <p:cNvSpPr txBox="1"/>
            <p:nvPr/>
          </p:nvSpPr>
          <p:spPr>
            <a:xfrm>
              <a:off x="0" y="-57150"/>
              <a:ext cx="21945600" cy="837438"/>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600" b="0" i="0" u="none" strike="noStrike" cap="none">
                  <a:solidFill>
                    <a:srgbClr val="AAAAAA"/>
                  </a:solidFill>
                  <a:latin typeface="Calibri"/>
                  <a:ea typeface="Calibri"/>
                  <a:cs typeface="Calibri"/>
                  <a:sym typeface="Calibri"/>
                </a:rPr>
                <a:t>For questions or collaboration:</a:t>
              </a:r>
              <a:endParaRPr/>
            </a:p>
          </p:txBody>
        </p:sp>
      </p:grpSp>
      <p:grpSp>
        <p:nvGrpSpPr>
          <p:cNvPr id="503" name="Google Shape;503;p25"/>
          <p:cNvGrpSpPr/>
          <p:nvPr/>
        </p:nvGrpSpPr>
        <p:grpSpPr>
          <a:xfrm>
            <a:off x="920748" y="5580492"/>
            <a:ext cx="16459200" cy="818102"/>
            <a:chOff x="0" y="-66675"/>
            <a:chExt cx="21945600" cy="1090803"/>
          </a:xfrm>
        </p:grpSpPr>
        <p:sp>
          <p:nvSpPr>
            <p:cNvPr id="504" name="Google Shape;504;p25"/>
            <p:cNvSpPr/>
            <p:nvPr/>
          </p:nvSpPr>
          <p:spPr>
            <a:xfrm>
              <a:off x="0" y="0"/>
              <a:ext cx="21945600" cy="1024128"/>
            </a:xfrm>
            <a:custGeom>
              <a:avLst/>
              <a:gdLst/>
              <a:ahLst/>
              <a:cxnLst/>
              <a:rect l="l" t="t" r="r" b="b"/>
              <a:pathLst>
                <a:path w="21945600" h="1024128" extrusionOk="0">
                  <a:moveTo>
                    <a:pt x="0" y="0"/>
                  </a:moveTo>
                  <a:lnTo>
                    <a:pt x="21945600" y="0"/>
                  </a:lnTo>
                  <a:lnTo>
                    <a:pt x="21945600" y="1024128"/>
                  </a:lnTo>
                  <a:lnTo>
                    <a:pt x="0" y="1024128"/>
                  </a:lnTo>
                  <a:close/>
                </a:path>
              </a:pathLst>
            </a:custGeom>
            <a:blipFill rotWithShape="1">
              <a:blip r:embed="rId3">
                <a:alphaModFix amt="0"/>
              </a:blip>
              <a:stretch>
                <a:fillRect t="-367502" b="-367502"/>
              </a:stretch>
            </a:blipFill>
            <a:ln>
              <a:noFill/>
            </a:ln>
          </p:spPr>
        </p:sp>
        <p:sp>
          <p:nvSpPr>
            <p:cNvPr id="505" name="Google Shape;505;p25"/>
            <p:cNvSpPr txBox="1"/>
            <p:nvPr/>
          </p:nvSpPr>
          <p:spPr>
            <a:xfrm>
              <a:off x="0" y="-66675"/>
              <a:ext cx="21945600" cy="1090803"/>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3600" b="1" i="0" u="none" strike="noStrike" cap="none">
                  <a:solidFill>
                    <a:srgbClr val="C5A55A"/>
                  </a:solidFill>
                  <a:latin typeface="Calibri"/>
                  <a:ea typeface="Calibri"/>
                  <a:cs typeface="Calibri"/>
                  <a:sym typeface="Calibri"/>
                </a:rPr>
                <a:t>info@aisafety.ae</a:t>
              </a:r>
              <a:endParaRPr/>
            </a:p>
          </p:txBody>
        </p:sp>
      </p:grpSp>
      <p:sp>
        <p:nvSpPr>
          <p:cNvPr id="506" name="Google Shape;506;p25"/>
          <p:cNvSpPr/>
          <p:nvPr/>
        </p:nvSpPr>
        <p:spPr>
          <a:xfrm>
            <a:off x="908047" y="9229087"/>
            <a:ext cx="16471868" cy="12668"/>
          </a:xfrm>
          <a:custGeom>
            <a:avLst/>
            <a:gdLst/>
            <a:ahLst/>
            <a:cxnLst/>
            <a:rect l="l" t="t" r="r" b="b"/>
            <a:pathLst>
              <a:path w="21962490" h="16891" extrusionOk="0">
                <a:moveTo>
                  <a:pt x="0" y="0"/>
                </a:moveTo>
                <a:lnTo>
                  <a:pt x="21962490" y="16891"/>
                </a:lnTo>
              </a:path>
            </a:pathLst>
          </a:custGeom>
          <a:blipFill rotWithShape="1">
            <a:blip r:embed="rId3">
              <a:alphaModFix amt="0"/>
            </a:blip>
            <a:stretch>
              <a:fillRect t="-25330162" b="-25330670"/>
            </a:stretch>
          </a:blipFill>
          <a:ln w="12700" cap="sq" cmpd="sng">
            <a:solidFill>
              <a:srgbClr val="333333"/>
            </a:solidFill>
            <a:prstDash val="solid"/>
            <a:miter lim="8000"/>
            <a:headEnd type="none" w="sm" len="sm"/>
            <a:tailEnd type="none" w="sm" len="sm"/>
          </a:ln>
        </p:spPr>
      </p:sp>
      <p:grpSp>
        <p:nvGrpSpPr>
          <p:cNvPr id="507" name="Google Shape;507;p25"/>
          <p:cNvGrpSpPr/>
          <p:nvPr/>
        </p:nvGrpSpPr>
        <p:grpSpPr>
          <a:xfrm>
            <a:off x="920760" y="9181434"/>
            <a:ext cx="16459200" cy="430911"/>
            <a:chOff x="0" y="-38100"/>
            <a:chExt cx="21945600" cy="574548"/>
          </a:xfrm>
        </p:grpSpPr>
        <p:sp>
          <p:nvSpPr>
            <p:cNvPr id="508" name="Google Shape;508;p25"/>
            <p:cNvSpPr/>
            <p:nvPr/>
          </p:nvSpPr>
          <p:spPr>
            <a:xfrm>
              <a:off x="0" y="0"/>
              <a:ext cx="21945600" cy="536448"/>
            </a:xfrm>
            <a:custGeom>
              <a:avLst/>
              <a:gdLst/>
              <a:ahLst/>
              <a:cxnLst/>
              <a:rect l="l" t="t" r="r" b="b"/>
              <a:pathLst>
                <a:path w="21945600" h="536448" extrusionOk="0">
                  <a:moveTo>
                    <a:pt x="0" y="0"/>
                  </a:moveTo>
                  <a:lnTo>
                    <a:pt x="21945600" y="0"/>
                  </a:lnTo>
                  <a:lnTo>
                    <a:pt x="21945600" y="536448"/>
                  </a:lnTo>
                  <a:lnTo>
                    <a:pt x="0" y="536448"/>
                  </a:lnTo>
                  <a:close/>
                </a:path>
              </a:pathLst>
            </a:custGeom>
            <a:blipFill rotWithShape="1">
              <a:blip r:embed="rId3">
                <a:alphaModFix amt="0"/>
              </a:blip>
              <a:stretch>
                <a:fillRect t="-747193" b="-747193"/>
              </a:stretch>
            </a:blipFill>
            <a:ln>
              <a:noFill/>
            </a:ln>
          </p:spPr>
        </p:sp>
        <p:sp>
          <p:nvSpPr>
            <p:cNvPr id="509" name="Google Shape;509;p25"/>
            <p:cNvSpPr txBox="1"/>
            <p:nvPr/>
          </p:nvSpPr>
          <p:spPr>
            <a:xfrm>
              <a:off x="0" y="-38100"/>
              <a:ext cx="21945600" cy="574548"/>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800" b="0" i="0" u="none" strike="noStrike" cap="none">
                  <a:solidFill>
                    <a:srgbClr val="AAAAAA"/>
                  </a:solidFill>
                  <a:latin typeface="Calibri"/>
                  <a:ea typeface="Calibri"/>
                  <a:cs typeface="Calibri"/>
                  <a:sym typeface="Calibri"/>
                </a:rPr>
                <a:t>© 2026 AI Safety UAE. All rights reserved.  |  aisafety.ae</a:t>
              </a:r>
              <a:endParaRPr/>
            </a:p>
          </p:txBody>
        </p:sp>
      </p:grpSp>
      <p:sp>
        <p:nvSpPr>
          <p:cNvPr id="510" name="Google Shape;510;p25"/>
          <p:cNvSpPr txBox="1"/>
          <p:nvPr/>
        </p:nvSpPr>
        <p:spPr>
          <a:xfrm>
            <a:off x="7347499" y="6917156"/>
            <a:ext cx="3605699" cy="36192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100" b="1" i="0" u="none" strike="noStrike" cap="none">
                <a:solidFill>
                  <a:srgbClr val="C5A55A"/>
                </a:solidFill>
                <a:latin typeface="Calibri"/>
                <a:ea typeface="Calibri"/>
                <a:cs typeface="Calibri"/>
                <a:sym typeface="Calibri"/>
              </a:rPr>
              <a:t>Oversight Authorities Reference:</a:t>
            </a:r>
            <a:endParaRPr/>
          </a:p>
        </p:txBody>
      </p:sp>
      <p:grpSp>
        <p:nvGrpSpPr>
          <p:cNvPr id="511" name="Google Shape;511;p25"/>
          <p:cNvGrpSpPr/>
          <p:nvPr/>
        </p:nvGrpSpPr>
        <p:grpSpPr>
          <a:xfrm>
            <a:off x="920760" y="7673744"/>
            <a:ext cx="16459200" cy="547783"/>
            <a:chOff x="0" y="-47625"/>
            <a:chExt cx="21945600" cy="730377"/>
          </a:xfrm>
        </p:grpSpPr>
        <p:sp>
          <p:nvSpPr>
            <p:cNvPr id="512" name="Google Shape;512;p25"/>
            <p:cNvSpPr/>
            <p:nvPr/>
          </p:nvSpPr>
          <p:spPr>
            <a:xfrm>
              <a:off x="0" y="0"/>
              <a:ext cx="21945600" cy="682752"/>
            </a:xfrm>
            <a:custGeom>
              <a:avLst/>
              <a:gdLst/>
              <a:ahLst/>
              <a:cxnLst/>
              <a:rect l="l" t="t" r="r" b="b"/>
              <a:pathLst>
                <a:path w="21945600" h="682752" extrusionOk="0">
                  <a:moveTo>
                    <a:pt x="0" y="0"/>
                  </a:moveTo>
                  <a:lnTo>
                    <a:pt x="21945600" y="0"/>
                  </a:lnTo>
                  <a:lnTo>
                    <a:pt x="21945600" y="682752"/>
                  </a:lnTo>
                  <a:lnTo>
                    <a:pt x="0" y="682752"/>
                  </a:lnTo>
                  <a:close/>
                </a:path>
              </a:pathLst>
            </a:custGeom>
            <a:blipFill rotWithShape="1">
              <a:blip r:embed="rId3">
                <a:alphaModFix amt="0"/>
              </a:blip>
              <a:stretch>
                <a:fillRect t="-576253" b="-576253"/>
              </a:stretch>
            </a:blipFill>
            <a:ln>
              <a:noFill/>
            </a:ln>
          </p:spPr>
        </p:sp>
        <p:sp>
          <p:nvSpPr>
            <p:cNvPr id="513" name="Google Shape;513;p25"/>
            <p:cNvSpPr txBox="1"/>
            <p:nvPr/>
          </p:nvSpPr>
          <p:spPr>
            <a:xfrm>
              <a:off x="0" y="-47625"/>
              <a:ext cx="21945600" cy="730377"/>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100" b="0" i="0" u="none" strike="noStrike" cap="none" dirty="0">
                  <a:solidFill>
                    <a:srgbClr val="EEEEEE"/>
                  </a:solidFill>
                  <a:latin typeface="Calibri"/>
                  <a:ea typeface="Calibri"/>
                  <a:cs typeface="Calibri"/>
                  <a:sym typeface="Calibri"/>
                </a:rPr>
                <a:t>UAE Ministry of Artificial Intelligence  ·  MBZUAI  ·  TDRA  ·  UAE Cyber Security Council</a:t>
              </a:r>
              <a:endParaRPr dirty="0"/>
            </a:p>
          </p:txBody>
        </p:sp>
      </p:grpSp>
      <p:sp>
        <p:nvSpPr>
          <p:cNvPr id="514" name="Google Shape;514;p25"/>
          <p:cNvSpPr/>
          <p:nvPr/>
        </p:nvSpPr>
        <p:spPr>
          <a:xfrm>
            <a:off x="5853677" y="679552"/>
            <a:ext cx="6567939" cy="1709621"/>
          </a:xfrm>
          <a:custGeom>
            <a:avLst/>
            <a:gdLst/>
            <a:ahLst/>
            <a:cxnLst/>
            <a:rect l="l" t="t" r="r" b="b"/>
            <a:pathLst>
              <a:path w="6567939" h="1709621" extrusionOk="0">
                <a:moveTo>
                  <a:pt x="0" y="0"/>
                </a:moveTo>
                <a:lnTo>
                  <a:pt x="6567939" y="0"/>
                </a:lnTo>
                <a:lnTo>
                  <a:pt x="6567939" y="1709622"/>
                </a:lnTo>
                <a:lnTo>
                  <a:pt x="0" y="1709622"/>
                </a:lnTo>
                <a:lnTo>
                  <a:pt x="0" y="0"/>
                </a:lnTo>
                <a:close/>
              </a:path>
            </a:pathLst>
          </a:custGeom>
          <a:blipFill rotWithShape="1">
            <a:blip r:embed="rId4">
              <a:alphaModFix/>
            </a:blip>
            <a:stretch>
              <a:fillRect/>
            </a:stretch>
          </a:blipFill>
          <a:ln>
            <a:noFill/>
          </a:ln>
        </p:spPr>
      </p:sp>
      <p:sp>
        <p:nvSpPr>
          <p:cNvPr id="515" name="Google Shape;515;p25"/>
          <p:cNvSpPr/>
          <p:nvPr/>
        </p:nvSpPr>
        <p:spPr>
          <a:xfrm>
            <a:off x="0" y="9813723"/>
            <a:ext cx="18288000" cy="54600"/>
          </a:xfrm>
          <a:prstGeom prst="rect">
            <a:avLst/>
          </a:prstGeom>
          <a:solidFill>
            <a:srgbClr val="E5E7EB"/>
          </a:solidFill>
          <a:ln>
            <a:noFill/>
          </a:ln>
        </p:spPr>
        <p:txBody>
          <a:bodyPr spcFirstLastPara="1" wrap="square" lIns="182050" tIns="182050" rIns="182050" bIns="182050" anchor="ctr" anchorCtr="0">
            <a:noAutofit/>
          </a:bodyPr>
          <a:lstStyle/>
          <a:p>
            <a:pPr marL="0" lvl="0" indent="0" algn="l" rtl="0">
              <a:spcBef>
                <a:spcPts val="0"/>
              </a:spcBef>
              <a:spcAft>
                <a:spcPts val="0"/>
              </a:spcAft>
              <a:buNone/>
            </a:pPr>
            <a:endParaRPr/>
          </a:p>
        </p:txBody>
      </p:sp>
      <p:sp>
        <p:nvSpPr>
          <p:cNvPr id="516" name="Google Shape;516;p25"/>
          <p:cNvSpPr/>
          <p:nvPr/>
        </p:nvSpPr>
        <p:spPr>
          <a:xfrm>
            <a:off x="637255" y="9868352"/>
            <a:ext cx="5462100" cy="327900"/>
          </a:xfrm>
          <a:prstGeom prst="rect">
            <a:avLst/>
          </a:prstGeom>
          <a:noFill/>
          <a:ln>
            <a:noFill/>
          </a:ln>
        </p:spPr>
        <p:txBody>
          <a:bodyPr spcFirstLastPara="1" wrap="square" lIns="182050" tIns="91000" rIns="182050" bIns="91000" anchor="ctr" anchorCtr="0">
            <a:noAutofit/>
          </a:bodyPr>
          <a:lstStyle/>
          <a:p>
            <a:pPr marL="0" marR="0" lvl="0" indent="0" algn="l" rtl="0">
              <a:spcBef>
                <a:spcPts val="0"/>
              </a:spcBef>
              <a:spcAft>
                <a:spcPts val="0"/>
              </a:spcAft>
              <a:buClr>
                <a:srgbClr val="9CA3AF"/>
              </a:buClr>
              <a:buSzPts val="1593"/>
              <a:buFont typeface="Calibri"/>
              <a:buNone/>
            </a:pPr>
            <a:r>
              <a:rPr lang="en-US" sz="1593">
                <a:solidFill>
                  <a:srgbClr val="9CA3AF"/>
                </a:solidFill>
                <a:latin typeface="Calibri"/>
                <a:ea typeface="Calibri"/>
                <a:cs typeface="Calibri"/>
                <a:sym typeface="Calibri"/>
              </a:rPr>
              <a:t>AI Safety UAE</a:t>
            </a:r>
            <a:endParaRPr sz="1593">
              <a:solidFill>
                <a:srgbClr val="000000"/>
              </a:solidFill>
              <a:latin typeface="Calibri"/>
              <a:ea typeface="Calibri"/>
              <a:cs typeface="Calibri"/>
              <a:sym typeface="Calibri"/>
            </a:endParaRPr>
          </a:p>
        </p:txBody>
      </p:sp>
      <p:sp>
        <p:nvSpPr>
          <p:cNvPr id="517" name="Google Shape;517;p25"/>
          <p:cNvSpPr/>
          <p:nvPr/>
        </p:nvSpPr>
        <p:spPr>
          <a:xfrm>
            <a:off x="14022400" y="9871000"/>
            <a:ext cx="4106700" cy="324900"/>
          </a:xfrm>
          <a:prstGeom prst="rect">
            <a:avLst/>
          </a:prstGeom>
          <a:noFill/>
          <a:ln>
            <a:noFill/>
          </a:ln>
        </p:spPr>
        <p:txBody>
          <a:bodyPr spcFirstLastPara="1" wrap="square" lIns="182050" tIns="91000" rIns="182050" bIns="91000" anchor="ctr" anchorCtr="0">
            <a:noAutofit/>
          </a:bodyPr>
          <a:lstStyle/>
          <a:p>
            <a:pPr marL="0" marR="0" lvl="0" indent="0" algn="r" rtl="0">
              <a:spcBef>
                <a:spcPts val="0"/>
              </a:spcBef>
              <a:spcAft>
                <a:spcPts val="0"/>
              </a:spcAft>
              <a:buNone/>
            </a:pPr>
            <a:r>
              <a:rPr lang="en-US" sz="1593">
                <a:solidFill>
                  <a:srgbClr val="AAAAAA"/>
                </a:solidFill>
                <a:latin typeface="Calibri"/>
                <a:ea typeface="Calibri"/>
                <a:cs typeface="Calibri"/>
                <a:sym typeface="Calibri"/>
              </a:rPr>
              <a:t>13</a:t>
            </a:r>
            <a:endParaRPr sz="1593">
              <a:solidFill>
                <a:srgbClr val="AAAAAA"/>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1378</Words>
  <Application>Microsoft Office PowerPoint</Application>
  <PresentationFormat>Custom</PresentationFormat>
  <Paragraphs>138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Naiyarah Hussain</cp:lastModifiedBy>
  <cp:revision>1</cp:revision>
  <dcterms:modified xsi:type="dcterms:W3CDTF">2026-06-11T15:46:28Z</dcterms:modified>
</cp:coreProperties>
</file>