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PT Sans Narrow"/>
      <p:regular r:id="rId30"/>
      <p:bold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TSansNarrow-bold.fntdata"/><Relationship Id="rId30" Type="http://schemas.openxmlformats.org/officeDocument/2006/relationships/font" Target="fonts/PTSansNarrow-regular.fntdata"/><Relationship Id="rId11" Type="http://schemas.openxmlformats.org/officeDocument/2006/relationships/slide" Target="slides/slide6.xml"/><Relationship Id="rId33" Type="http://schemas.openxmlformats.org/officeDocument/2006/relationships/font" Target="fonts/OpenSans-bold.fntdata"/><Relationship Id="rId10" Type="http://schemas.openxmlformats.org/officeDocument/2006/relationships/slide" Target="slides/slide5.xml"/><Relationship Id="rId32" Type="http://schemas.openxmlformats.org/officeDocument/2006/relationships/font" Target="fonts/OpenSans-regular.fntdata"/><Relationship Id="rId13" Type="http://schemas.openxmlformats.org/officeDocument/2006/relationships/slide" Target="slides/slide8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34" Type="http://schemas.openxmlformats.org/officeDocument/2006/relationships/font" Target="fonts/Open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226ed5c4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226ed5c4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226ed5c4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226ed5c4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32edc9926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32edc992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3ec4a74b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3ec4a74b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226ed5c4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226ed5c4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231636e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231636e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231636eb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231636eb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231636eb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231636eb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231636eb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231636eb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231636eb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231636eb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231636eb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231636eb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32edc992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32edc992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231636eb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231636eb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231636eb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e231636eb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231636eb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231636eb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32edc99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32edc99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32edc992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32edc992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32edc992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32edc992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32edc992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32edc992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32edc992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32edc992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32edc992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e32edc992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3ec4a74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e3ec4a74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3ec4a74b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3ec4a74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8.jpg"/><Relationship Id="rId5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g"/><Relationship Id="rId4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anyscale.com/blog/gpu-in-efficiency-in-ai-workloads" TargetMode="External"/><Relationship Id="rId4" Type="http://schemas.openxmlformats.org/officeDocument/2006/relationships/hyperlink" Target="https://www.promptzone.com/elena_martinez_9880029c/xais-11-gpu-utilization-explained-138i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roq.com/lpu-architecture" TargetMode="External"/><Relationship Id="rId4" Type="http://schemas.openxmlformats.org/officeDocument/2006/relationships/hyperlink" Target="https://www.cerebras.ai/chip" TargetMode="External"/><Relationship Id="rId5" Type="http://schemas.openxmlformats.org/officeDocument/2006/relationships/image" Target="../media/image16.png"/><Relationship Id="rId6" Type="http://schemas.openxmlformats.org/officeDocument/2006/relationships/image" Target="../media/image1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9.png"/><Relationship Id="rId5" Type="http://schemas.openxmlformats.org/officeDocument/2006/relationships/hyperlink" Target="https://www.d-matrix.ai/" TargetMode="External"/><Relationship Id="rId6" Type="http://schemas.openxmlformats.org/officeDocument/2006/relationships/hyperlink" Target="https://verticalcompute.com/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hyperlink" Target="https://taalas.com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2137175" y="1839311"/>
            <a:ext cx="4870500" cy="13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The case for fine-grain monitoring of AI compute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3297300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Dr Farhan Shafiq,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Katherine Biewer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1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Current approaches to tracking AI compute primarily rely on a handful of hardware proxies (like FLOP/s and bandwidth) that primarily track GPU/TPU progress. These metrics are becoming less useful for accurately tracking compute for AI</a:t>
            </a:r>
            <a:r>
              <a:rPr lang="en-GB" sz="3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concepts</a:t>
            </a:r>
            <a:endParaRPr/>
          </a:p>
        </p:txBody>
      </p:sp>
      <p:sp>
        <p:nvSpPr>
          <p:cNvPr id="79" name="Google Shape;79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lang="en-GB" sz="2600">
                <a:solidFill>
                  <a:schemeClr val="lt1"/>
                </a:solidFill>
              </a:rPr>
              <a:t>Compute</a:t>
            </a:r>
            <a:endParaRPr sz="2600">
              <a:solidFill>
                <a:schemeClr val="lt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lang="en-GB" sz="2600">
                <a:solidFill>
                  <a:schemeClr val="lt1"/>
                </a:solidFill>
              </a:rPr>
              <a:t>GPU</a:t>
            </a:r>
            <a:endParaRPr sz="2600">
              <a:solidFill>
                <a:schemeClr val="lt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lang="en-GB" sz="2600">
                <a:solidFill>
                  <a:schemeClr val="lt1"/>
                </a:solidFill>
              </a:rPr>
              <a:t>TPU</a:t>
            </a:r>
            <a:endParaRPr sz="2600">
              <a:solidFill>
                <a:schemeClr val="lt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lang="en-GB" sz="2600">
                <a:solidFill>
                  <a:schemeClr val="lt1"/>
                </a:solidFill>
              </a:rPr>
              <a:t>FLOPs</a:t>
            </a:r>
            <a:endParaRPr sz="2600">
              <a:solidFill>
                <a:schemeClr val="lt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lang="en-GB" sz="2600">
                <a:solidFill>
                  <a:schemeClr val="lt1"/>
                </a:solidFill>
              </a:rPr>
              <a:t>Bandwidth</a:t>
            </a:r>
            <a:endParaRPr sz="2600">
              <a:solidFill>
                <a:schemeClr val="lt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lang="en-GB" sz="2600"/>
              <a:t>S</a:t>
            </a:r>
            <a:r>
              <a:rPr lang="en-GB" sz="2600">
                <a:solidFill>
                  <a:schemeClr val="lt1"/>
                </a:solidFill>
              </a:rPr>
              <a:t>caling</a:t>
            </a:r>
            <a:endParaRPr sz="2600">
              <a:solidFill>
                <a:schemeClr val="lt1"/>
              </a:solidFill>
            </a:endParaRPr>
          </a:p>
        </p:txBody>
      </p:sp>
      <p:sp>
        <p:nvSpPr>
          <p:cNvPr id="80" name="Google Shape;80;p15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1431517" y="1627521"/>
            <a:ext cx="5811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8000">
                <a:solidFill>
                  <a:schemeClr val="lt1"/>
                </a:solidFill>
              </a:rPr>
              <a:t>FLOP or FLOPS or FLOP/s???</a:t>
            </a:r>
            <a:endParaRPr sz="8000">
              <a:solidFill>
                <a:schemeClr val="lt1"/>
              </a:solidFill>
            </a:endParaRPr>
          </a:p>
        </p:txBody>
      </p:sp>
      <p:pic>
        <p:nvPicPr>
          <p:cNvPr id="86" name="Google Shape;86;p16" title="Flappy-Bird-PNG-Images-HD.png"/>
          <p:cNvPicPr preferRelativeResize="0"/>
          <p:nvPr/>
        </p:nvPicPr>
        <p:blipFill rotWithShape="1">
          <a:blip r:embed="rId3">
            <a:alphaModFix/>
          </a:blip>
          <a:srcRect b="34701" l="40685" r="36326" t="38704"/>
          <a:stretch/>
        </p:blipFill>
        <p:spPr>
          <a:xfrm rot="-1605371">
            <a:off x="643553" y="1097813"/>
            <a:ext cx="474595" cy="54902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/>
          <p:nvPr/>
        </p:nvSpPr>
        <p:spPr>
          <a:xfrm>
            <a:off x="752125" y="261300"/>
            <a:ext cx="1366500" cy="8352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9525">
            <a:solidFill>
              <a:srgbClr val="C9C9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flap?</a:t>
            </a:r>
            <a:endParaRPr b="1" sz="2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980000"/>
                </a:solidFill>
              </a:rPr>
              <a:t>FLOP</a:t>
            </a:r>
            <a:r>
              <a:rPr lang="en-GB" sz="3100"/>
              <a:t> </a:t>
            </a:r>
            <a:endParaRPr sz="3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100"/>
              <a:t>Floating Point OPeration</a:t>
            </a:r>
            <a:endParaRPr sz="3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980000"/>
                </a:solidFill>
              </a:rPr>
              <a:t>FLOPS, FLOP/s</a:t>
            </a:r>
            <a:endParaRPr sz="31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3100"/>
              <a:t>Floating Point Operations Per Second)</a:t>
            </a:r>
            <a:endParaRPr sz="3100"/>
          </a:p>
        </p:txBody>
      </p:sp>
      <p:sp>
        <p:nvSpPr>
          <p:cNvPr id="94" name="Google Shape;94;p17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2785525"/>
            <a:ext cx="15954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40"/>
              <a:t>What are current approaches to tracking compute?</a:t>
            </a:r>
            <a:endParaRPr sz="2040"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1848500" y="1266325"/>
            <a:ext cx="69837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8" title="ai-supercomputers-performance-tr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151" y="81272"/>
            <a:ext cx="7165276" cy="477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9" title="hbm-bandwidt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275" y="206117"/>
            <a:ext cx="7086275" cy="473124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2785525"/>
            <a:ext cx="15954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40"/>
              <a:t>What are current approaches to tracking compute?</a:t>
            </a:r>
            <a:endParaRPr sz="204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Power?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0150" y="1027838"/>
            <a:ext cx="6515776" cy="377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2679761" y="2395490"/>
            <a:ext cx="1213600" cy="852575"/>
          </a:xfrm>
          <a:custGeom>
            <a:rect b="b" l="l" r="r" t="t"/>
            <a:pathLst>
              <a:path extrusionOk="0" h="34103" w="48544">
                <a:moveTo>
                  <a:pt x="35557" y="3776"/>
                </a:moveTo>
                <a:cubicBezTo>
                  <a:pt x="27358" y="-909"/>
                  <a:pt x="15685" y="-1248"/>
                  <a:pt x="7240" y="2976"/>
                </a:cubicBezTo>
                <a:cubicBezTo>
                  <a:pt x="-85" y="6639"/>
                  <a:pt x="-2324" y="20713"/>
                  <a:pt x="2760" y="27134"/>
                </a:cubicBezTo>
                <a:cubicBezTo>
                  <a:pt x="11940" y="38729"/>
                  <a:pt x="38275" y="34816"/>
                  <a:pt x="46916" y="22814"/>
                </a:cubicBezTo>
                <a:cubicBezTo>
                  <a:pt x="49913" y="18652"/>
                  <a:pt x="48565" y="10764"/>
                  <a:pt x="44516" y="7616"/>
                </a:cubicBezTo>
                <a:cubicBezTo>
                  <a:pt x="40132" y="4208"/>
                  <a:pt x="34070" y="2976"/>
                  <a:pt x="28517" y="2976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8" name="Google Shape;118;p20"/>
          <p:cNvSpPr/>
          <p:nvPr/>
        </p:nvSpPr>
        <p:spPr>
          <a:xfrm>
            <a:off x="6851947" y="3335345"/>
            <a:ext cx="1447575" cy="923775"/>
          </a:xfrm>
          <a:custGeom>
            <a:rect b="b" l="l" r="r" t="t"/>
            <a:pathLst>
              <a:path extrusionOk="0" h="36951" w="57903">
                <a:moveTo>
                  <a:pt x="2576" y="23616"/>
                </a:moveTo>
                <a:cubicBezTo>
                  <a:pt x="1393" y="19476"/>
                  <a:pt x="1782" y="14285"/>
                  <a:pt x="4336" y="10818"/>
                </a:cubicBezTo>
                <a:cubicBezTo>
                  <a:pt x="9811" y="3387"/>
                  <a:pt x="20796" y="1564"/>
                  <a:pt x="29933" y="259"/>
                </a:cubicBezTo>
                <a:cubicBezTo>
                  <a:pt x="40275" y="-1218"/>
                  <a:pt x="59487" y="4352"/>
                  <a:pt x="57770" y="14657"/>
                </a:cubicBezTo>
                <a:cubicBezTo>
                  <a:pt x="54958" y="31531"/>
                  <a:pt x="28029" y="39408"/>
                  <a:pt x="11215" y="36255"/>
                </a:cubicBezTo>
                <a:cubicBezTo>
                  <a:pt x="8507" y="35747"/>
                  <a:pt x="5275" y="36005"/>
                  <a:pt x="3216" y="34175"/>
                </a:cubicBezTo>
                <a:cubicBezTo>
                  <a:pt x="-349" y="31006"/>
                  <a:pt x="-1086" y="23753"/>
                  <a:pt x="1776" y="19937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9" name="Google Shape;119;p20"/>
          <p:cNvSpPr txBox="1"/>
          <p:nvPr/>
        </p:nvSpPr>
        <p:spPr>
          <a:xfrm>
            <a:off x="4108628" y="2099399"/>
            <a:ext cx="7959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OpEx</a:t>
            </a:r>
            <a:endParaRPr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2785525"/>
            <a:ext cx="15954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40"/>
              <a:t>What are current approaches to tracking compute?</a:t>
            </a:r>
            <a:endParaRPr sz="2040"/>
          </a:p>
        </p:txBody>
      </p:sp>
      <p:cxnSp>
        <p:nvCxnSpPr>
          <p:cNvPr id="121" name="Google Shape;121;p20"/>
          <p:cNvCxnSpPr/>
          <p:nvPr/>
        </p:nvCxnSpPr>
        <p:spPr>
          <a:xfrm flipH="1" rot="10800000">
            <a:off x="3728625" y="2333975"/>
            <a:ext cx="456000" cy="195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try an analogy</a:t>
            </a:r>
            <a:endParaRPr/>
          </a:p>
        </p:txBody>
      </p:sp>
      <p:pic>
        <p:nvPicPr>
          <p:cNvPr id="127" name="Google Shape;127;p21" title="2.jpg"/>
          <p:cNvPicPr preferRelativeResize="0"/>
          <p:nvPr/>
        </p:nvPicPr>
        <p:blipFill rotWithShape="1">
          <a:blip r:embed="rId3">
            <a:alphaModFix/>
          </a:blip>
          <a:srcRect b="16344" l="0" r="0" t="32774"/>
          <a:stretch/>
        </p:blipFill>
        <p:spPr>
          <a:xfrm>
            <a:off x="4823475" y="2999257"/>
            <a:ext cx="4008826" cy="2039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 title="mibro-race-car-4416368_1920.jpg"/>
          <p:cNvPicPr preferRelativeResize="0"/>
          <p:nvPr/>
        </p:nvPicPr>
        <p:blipFill rotWithShape="1">
          <a:blip r:embed="rId4">
            <a:alphaModFix/>
          </a:blip>
          <a:srcRect b="21594" l="6722" r="8403" t="21594"/>
          <a:stretch/>
        </p:blipFill>
        <p:spPr>
          <a:xfrm>
            <a:off x="4823475" y="1181313"/>
            <a:ext cx="4008826" cy="17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 txBox="1"/>
          <p:nvPr>
            <p:ph type="title"/>
          </p:nvPr>
        </p:nvSpPr>
        <p:spPr>
          <a:xfrm>
            <a:off x="311700" y="1754475"/>
            <a:ext cx="4192500" cy="24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40"/>
              <a:t>What metrics do we use to measure car performance;</a:t>
            </a:r>
            <a:endParaRPr sz="2040"/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en-GB" sz="2040"/>
              <a:t>Top speed</a:t>
            </a:r>
            <a:endParaRPr sz="2040"/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en-GB" sz="2040"/>
              <a:t>Acceleration</a:t>
            </a:r>
            <a:endParaRPr sz="2040"/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en-GB" sz="2040"/>
              <a:t>Horsepower</a:t>
            </a:r>
            <a:endParaRPr sz="2040"/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en-GB" sz="2040"/>
              <a:t>CC</a:t>
            </a:r>
            <a:endParaRPr sz="2040"/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en-GB" sz="2040"/>
              <a:t>Cylinders</a:t>
            </a:r>
            <a:endParaRPr sz="204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8059" y="0"/>
            <a:ext cx="6935931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 title="2.jpg"/>
          <p:cNvPicPr preferRelativeResize="0"/>
          <p:nvPr/>
        </p:nvPicPr>
        <p:blipFill rotWithShape="1">
          <a:blip r:embed="rId4">
            <a:alphaModFix/>
          </a:blip>
          <a:srcRect b="16344" l="0" r="0" t="32774"/>
          <a:stretch/>
        </p:blipFill>
        <p:spPr>
          <a:xfrm>
            <a:off x="5692151" y="3296226"/>
            <a:ext cx="568399" cy="289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 title="mibro-race-car-4416368_1920.jpg"/>
          <p:cNvPicPr preferRelativeResize="0"/>
          <p:nvPr/>
        </p:nvPicPr>
        <p:blipFill rotWithShape="1">
          <a:blip r:embed="rId5">
            <a:alphaModFix/>
          </a:blip>
          <a:srcRect b="21594" l="6722" r="8403" t="21594"/>
          <a:stretch/>
        </p:blipFill>
        <p:spPr>
          <a:xfrm flipH="1" rot="-1691146">
            <a:off x="4867503" y="2235324"/>
            <a:ext cx="568400" cy="25366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1754475"/>
            <a:ext cx="1896300" cy="24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40"/>
              <a:t>Top speed?</a:t>
            </a:r>
            <a:endParaRPr sz="20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40"/>
              <a:t>At 6PM on a weekday, the achieved speed depends on which road a car is “deployed” on.</a:t>
            </a:r>
            <a:endParaRPr sz="204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" name="Google Shape;145;p23"/>
          <p:cNvCxnSpPr/>
          <p:nvPr/>
        </p:nvCxnSpPr>
        <p:spPr>
          <a:xfrm>
            <a:off x="2910750" y="1964300"/>
            <a:ext cx="14100" cy="204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6" name="Google Shape;146;p23"/>
          <p:cNvCxnSpPr/>
          <p:nvPr/>
        </p:nvCxnSpPr>
        <p:spPr>
          <a:xfrm>
            <a:off x="2924850" y="4004900"/>
            <a:ext cx="5115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23"/>
          <p:cNvSpPr txBox="1"/>
          <p:nvPr/>
        </p:nvSpPr>
        <p:spPr>
          <a:xfrm>
            <a:off x="2449500" y="1787125"/>
            <a:ext cx="6849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CC</a:t>
            </a:r>
            <a:endParaRPr b="1" sz="15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2526325" y="2827450"/>
            <a:ext cx="419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50</a:t>
            </a:r>
            <a:endParaRPr sz="9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2617225" y="3690500"/>
            <a:ext cx="2376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sz="9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0" name="Google Shape;150;p23" title="pexels-kiironoaki-2874444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8378" y="4258324"/>
            <a:ext cx="708152" cy="494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 title="pexels-david-viorel-1058126624-26957121.jpg"/>
          <p:cNvPicPr preferRelativeResize="0"/>
          <p:nvPr/>
        </p:nvPicPr>
        <p:blipFill rotWithShape="1">
          <a:blip r:embed="rId4">
            <a:alphaModFix/>
          </a:blip>
          <a:srcRect b="0" l="17459" r="7897" t="15376"/>
          <a:stretch/>
        </p:blipFill>
        <p:spPr>
          <a:xfrm>
            <a:off x="6155250" y="4060800"/>
            <a:ext cx="1234401" cy="934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3" title="pexels-kiironoaki-28744446.jpg"/>
          <p:cNvPicPr preferRelativeResize="0"/>
          <p:nvPr/>
        </p:nvPicPr>
        <p:blipFill rotWithShape="1">
          <a:blip r:embed="rId3">
            <a:alphaModFix/>
          </a:blip>
          <a:srcRect b="24198" l="28401" r="24833" t="29719"/>
          <a:stretch/>
        </p:blipFill>
        <p:spPr>
          <a:xfrm>
            <a:off x="3609600" y="4067444"/>
            <a:ext cx="1234401" cy="8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/>
          <p:nvPr/>
        </p:nvSpPr>
        <p:spPr>
          <a:xfrm>
            <a:off x="4108000" y="3086375"/>
            <a:ext cx="237600" cy="9348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6813450" y="4006998"/>
            <a:ext cx="166200" cy="141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23"/>
          <p:cNvSpPr txBox="1"/>
          <p:nvPr>
            <p:ph type="title"/>
          </p:nvPr>
        </p:nvSpPr>
        <p:spPr>
          <a:xfrm>
            <a:off x="311700" y="1754475"/>
            <a:ext cx="1896300" cy="24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40"/>
              <a:t>CC</a:t>
            </a:r>
            <a:r>
              <a:rPr lang="en-GB" sz="2040"/>
              <a:t>?</a:t>
            </a:r>
            <a:endParaRPr sz="20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40"/>
              <a:t>When architectures change, metrics break.</a:t>
            </a:r>
            <a:endParaRPr sz="204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7425" y="0"/>
            <a:ext cx="4866575" cy="504274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 txBox="1"/>
          <p:nvPr>
            <p:ph type="title"/>
          </p:nvPr>
        </p:nvSpPr>
        <p:spPr>
          <a:xfrm>
            <a:off x="311700" y="1754475"/>
            <a:ext cx="1896300" cy="24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40"/>
              <a:t>Paradigm shifts can go unnoticed under abstracted, uni-dimensional metrics</a:t>
            </a:r>
            <a:endParaRPr sz="204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100 = 62.137…</a:t>
            </a:r>
            <a:endParaRPr/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311700" y="2700775"/>
            <a:ext cx="2520300" cy="18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204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When primitives or </a:t>
            </a:r>
            <a:r>
              <a:rPr b="1" lang="en-GB" sz="204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bit widths</a:t>
            </a:r>
            <a:r>
              <a:rPr b="1" lang="en-GB" sz="204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differ across architectures, we are comparing apples to oranges</a:t>
            </a:r>
            <a:endParaRPr/>
          </a:p>
        </p:txBody>
      </p:sp>
      <p:pic>
        <p:nvPicPr>
          <p:cNvPr id="170" name="Google Shape;170;p25" title="spee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4999" y="193100"/>
            <a:ext cx="5829000" cy="4757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311700" y="1476900"/>
            <a:ext cx="8520600" cy="25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After that </a:t>
            </a:r>
            <a:r>
              <a:rPr lang="en-GB" sz="3100" u="sng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over the top</a:t>
            </a:r>
            <a:r>
              <a:rPr lang="en-GB" sz="31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analogy, </a:t>
            </a:r>
            <a:endParaRPr sz="3100">
              <a:solidFill>
                <a:srgbClr val="000000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31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let's</a:t>
            </a:r>
            <a:r>
              <a:rPr lang="en-GB" sz="31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get to actual compute</a:t>
            </a:r>
            <a:endParaRPr sz="3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3333"/>
              </a:lnSpc>
              <a:spcBef>
                <a:spcPts val="2800"/>
              </a:spcBef>
              <a:spcAft>
                <a:spcPts val="0"/>
              </a:spcAft>
              <a:buNone/>
            </a:pPr>
            <a:r>
              <a:rPr lang="en-GB"/>
              <a:t>Current modeling gives an incomplete and inaccurate picture of compute capability because;</a:t>
            </a:r>
            <a:endParaRPr b="0" sz="2750">
              <a:solidFill>
                <a:srgbClr val="000000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7"/>
          <p:cNvSpPr txBox="1"/>
          <p:nvPr>
            <p:ph idx="1" type="body"/>
          </p:nvPr>
        </p:nvSpPr>
        <p:spPr>
          <a:xfrm>
            <a:off x="311700" y="1609000"/>
            <a:ext cx="8520600" cy="29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05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Tracking peak metrics (like peak FLOP/s, maximum bandwidth) only tells us about a chip’s theoretical performance ceiling, not the deployed capability.</a:t>
            </a:r>
            <a:endParaRPr sz="2050">
              <a:solidFill>
                <a:srgbClr val="000000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05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As hardware architectures diversify and diverge from the GPU paradigm, the metrics we track are becoming inconsistent units of comparison across accelerators</a:t>
            </a:r>
            <a:endParaRPr sz="2050">
              <a:solidFill>
                <a:srgbClr val="000000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05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We are missing second-order effects from improvements in design and manufacturing processes </a:t>
            </a:r>
            <a:endParaRPr sz="2050">
              <a:solidFill>
                <a:srgbClr val="000000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Peak Metrics and </a:t>
            </a:r>
            <a:r>
              <a:rPr lang="en-GB"/>
              <a:t>Theoretical</a:t>
            </a:r>
            <a:r>
              <a:rPr lang="en-GB"/>
              <a:t> rooflines</a:t>
            </a:r>
            <a:endParaRPr/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311700" y="1152423"/>
            <a:ext cx="2906100" cy="37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1C1C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Rooflines are used to find the suitable hardware spec when architecting a hardware</a:t>
            </a:r>
            <a:endParaRPr sz="1900">
              <a:solidFill>
                <a:srgbClr val="1C1C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C1C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C1C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1C1C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Intensity = Data Moved (bytes)  / FLOPs.</a:t>
            </a:r>
            <a:endParaRPr sz="1900">
              <a:solidFill>
                <a:srgbClr val="1C1C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C1C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1C1C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OI is defined separately for an algorithm and every accelerator</a:t>
            </a:r>
            <a:endParaRPr sz="1900">
              <a:solidFill>
                <a:srgbClr val="1C1C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C1C1D"/>
              </a:solidFill>
              <a:highlight>
                <a:srgbClr val="1C1C1D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9" name="Google Shape;1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4475" y="1031000"/>
            <a:ext cx="5026774" cy="39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40"/>
              <a:t>Large g</a:t>
            </a:r>
            <a:r>
              <a:rPr lang="en-GB" sz="3140"/>
              <a:t>ap between theoretical and achieved performance</a:t>
            </a:r>
            <a:endParaRPr sz="3140"/>
          </a:p>
        </p:txBody>
      </p:sp>
      <p:sp>
        <p:nvSpPr>
          <p:cNvPr id="195" name="Google Shape;195;p2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65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Model FLOP Utilization (MFU), which measures the fraction of a chip's peak FLOP/s that is actually used, </a:t>
            </a:r>
            <a:r>
              <a:rPr lang="en-GB" sz="265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Georgia"/>
                <a:ea typeface="Georgia"/>
                <a:cs typeface="Georgia"/>
                <a:sym typeface="Georgia"/>
                <a:hlinkClick r:id="rId3"/>
              </a:rPr>
              <a:t>typically ranges from 35–50% for well-optimized workloads</a:t>
            </a:r>
            <a:r>
              <a:rPr lang="en-GB" sz="265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, and can be as low as </a:t>
            </a:r>
            <a:r>
              <a:rPr lang="en-GB" sz="265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Georgia"/>
                <a:ea typeface="Georgia"/>
                <a:cs typeface="Georgia"/>
                <a:sym typeface="Georgia"/>
                <a:hlinkClick r:id="rId4"/>
              </a:rPr>
              <a:t>10–20% for less-optimized workloads</a:t>
            </a:r>
            <a:r>
              <a:rPr lang="en-GB" sz="265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. Utilization can vary based on deployment setup like batching, parallelism, scale-out infrastructure etc.</a:t>
            </a:r>
            <a:endParaRPr sz="3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changes significance of metrics</a:t>
            </a:r>
            <a:endParaRPr/>
          </a:p>
        </p:txBody>
      </p:sp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311700" y="1266325"/>
            <a:ext cx="18138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HBM bandwidth is a </a:t>
            </a:r>
            <a:r>
              <a:rPr lang="en-GB"/>
              <a:t>defining</a:t>
            </a:r>
            <a:r>
              <a:rPr lang="en-GB"/>
              <a:t> feature of AI accelerators</a:t>
            </a:r>
            <a:endParaRPr/>
          </a:p>
        </p:txBody>
      </p:sp>
      <p:pic>
        <p:nvPicPr>
          <p:cNvPr id="202" name="Google Shape;202;p30" title="b39d7d10-8169-4ce5-99ab-4c35de4e78d2_1536x78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4175" y="1266325"/>
            <a:ext cx="6783375" cy="34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just HBM</a:t>
            </a:r>
            <a:endParaRPr/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311700" y="1266325"/>
            <a:ext cx="2856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u="sng">
                <a:solidFill>
                  <a:schemeClr val="hlink"/>
                </a:solidFill>
                <a:hlinkClick r:id="rId3"/>
              </a:rPr>
              <a:t>GROQ LPU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HBM bandwidth = 0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SRAM bandwidth = 150 TBs/s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u="sng">
                <a:solidFill>
                  <a:schemeClr val="hlink"/>
                </a:solidFill>
                <a:hlinkClick r:id="rId4"/>
              </a:rPr>
              <a:t>Cerebras WSE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HBM bandwidth = 0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SRAM bandwidth = 21 PB/s</a:t>
            </a:r>
            <a:endParaRPr/>
          </a:p>
        </p:txBody>
      </p:sp>
      <p:pic>
        <p:nvPicPr>
          <p:cNvPr id="209" name="Google Shape;20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7025" y="1742175"/>
            <a:ext cx="2454725" cy="24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1" title="2d57cc43-7446-49fa-a0a5-b2d79cf5dacf_1200x742.jpg"/>
          <p:cNvPicPr preferRelativeResize="0"/>
          <p:nvPr/>
        </p:nvPicPr>
        <p:blipFill rotWithShape="1">
          <a:blip r:embed="rId6">
            <a:alphaModFix/>
          </a:blip>
          <a:srcRect b="0" l="0" r="34747" t="0"/>
          <a:stretch/>
        </p:blipFill>
        <p:spPr>
          <a:xfrm>
            <a:off x="3223672" y="1385125"/>
            <a:ext cx="2974278" cy="281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 efficiency prediction models may break</a:t>
            </a:r>
            <a:endParaRPr/>
          </a:p>
        </p:txBody>
      </p:sp>
      <p:sp>
        <p:nvSpPr>
          <p:cNvPr id="216" name="Google Shape;216;p32"/>
          <p:cNvSpPr txBox="1"/>
          <p:nvPr>
            <p:ph idx="1" type="body"/>
          </p:nvPr>
        </p:nvSpPr>
        <p:spPr>
          <a:xfrm>
            <a:off x="311700" y="1266325"/>
            <a:ext cx="79845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Current models assume 25% power efficiency gain by 2027, however, future power requirements could be offset dramatically by factors like Memory centric compute, 3D stacking, Low bit-width models, space deployed data centres.</a:t>
            </a:r>
            <a:endParaRPr/>
          </a:p>
        </p:txBody>
      </p:sp>
      <p:pic>
        <p:nvPicPr>
          <p:cNvPr id="217" name="Google Shape;217;p32" title="techno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0933" y="2726325"/>
            <a:ext cx="2721644" cy="18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750" y="2790475"/>
            <a:ext cx="3348150" cy="183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2"/>
          <p:cNvSpPr txBox="1"/>
          <p:nvPr/>
        </p:nvSpPr>
        <p:spPr>
          <a:xfrm>
            <a:off x="1755125" y="4721925"/>
            <a:ext cx="1168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5"/>
              </a:rPr>
              <a:t>d-matrix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0" name="Google Shape;220;p32"/>
          <p:cNvSpPr txBox="1"/>
          <p:nvPr/>
        </p:nvSpPr>
        <p:spPr>
          <a:xfrm>
            <a:off x="5938675" y="4724613"/>
            <a:ext cx="19956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6"/>
              </a:rPr>
              <a:t>Vertical compute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Meaning of a FLOP can change</a:t>
            </a:r>
            <a:endParaRPr/>
          </a:p>
        </p:txBody>
      </p:sp>
      <p:sp>
        <p:nvSpPr>
          <p:cNvPr id="226" name="Google Shape;226;p3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425" y="1266322"/>
            <a:ext cx="7011150" cy="200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3"/>
          <p:cNvSpPr/>
          <p:nvPr/>
        </p:nvSpPr>
        <p:spPr>
          <a:xfrm>
            <a:off x="1241975" y="3788275"/>
            <a:ext cx="819600" cy="848100"/>
          </a:xfrm>
          <a:prstGeom prst="flowChartSummingJunction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9" name="Google Shape;229;p33"/>
          <p:cNvCxnSpPr>
            <a:endCxn id="228" idx="1"/>
          </p:cNvCxnSpPr>
          <p:nvPr/>
        </p:nvCxnSpPr>
        <p:spPr>
          <a:xfrm>
            <a:off x="871503" y="3638576"/>
            <a:ext cx="490500" cy="27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33"/>
          <p:cNvCxnSpPr>
            <a:endCxn id="228" idx="3"/>
          </p:cNvCxnSpPr>
          <p:nvPr/>
        </p:nvCxnSpPr>
        <p:spPr>
          <a:xfrm flipH="1" rot="10800000">
            <a:off x="857103" y="4512174"/>
            <a:ext cx="504900" cy="2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33"/>
          <p:cNvCxnSpPr>
            <a:stCxn id="228" idx="6"/>
          </p:cNvCxnSpPr>
          <p:nvPr/>
        </p:nvCxnSpPr>
        <p:spPr>
          <a:xfrm>
            <a:off x="2061575" y="4212325"/>
            <a:ext cx="434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p33"/>
          <p:cNvSpPr txBox="1"/>
          <p:nvPr/>
        </p:nvSpPr>
        <p:spPr>
          <a:xfrm>
            <a:off x="532000" y="3382725"/>
            <a:ext cx="601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input</a:t>
            </a:r>
            <a:endParaRPr sz="10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532000" y="4682925"/>
            <a:ext cx="601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weight</a:t>
            </a:r>
            <a:endParaRPr sz="10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2496275" y="4091125"/>
            <a:ext cx="601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output</a:t>
            </a:r>
            <a:endParaRPr sz="10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33"/>
          <p:cNvSpPr/>
          <p:nvPr/>
        </p:nvSpPr>
        <p:spPr>
          <a:xfrm>
            <a:off x="5820275" y="3755375"/>
            <a:ext cx="819600" cy="848100"/>
          </a:xfrm>
          <a:prstGeom prst="flowChartSummingJunction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6" name="Google Shape;236;p33"/>
          <p:cNvCxnSpPr>
            <a:endCxn id="235" idx="1"/>
          </p:cNvCxnSpPr>
          <p:nvPr/>
        </p:nvCxnSpPr>
        <p:spPr>
          <a:xfrm>
            <a:off x="5449803" y="3605676"/>
            <a:ext cx="490500" cy="27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33"/>
          <p:cNvCxnSpPr>
            <a:stCxn id="235" idx="6"/>
          </p:cNvCxnSpPr>
          <p:nvPr/>
        </p:nvCxnSpPr>
        <p:spPr>
          <a:xfrm>
            <a:off x="6639875" y="4179425"/>
            <a:ext cx="434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p33"/>
          <p:cNvSpPr txBox="1"/>
          <p:nvPr/>
        </p:nvSpPr>
        <p:spPr>
          <a:xfrm>
            <a:off x="5110300" y="3349825"/>
            <a:ext cx="601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input</a:t>
            </a:r>
            <a:endParaRPr sz="10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33"/>
          <p:cNvSpPr txBox="1"/>
          <p:nvPr/>
        </p:nvSpPr>
        <p:spPr>
          <a:xfrm>
            <a:off x="5936602" y="4293458"/>
            <a:ext cx="601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weight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p33"/>
          <p:cNvSpPr txBox="1"/>
          <p:nvPr/>
        </p:nvSpPr>
        <p:spPr>
          <a:xfrm>
            <a:off x="7074575" y="4058225"/>
            <a:ext cx="601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output</a:t>
            </a:r>
            <a:endParaRPr sz="10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33"/>
          <p:cNvSpPr txBox="1"/>
          <p:nvPr/>
        </p:nvSpPr>
        <p:spPr>
          <a:xfrm>
            <a:off x="6793950" y="4679150"/>
            <a:ext cx="1653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Taalas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4"/>
          <p:cNvSpPr txBox="1"/>
          <p:nvPr>
            <p:ph idx="1" type="body"/>
          </p:nvPr>
        </p:nvSpPr>
        <p:spPr>
          <a:xfrm>
            <a:off x="311700" y="1928125"/>
            <a:ext cx="8520600" cy="10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1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How can we bridge these gaps?</a:t>
            </a:r>
            <a:r>
              <a:rPr lang="en-GB" sz="3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more accurate way to think about hardware advancement</a:t>
            </a:r>
            <a:endParaRPr/>
          </a:p>
        </p:txBody>
      </p:sp>
      <p:sp>
        <p:nvSpPr>
          <p:cNvPr id="253" name="Google Shape;253;p35"/>
          <p:cNvSpPr txBox="1"/>
          <p:nvPr>
            <p:ph idx="1" type="body"/>
          </p:nvPr>
        </p:nvSpPr>
        <p:spPr>
          <a:xfrm>
            <a:off x="311700" y="1484575"/>
            <a:ext cx="85206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44444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AutoNum type="arabicPeriod"/>
            </a:pP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The </a:t>
            </a:r>
            <a:r>
              <a:rPr b="1" lang="en-GB" sz="20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chip architecture design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(computing paradigm, memory architecture, numerical format, compute primitives).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AutoNum type="arabicPeriod"/>
            </a:pP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The </a:t>
            </a:r>
            <a:r>
              <a:rPr b="1" lang="en-GB" sz="20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design and manufacturing processes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(integration of AI into hardware design flows, HW/SW co-design, manufacturing advancements).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AutoNum type="arabicPeriod"/>
            </a:pP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The </a:t>
            </a:r>
            <a:r>
              <a:rPr b="1" lang="en-GB" sz="20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deployment of the chip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(inference stack, kernels, scale-out infrastructure, utilization, tokenomics, etc).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9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6"/>
          <p:cNvSpPr txBox="1"/>
          <p:nvPr>
            <p:ph idx="1" type="body"/>
          </p:nvPr>
        </p:nvSpPr>
        <p:spPr>
          <a:xfrm>
            <a:off x="311700" y="1476900"/>
            <a:ext cx="8520600" cy="25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Questions, Comments, </a:t>
            </a:r>
            <a:endParaRPr sz="4600">
              <a:solidFill>
                <a:srgbClr val="000000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46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Suggestions, Discussions</a:t>
            </a:r>
            <a:endParaRPr sz="4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