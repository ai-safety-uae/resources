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9" r:id="rId3"/>
    <p:sldId id="260" r:id="rId4"/>
    <p:sldId id="261" r:id="rId5"/>
    <p:sldId id="280" r:id="rId6"/>
    <p:sldId id="281" r:id="rId7"/>
    <p:sldId id="282" r:id="rId8"/>
    <p:sldId id="263" r:id="rId9"/>
    <p:sldId id="265" r:id="rId10"/>
    <p:sldId id="271" r:id="rId11"/>
    <p:sldId id="267" r:id="rId12"/>
    <p:sldId id="269" r:id="rId13"/>
    <p:sldId id="272" r:id="rId14"/>
    <p:sldId id="275" r:id="rId15"/>
    <p:sldId id="276" r:id="rId16"/>
    <p:sldId id="27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69" d="100"/>
          <a:sy n="169" d="100"/>
        </p:scale>
        <p:origin x="19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5455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6344" y="156496"/>
            <a:ext cx="6857524" cy="432875"/>
          </a:xfrm>
          <a:prstGeom prst="rect">
            <a:avLst/>
          </a:prstGeom>
        </p:spPr>
        <p:txBody>
          <a:bodyPr wrap="square" lIns="0" tIns="0" rIns="0" bIns="0">
            <a:spAutoFit/>
          </a:bodyPr>
          <a:lstStyle>
            <a:lvl1pPr>
              <a:defRPr sz="2813" b="0" i="0">
                <a:solidFill>
                  <a:schemeClr val="bg1"/>
                </a:solidFill>
                <a:latin typeface="Calibri Light"/>
                <a:cs typeface="Calibri Light"/>
              </a:defRPr>
            </a:lvl1pPr>
          </a:lstStyle>
          <a:p>
            <a:endParaRPr/>
          </a:p>
        </p:txBody>
      </p:sp>
      <p:sp>
        <p:nvSpPr>
          <p:cNvPr id="3" name="Holder 3"/>
          <p:cNvSpPr>
            <a:spLocks noGrp="1"/>
          </p:cNvSpPr>
          <p:nvPr>
            <p:ph type="subTitle" idx="4"/>
          </p:nvPr>
        </p:nvSpPr>
        <p:spPr>
          <a:xfrm>
            <a:off x="1371600" y="2880360"/>
            <a:ext cx="6400800" cy="213585"/>
          </a:xfrm>
          <a:prstGeom prst="rect">
            <a:avLst/>
          </a:prstGeom>
        </p:spPr>
        <p:txBody>
          <a:bodyPr wrap="square" lIns="0" tIns="0" rIns="0" bIns="0">
            <a:spAutoFit/>
          </a:bodyPr>
          <a:lstStyle>
            <a:lvl1pPr>
              <a:defRPr sz="1388"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4/19/26</a:t>
            </a:fld>
            <a:endParaRPr lang="en-US"/>
          </a:p>
        </p:txBody>
      </p:sp>
      <p:sp>
        <p:nvSpPr>
          <p:cNvPr id="6" name="Holder 6"/>
          <p:cNvSpPr>
            <a:spLocks noGrp="1"/>
          </p:cNvSpPr>
          <p:nvPr>
            <p:ph type="sldNum" sz="quarter" idx="7"/>
          </p:nvPr>
        </p:nvSpPr>
        <p:spPr/>
        <p:txBody>
          <a:bodyPr lIns="0" tIns="0" rIns="0" bIns="0"/>
          <a:lstStyle>
            <a:lvl1pPr>
              <a:defRPr sz="900" b="1" i="0">
                <a:solidFill>
                  <a:schemeClr val="bg1"/>
                </a:solidFill>
                <a:latin typeface="Tahoma"/>
                <a:cs typeface="Tahoma"/>
              </a:defRPr>
            </a:lvl1pPr>
          </a:lstStyle>
          <a:p>
            <a:pPr marL="45720">
              <a:spcBef>
                <a:spcPts val="94"/>
              </a:spcBef>
            </a:pPr>
            <a:fld id="{81D60167-4931-47E6-BA6A-407CBD079E47}" type="slidenum">
              <a:rPr lang="en-US" spc="-38" smtClean="0"/>
              <a:pPr marL="45720">
                <a:spcBef>
                  <a:spcPts val="94"/>
                </a:spcBef>
              </a:pPr>
              <a:t>‹#›</a:t>
            </a:fld>
            <a:endParaRPr lang="en-US" spc="-38" dirty="0"/>
          </a:p>
        </p:txBody>
      </p:sp>
    </p:spTree>
    <p:extLst>
      <p:ext uri="{BB962C8B-B14F-4D97-AF65-F5344CB8AC3E}">
        <p14:creationId xmlns:p14="http://schemas.microsoft.com/office/powerpoint/2010/main" val="2952138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13" b="0" i="0">
                <a:solidFill>
                  <a:schemeClr val="bg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1388"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4/19/26</a:t>
            </a:fld>
            <a:endParaRPr lang="en-US"/>
          </a:p>
        </p:txBody>
      </p:sp>
      <p:sp>
        <p:nvSpPr>
          <p:cNvPr id="6" name="Holder 6"/>
          <p:cNvSpPr>
            <a:spLocks noGrp="1"/>
          </p:cNvSpPr>
          <p:nvPr>
            <p:ph type="sldNum" sz="quarter" idx="7"/>
          </p:nvPr>
        </p:nvSpPr>
        <p:spPr/>
        <p:txBody>
          <a:bodyPr lIns="0" tIns="0" rIns="0" bIns="0"/>
          <a:lstStyle>
            <a:lvl1pPr>
              <a:defRPr sz="900" b="1" i="0">
                <a:solidFill>
                  <a:schemeClr val="bg1"/>
                </a:solidFill>
                <a:latin typeface="Tahoma"/>
                <a:cs typeface="Tahoma"/>
              </a:defRPr>
            </a:lvl1pPr>
          </a:lstStyle>
          <a:p>
            <a:pPr marL="45720">
              <a:spcBef>
                <a:spcPts val="94"/>
              </a:spcBef>
            </a:pPr>
            <a:fld id="{81D60167-4931-47E6-BA6A-407CBD079E47}" type="slidenum">
              <a:rPr lang="en-US" spc="-38" smtClean="0"/>
              <a:pPr marL="45720">
                <a:spcBef>
                  <a:spcPts val="94"/>
                </a:spcBef>
              </a:pPr>
              <a:t>‹#›</a:t>
            </a:fld>
            <a:endParaRPr lang="en-US" spc="-38" dirty="0"/>
          </a:p>
        </p:txBody>
      </p:sp>
    </p:spTree>
    <p:extLst>
      <p:ext uri="{BB962C8B-B14F-4D97-AF65-F5344CB8AC3E}">
        <p14:creationId xmlns:p14="http://schemas.microsoft.com/office/powerpoint/2010/main" val="19229377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video" Target="https://www.youtube.com/embed/u4ydH-QvPeg?feature=oembed" TargetMode="External"/><Relationship Id="rId5" Type="http://schemas.openxmlformats.org/officeDocument/2006/relationships/image" Target="../media/image3.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3" name="Shape 0"/>
          <p:cNvSpPr/>
          <p:nvPr/>
        </p:nvSpPr>
        <p:spPr>
          <a:xfrm flipH="1">
            <a:off x="6217920" y="3291840"/>
            <a:ext cx="2926080" cy="1828800"/>
          </a:xfrm>
          <a:prstGeom prst="rtTriangle">
            <a:avLst/>
          </a:prstGeom>
          <a:solidFill>
            <a:srgbClr val="EAE0CE"/>
          </a:solidFill>
          <a:ln w="12700">
            <a:solidFill>
              <a:srgbClr val="EAE0CE"/>
            </a:solidFill>
            <a:prstDash val="solid"/>
          </a:ln>
        </p:spPr>
        <p:txBody>
          <a:bodyPr/>
          <a:lstStyle/>
          <a:p>
            <a:endParaRPr lang="en-US"/>
          </a:p>
        </p:txBody>
      </p:sp>
      <p:sp>
        <p:nvSpPr>
          <p:cNvPr id="5" name="Text 2"/>
          <p:cNvSpPr/>
          <p:nvPr/>
        </p:nvSpPr>
        <p:spPr>
          <a:xfrm>
            <a:off x="457200" y="1783080"/>
            <a:ext cx="7315200" cy="777240"/>
          </a:xfrm>
          <a:prstGeom prst="rect">
            <a:avLst/>
          </a:prstGeom>
          <a:noFill/>
          <a:ln/>
        </p:spPr>
        <p:txBody>
          <a:bodyPr wrap="square" lIns="0" tIns="0" rIns="0" bIns="0" rtlCol="0" anchor="ctr"/>
          <a:lstStyle/>
          <a:p>
            <a:pPr marL="0" indent="0">
              <a:buNone/>
            </a:pPr>
            <a:r>
              <a:rPr lang="en-US" sz="5400" b="1" dirty="0">
                <a:solidFill>
                  <a:srgbClr val="1A1A1A"/>
                </a:solidFill>
                <a:latin typeface="Calibri" pitchFamily="34" charset="0"/>
                <a:ea typeface="Calibri" pitchFamily="34" charset="-122"/>
                <a:cs typeface="Calibri" pitchFamily="34" charset="-120"/>
              </a:rPr>
              <a:t>Open Claw</a:t>
            </a:r>
            <a:endParaRPr lang="en-US" sz="5400" dirty="0"/>
          </a:p>
        </p:txBody>
      </p:sp>
      <p:sp>
        <p:nvSpPr>
          <p:cNvPr id="6" name="Text 3"/>
          <p:cNvSpPr/>
          <p:nvPr/>
        </p:nvSpPr>
        <p:spPr>
          <a:xfrm>
            <a:off x="457200" y="2468880"/>
            <a:ext cx="7315200" cy="777240"/>
          </a:xfrm>
          <a:prstGeom prst="rect">
            <a:avLst/>
          </a:prstGeom>
          <a:noFill/>
          <a:ln/>
        </p:spPr>
        <p:txBody>
          <a:bodyPr wrap="square" lIns="0" tIns="0" rIns="0" bIns="0" rtlCol="0" anchor="ctr"/>
          <a:lstStyle/>
          <a:p>
            <a:pPr marL="0" indent="0">
              <a:buNone/>
            </a:pPr>
            <a:r>
              <a:rPr lang="en-US" sz="5400" b="1" dirty="0">
                <a:solidFill>
                  <a:srgbClr val="8B1A1A"/>
                </a:solidFill>
                <a:latin typeface="Calibri" pitchFamily="34" charset="0"/>
                <a:ea typeface="Calibri" pitchFamily="34" charset="-122"/>
                <a:cs typeface="Calibri" pitchFamily="34" charset="-120"/>
              </a:rPr>
              <a:t>Security Session</a:t>
            </a:r>
            <a:endParaRPr lang="en-US" sz="5400" dirty="0"/>
          </a:p>
        </p:txBody>
      </p:sp>
      <p:sp>
        <p:nvSpPr>
          <p:cNvPr id="7" name="Shape 4"/>
          <p:cNvSpPr/>
          <p:nvPr/>
        </p:nvSpPr>
        <p:spPr>
          <a:xfrm>
            <a:off x="457200" y="3383280"/>
            <a:ext cx="914400" cy="0"/>
          </a:xfrm>
          <a:prstGeom prst="line">
            <a:avLst/>
          </a:prstGeom>
          <a:noFill/>
          <a:ln w="25400">
            <a:solidFill>
              <a:srgbClr val="C9A961"/>
            </a:solidFill>
            <a:prstDash val="solid"/>
          </a:ln>
        </p:spPr>
        <p:txBody>
          <a:bodyPr/>
          <a:lstStyle/>
          <a:p>
            <a:endParaRPr lang="en-US"/>
          </a:p>
        </p:txBody>
      </p:sp>
      <p:sp>
        <p:nvSpPr>
          <p:cNvPr id="8" name="Text 5"/>
          <p:cNvSpPr/>
          <p:nvPr/>
        </p:nvSpPr>
        <p:spPr>
          <a:xfrm>
            <a:off x="457200" y="3520440"/>
            <a:ext cx="6400800" cy="365760"/>
          </a:xfrm>
          <a:prstGeom prst="rect">
            <a:avLst/>
          </a:prstGeom>
          <a:noFill/>
          <a:ln/>
        </p:spPr>
        <p:txBody>
          <a:bodyPr wrap="square" lIns="0" tIns="0" rIns="0" bIns="0" rtlCol="0" anchor="ctr"/>
          <a:lstStyle/>
          <a:p>
            <a:pPr marL="0" indent="0">
              <a:buNone/>
            </a:pPr>
            <a:r>
              <a:rPr lang="en-US" sz="1600" dirty="0">
                <a:solidFill>
                  <a:srgbClr val="2D2D2D"/>
                </a:solidFill>
                <a:latin typeface="Calibri" pitchFamily="34" charset="0"/>
                <a:ea typeface="Calibri" pitchFamily="34" charset="-122"/>
                <a:cs typeface="Calibri" pitchFamily="34" charset="-120"/>
              </a:rPr>
              <a:t>Risks, Vulnerabilities &amp; Defensive Architecture</a:t>
            </a:r>
            <a:endParaRPr lang="en-US" sz="1600" dirty="0"/>
          </a:p>
        </p:txBody>
      </p:sp>
      <p:sp>
        <p:nvSpPr>
          <p:cNvPr id="9" name="Text 6"/>
          <p:cNvSpPr/>
          <p:nvPr/>
        </p:nvSpPr>
        <p:spPr>
          <a:xfrm>
            <a:off x="457200" y="4179186"/>
            <a:ext cx="1828800" cy="201168"/>
          </a:xfrm>
          <a:prstGeom prst="rect">
            <a:avLst/>
          </a:prstGeom>
          <a:noFill/>
          <a:ln/>
        </p:spPr>
        <p:txBody>
          <a:bodyPr wrap="square" lIns="0" tIns="0" rIns="0" bIns="0" rtlCol="0" anchor="ctr"/>
          <a:lstStyle/>
          <a:p>
            <a:pPr marL="0" indent="0">
              <a:buNone/>
            </a:pPr>
            <a:r>
              <a:rPr lang="en-US" sz="800" b="1" kern="0" spc="400" dirty="0">
                <a:solidFill>
                  <a:srgbClr val="C9A961"/>
                </a:solidFill>
                <a:latin typeface="Calibri" pitchFamily="34" charset="0"/>
                <a:ea typeface="Calibri" pitchFamily="34" charset="-122"/>
                <a:cs typeface="Calibri" pitchFamily="34" charset="-120"/>
              </a:rPr>
              <a:t>PRESENTED BY</a:t>
            </a:r>
            <a:endParaRPr lang="en-US" sz="800" dirty="0"/>
          </a:p>
        </p:txBody>
      </p:sp>
      <p:sp>
        <p:nvSpPr>
          <p:cNvPr id="10" name="Text 7"/>
          <p:cNvSpPr/>
          <p:nvPr/>
        </p:nvSpPr>
        <p:spPr>
          <a:xfrm>
            <a:off x="457200" y="4408513"/>
            <a:ext cx="2743200" cy="22860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Swaleha Parveen</a:t>
            </a:r>
            <a:endParaRPr lang="en-US" sz="1100" dirty="0"/>
          </a:p>
        </p:txBody>
      </p:sp>
      <p:sp>
        <p:nvSpPr>
          <p:cNvPr id="12" name="Text 9"/>
          <p:cNvSpPr/>
          <p:nvPr/>
        </p:nvSpPr>
        <p:spPr>
          <a:xfrm>
            <a:off x="7315200" y="4782312"/>
            <a:ext cx="1371600" cy="228600"/>
          </a:xfrm>
          <a:prstGeom prst="rect">
            <a:avLst/>
          </a:prstGeom>
          <a:noFill/>
          <a:ln/>
        </p:spPr>
        <p:txBody>
          <a:bodyPr wrap="square" lIns="0" tIns="0" rIns="0" bIns="0" rtlCol="0" anchor="ctr"/>
          <a:lstStyle/>
          <a:p>
            <a:pPr marL="0" indent="0" algn="r">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03432" y="234662"/>
            <a:ext cx="7799836" cy="382316"/>
          </a:xfrm>
          <a:prstGeom prst="rect">
            <a:avLst/>
          </a:prstGeom>
        </p:spPr>
        <p:txBody>
          <a:bodyPr vert="horz" wrap="square" lIns="0" tIns="12859" rIns="0" bIns="0" rtlCol="0">
            <a:spAutoFit/>
          </a:bodyPr>
          <a:lstStyle/>
          <a:p>
            <a:pPr marL="9525">
              <a:spcBef>
                <a:spcPts val="101"/>
              </a:spcBef>
            </a:pPr>
            <a:r>
              <a:rPr sz="2400" b="1" spc="56" dirty="0">
                <a:solidFill>
                  <a:schemeClr val="tx1"/>
                </a:solidFill>
                <a:latin typeface="+mn-lt"/>
                <a:cs typeface="Trebuchet MS"/>
              </a:rPr>
              <a:t>OpenClaw:The</a:t>
            </a:r>
            <a:r>
              <a:rPr sz="2400" b="1" spc="-11" dirty="0">
                <a:solidFill>
                  <a:schemeClr val="tx1"/>
                </a:solidFill>
                <a:latin typeface="+mn-lt"/>
                <a:cs typeface="Trebuchet MS"/>
              </a:rPr>
              <a:t> </a:t>
            </a:r>
            <a:r>
              <a:rPr sz="2400" b="1" dirty="0">
                <a:solidFill>
                  <a:schemeClr val="tx1"/>
                </a:solidFill>
                <a:latin typeface="+mn-lt"/>
                <a:cs typeface="Trebuchet MS"/>
              </a:rPr>
              <a:t>Fastest</a:t>
            </a:r>
            <a:r>
              <a:rPr sz="2400" b="1" spc="-15" dirty="0">
                <a:solidFill>
                  <a:schemeClr val="tx1"/>
                </a:solidFill>
                <a:latin typeface="+mn-lt"/>
                <a:cs typeface="Trebuchet MS"/>
              </a:rPr>
              <a:t> </a:t>
            </a:r>
            <a:r>
              <a:rPr sz="2400" b="1" spc="49" dirty="0">
                <a:solidFill>
                  <a:schemeClr val="tx1"/>
                </a:solidFill>
                <a:latin typeface="+mn-lt"/>
                <a:cs typeface="Trebuchet MS"/>
              </a:rPr>
              <a:t>Growing</a:t>
            </a:r>
            <a:r>
              <a:rPr sz="2400" b="1" spc="-34" dirty="0">
                <a:solidFill>
                  <a:schemeClr val="tx1"/>
                </a:solidFill>
                <a:latin typeface="+mn-lt"/>
                <a:cs typeface="Trebuchet MS"/>
              </a:rPr>
              <a:t> </a:t>
            </a:r>
            <a:r>
              <a:rPr sz="2400" b="1" spc="105" dirty="0">
                <a:solidFill>
                  <a:schemeClr val="tx1"/>
                </a:solidFill>
                <a:latin typeface="+mn-lt"/>
                <a:cs typeface="Trebuchet MS"/>
              </a:rPr>
              <a:t>GitHub</a:t>
            </a:r>
            <a:r>
              <a:rPr sz="2400" b="1" spc="-19" dirty="0">
                <a:solidFill>
                  <a:schemeClr val="tx1"/>
                </a:solidFill>
                <a:latin typeface="+mn-lt"/>
                <a:cs typeface="Trebuchet MS"/>
              </a:rPr>
              <a:t> </a:t>
            </a:r>
            <a:r>
              <a:rPr sz="2400" b="1" dirty="0">
                <a:solidFill>
                  <a:schemeClr val="tx1"/>
                </a:solidFill>
                <a:latin typeface="+mn-lt"/>
                <a:cs typeface="Trebuchet MS"/>
              </a:rPr>
              <a:t>Project</a:t>
            </a:r>
            <a:r>
              <a:rPr sz="2400" b="1" spc="23" dirty="0">
                <a:solidFill>
                  <a:schemeClr val="tx1"/>
                </a:solidFill>
                <a:latin typeface="+mn-lt"/>
                <a:cs typeface="Trebuchet MS"/>
              </a:rPr>
              <a:t> </a:t>
            </a:r>
            <a:r>
              <a:rPr sz="2400" b="1" spc="-15" dirty="0">
                <a:solidFill>
                  <a:schemeClr val="tx1"/>
                </a:solidFill>
                <a:latin typeface="+mn-lt"/>
                <a:cs typeface="Trebuchet MS"/>
              </a:rPr>
              <a:t>Ever</a:t>
            </a:r>
            <a:endParaRPr sz="2400" dirty="0">
              <a:solidFill>
                <a:schemeClr val="tx1"/>
              </a:solidFill>
              <a:latin typeface="+mn-lt"/>
              <a:cs typeface="Trebuchet MS"/>
            </a:endParaRPr>
          </a:p>
        </p:txBody>
      </p:sp>
      <p:pic>
        <p:nvPicPr>
          <p:cNvPr id="4" name="object 4"/>
          <p:cNvPicPr/>
          <p:nvPr/>
        </p:nvPicPr>
        <p:blipFill>
          <a:blip r:embed="rId2" cstate="print"/>
          <a:stretch>
            <a:fillRect/>
          </a:stretch>
        </p:blipFill>
        <p:spPr>
          <a:xfrm>
            <a:off x="391222" y="929099"/>
            <a:ext cx="5204983" cy="3765355"/>
          </a:xfrm>
          <a:prstGeom prst="rect">
            <a:avLst/>
          </a:prstGeom>
        </p:spPr>
      </p:pic>
      <p:sp>
        <p:nvSpPr>
          <p:cNvPr id="7" name="object 7"/>
          <p:cNvSpPr txBox="1">
            <a:spLocks noGrp="1"/>
          </p:cNvSpPr>
          <p:nvPr>
            <p:ph type="sldNum" sz="quarter" idx="7"/>
          </p:nvPr>
        </p:nvSpPr>
        <p:spPr>
          <a:xfrm>
            <a:off x="0" y="0"/>
            <a:ext cx="0" cy="150522"/>
          </a:xfrm>
          <a:prstGeom prst="rect">
            <a:avLst/>
          </a:prstGeom>
        </p:spPr>
        <p:txBody>
          <a:bodyPr vert="horz" wrap="square" lIns="0" tIns="11906" rIns="0" bIns="0" rtlCol="0">
            <a:spAutoFit/>
          </a:bodyPr>
          <a:lstStyle/>
          <a:p>
            <a:pPr marL="45720">
              <a:spcBef>
                <a:spcPts val="94"/>
              </a:spcBef>
            </a:pPr>
            <a:fld id="{81D60167-4931-47E6-BA6A-407CBD079E47}" type="slidenum">
              <a:rPr spc="-38" dirty="0"/>
              <a:pPr marL="45720">
                <a:spcBef>
                  <a:spcPts val="94"/>
                </a:spcBef>
              </a:pPr>
              <a:t>2</a:t>
            </a:fld>
            <a:endParaRPr spc="-38" dirty="0"/>
          </a:p>
        </p:txBody>
      </p:sp>
      <p:sp>
        <p:nvSpPr>
          <p:cNvPr id="8" name="Shape 3">
            <a:extLst>
              <a:ext uri="{FF2B5EF4-FFF2-40B4-BE49-F238E27FC236}">
                <a16:creationId xmlns:a16="http://schemas.microsoft.com/office/drawing/2014/main" id="{0F72F3EB-966F-9C5A-F313-5884047C000F}"/>
              </a:ext>
            </a:extLst>
          </p:cNvPr>
          <p:cNvSpPr/>
          <p:nvPr/>
        </p:nvSpPr>
        <p:spPr>
          <a:xfrm>
            <a:off x="5922780" y="1133196"/>
            <a:ext cx="2830194" cy="1549846"/>
          </a:xfrm>
          <a:prstGeom prst="rect">
            <a:avLst/>
          </a:prstGeom>
          <a:solidFill>
            <a:srgbClr val="D9D9D9"/>
          </a:solidFill>
          <a:ln w="12700">
            <a:solidFill>
              <a:srgbClr val="D9D9D9"/>
            </a:solidFill>
            <a:prstDash val="solid"/>
          </a:ln>
        </p:spPr>
        <p:txBody>
          <a:bodyPr/>
          <a:lstStyle/>
          <a:p>
            <a:endParaRPr lang="en-US" dirty="0"/>
          </a:p>
        </p:txBody>
      </p:sp>
      <p:sp>
        <p:nvSpPr>
          <p:cNvPr id="9" name="Text 6">
            <a:extLst>
              <a:ext uri="{FF2B5EF4-FFF2-40B4-BE49-F238E27FC236}">
                <a16:creationId xmlns:a16="http://schemas.microsoft.com/office/drawing/2014/main" id="{5E2E0C09-E82A-8631-D5AF-4AEF13FE7DB0}"/>
              </a:ext>
            </a:extLst>
          </p:cNvPr>
          <p:cNvSpPr/>
          <p:nvPr/>
        </p:nvSpPr>
        <p:spPr>
          <a:xfrm>
            <a:off x="6017918" y="1345920"/>
            <a:ext cx="2528405" cy="1124398"/>
          </a:xfrm>
          <a:prstGeom prst="rect">
            <a:avLst/>
          </a:prstGeom>
          <a:noFill/>
          <a:ln/>
        </p:spPr>
        <p:txBody>
          <a:bodyPr wrap="square" rtlCol="0" anchor="ctr"/>
          <a:lstStyle/>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Nov 2025: Launched as Clawdbot by Peter Steinberger</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Jan 2026: Renamed to Moltbot (trademark clash)</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Jan 27, 2026: Renamed to OpenClaw</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Feb 2026: 250K+ GitHub stars — fastest ever open-source project</a:t>
            </a:r>
            <a:endParaRPr lang="en-US" sz="900" dirty="0"/>
          </a:p>
        </p:txBody>
      </p:sp>
      <p:sp>
        <p:nvSpPr>
          <p:cNvPr id="10" name="Shape 4">
            <a:extLst>
              <a:ext uri="{FF2B5EF4-FFF2-40B4-BE49-F238E27FC236}">
                <a16:creationId xmlns:a16="http://schemas.microsoft.com/office/drawing/2014/main" id="{DB0C9AFE-3300-C949-A867-8534C381B5BC}"/>
              </a:ext>
            </a:extLst>
          </p:cNvPr>
          <p:cNvSpPr/>
          <p:nvPr/>
        </p:nvSpPr>
        <p:spPr>
          <a:xfrm>
            <a:off x="5922780" y="1133196"/>
            <a:ext cx="59962" cy="1549846"/>
          </a:xfrm>
          <a:prstGeom prst="rect">
            <a:avLst/>
          </a:prstGeom>
          <a:solidFill>
            <a:srgbClr val="8B1A1A"/>
          </a:solidFill>
          <a:ln w="12700">
            <a:solidFill>
              <a:srgbClr val="8B1A1A"/>
            </a:solidFill>
            <a:prstDash val="solid"/>
          </a:ln>
        </p:spPr>
        <p:txBody>
          <a:bodyPr/>
          <a:lstStyle/>
          <a:p>
            <a:endParaRPr lang="en-US"/>
          </a:p>
        </p:txBody>
      </p:sp>
      <p:sp>
        <p:nvSpPr>
          <p:cNvPr id="12" name="Shape 11">
            <a:extLst>
              <a:ext uri="{FF2B5EF4-FFF2-40B4-BE49-F238E27FC236}">
                <a16:creationId xmlns:a16="http://schemas.microsoft.com/office/drawing/2014/main" id="{E0402340-B1DB-AEEB-7979-6C95DB9148EF}"/>
              </a:ext>
            </a:extLst>
          </p:cNvPr>
          <p:cNvSpPr/>
          <p:nvPr/>
        </p:nvSpPr>
        <p:spPr>
          <a:xfrm>
            <a:off x="5982742" y="2811779"/>
            <a:ext cx="2770232" cy="1850457"/>
          </a:xfrm>
          <a:prstGeom prst="rect">
            <a:avLst/>
          </a:prstGeom>
          <a:solidFill>
            <a:srgbClr val="D9D9D9"/>
          </a:solidFill>
          <a:ln w="12700">
            <a:solidFill>
              <a:srgbClr val="D9D9D9"/>
            </a:solidFill>
            <a:prstDash val="solid"/>
          </a:ln>
        </p:spPr>
        <p:txBody>
          <a:bodyPr/>
          <a:lstStyle/>
          <a:p>
            <a:endParaRPr lang="en-US"/>
          </a:p>
        </p:txBody>
      </p:sp>
      <p:sp>
        <p:nvSpPr>
          <p:cNvPr id="13" name="Shape 12">
            <a:extLst>
              <a:ext uri="{FF2B5EF4-FFF2-40B4-BE49-F238E27FC236}">
                <a16:creationId xmlns:a16="http://schemas.microsoft.com/office/drawing/2014/main" id="{3E3D9468-FA7A-4667-2130-D184D73FF01D}"/>
              </a:ext>
            </a:extLst>
          </p:cNvPr>
          <p:cNvSpPr/>
          <p:nvPr/>
        </p:nvSpPr>
        <p:spPr>
          <a:xfrm>
            <a:off x="5959185" y="2811779"/>
            <a:ext cx="58733" cy="1850456"/>
          </a:xfrm>
          <a:prstGeom prst="rect">
            <a:avLst/>
          </a:prstGeom>
          <a:solidFill>
            <a:srgbClr val="8B1A1A"/>
          </a:solidFill>
          <a:ln w="12700">
            <a:solidFill>
              <a:srgbClr val="8B1A1A"/>
            </a:solidFill>
            <a:prstDash val="solid"/>
          </a:ln>
        </p:spPr>
        <p:txBody>
          <a:bodyPr/>
          <a:lstStyle/>
          <a:p>
            <a:endParaRPr lang="en-US"/>
          </a:p>
        </p:txBody>
      </p:sp>
      <p:sp>
        <p:nvSpPr>
          <p:cNvPr id="14" name="Text 13">
            <a:extLst>
              <a:ext uri="{FF2B5EF4-FFF2-40B4-BE49-F238E27FC236}">
                <a16:creationId xmlns:a16="http://schemas.microsoft.com/office/drawing/2014/main" id="{E685B470-8B8B-BBFB-037B-3B22C79E752F}"/>
              </a:ext>
            </a:extLst>
          </p:cNvPr>
          <p:cNvSpPr/>
          <p:nvPr/>
        </p:nvSpPr>
        <p:spPr>
          <a:xfrm>
            <a:off x="6165622" y="2948940"/>
            <a:ext cx="2476568" cy="224259"/>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What It Can Do (Attack Surface)</a:t>
            </a:r>
            <a:endParaRPr lang="en-US" sz="1000" dirty="0"/>
          </a:p>
        </p:txBody>
      </p:sp>
      <p:sp>
        <p:nvSpPr>
          <p:cNvPr id="15" name="Text 14">
            <a:extLst>
              <a:ext uri="{FF2B5EF4-FFF2-40B4-BE49-F238E27FC236}">
                <a16:creationId xmlns:a16="http://schemas.microsoft.com/office/drawing/2014/main" id="{B5B7F6B8-B067-DA9F-1FAB-D4A95C5F392A}"/>
              </a:ext>
            </a:extLst>
          </p:cNvPr>
          <p:cNvSpPr/>
          <p:nvPr/>
        </p:nvSpPr>
        <p:spPr>
          <a:xfrm>
            <a:off x="6165622" y="3314700"/>
            <a:ext cx="2476568" cy="1185370"/>
          </a:xfrm>
          <a:prstGeom prst="rect">
            <a:avLst/>
          </a:prstGeom>
          <a:noFill/>
          <a:ln/>
        </p:spPr>
        <p:txBody>
          <a:bodyPr wrap="square" rtlCol="0" anchor="ctr"/>
          <a:lstStyle/>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Run shell commands &amp; scripts on your machine</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Read/write any file on the filesystem</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Automate your browser: fill forms, scrape, log in</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Access email, calendar, SMS, messaging accounts</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Install plugins (skills) from ClawHub marketplace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4"/>
          <a:stretch>
            <a:fillRect/>
          </a:stretch>
        </p:blipFill>
        <p:spPr>
          <a:xfrm>
            <a:off x="320040" y="228600"/>
            <a:ext cx="1463040" cy="374904"/>
          </a:xfrm>
          <a:prstGeom prst="rect">
            <a:avLst/>
          </a:prstGeom>
        </p:spPr>
      </p:pic>
      <p:sp>
        <p:nvSpPr>
          <p:cNvPr id="3" name="Text 0"/>
          <p:cNvSpPr/>
          <p:nvPr/>
        </p:nvSpPr>
        <p:spPr>
          <a:xfrm>
            <a:off x="2032840" y="223672"/>
            <a:ext cx="3657600" cy="256032"/>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TUTORIAL &amp; SETUP</a:t>
            </a:r>
            <a:endParaRPr lang="en-US" sz="1000" dirty="0"/>
          </a:p>
        </p:txBody>
      </p:sp>
      <p:sp>
        <p:nvSpPr>
          <p:cNvPr id="5" name="Text 2"/>
          <p:cNvSpPr/>
          <p:nvPr/>
        </p:nvSpPr>
        <p:spPr>
          <a:xfrm>
            <a:off x="2032840" y="405041"/>
            <a:ext cx="8229600" cy="274320"/>
          </a:xfrm>
          <a:prstGeom prst="rect">
            <a:avLst/>
          </a:prstGeom>
          <a:noFill/>
          <a:ln/>
        </p:spPr>
        <p:txBody>
          <a:bodyPr wrap="square" lIns="0" tIns="0" rIns="0" bIns="0" rtlCol="0" anchor="ctr"/>
          <a:lstStyle/>
          <a:p>
            <a:pPr marL="0" indent="0">
              <a:buNone/>
            </a:pPr>
            <a:r>
              <a:rPr lang="en-US" sz="1200" dirty="0">
                <a:solidFill>
                  <a:srgbClr val="7A7A7A"/>
                </a:solidFill>
                <a:latin typeface="Calibri" pitchFamily="34" charset="0"/>
                <a:ea typeface="Calibri" pitchFamily="34" charset="-122"/>
                <a:cs typeface="Calibri" pitchFamily="34" charset="-120"/>
              </a:rPr>
              <a:t>Hands-on walkthrough of installation, configuration, and first run</a:t>
            </a:r>
            <a:endParaRPr lang="en-US" sz="1200" dirty="0"/>
          </a:p>
        </p:txBody>
      </p:sp>
      <p:sp>
        <p:nvSpPr>
          <p:cNvPr id="7" name="Shape 3"/>
          <p:cNvSpPr/>
          <p:nvPr/>
        </p:nvSpPr>
        <p:spPr>
          <a:xfrm>
            <a:off x="457200" y="4800600"/>
            <a:ext cx="8229600" cy="0"/>
          </a:xfrm>
          <a:prstGeom prst="line">
            <a:avLst/>
          </a:prstGeom>
          <a:noFill/>
          <a:ln w="6350">
            <a:solidFill>
              <a:srgbClr val="C4C4C4"/>
            </a:solidFill>
            <a:prstDash val="solid"/>
          </a:ln>
        </p:spPr>
        <p:txBody>
          <a:bodyPr/>
          <a:lstStyle/>
          <a:p>
            <a:endParaRPr lang="en-US"/>
          </a:p>
        </p:txBody>
      </p:sp>
      <p:pic>
        <p:nvPicPr>
          <p:cNvPr id="9" name="Online Media 3" title="OpenClaw Tutorial for Beginners - Crash Course">
            <a:hlinkClick r:id="" action="ppaction://noaction"/>
            <a:extLst>
              <a:ext uri="{FF2B5EF4-FFF2-40B4-BE49-F238E27FC236}">
                <a16:creationId xmlns:a16="http://schemas.microsoft.com/office/drawing/2014/main" id="{CB4A3334-7216-F715-3E5B-2A4AC9FE1961}"/>
              </a:ext>
            </a:extLst>
          </p:cNvPr>
          <p:cNvPicPr>
            <a:picLocks noRot="1" noChangeAspect="1"/>
          </p:cNvPicPr>
          <p:nvPr>
            <a:videoFile r:link="rId1"/>
          </p:nvPr>
        </p:nvPicPr>
        <p:blipFill>
          <a:blip r:embed="rId5"/>
          <a:stretch>
            <a:fillRect/>
          </a:stretch>
        </p:blipFill>
        <p:spPr>
          <a:xfrm>
            <a:off x="457200" y="857689"/>
            <a:ext cx="7055616" cy="39794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4" name="Text 1"/>
          <p:cNvSpPr/>
          <p:nvPr/>
        </p:nvSpPr>
        <p:spPr>
          <a:xfrm>
            <a:off x="457200" y="672084"/>
            <a:ext cx="6926013" cy="374904"/>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OpenClaw vs Other Agent Frameworks</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4225664600"/>
              </p:ext>
            </p:extLst>
          </p:nvPr>
        </p:nvGraphicFramePr>
        <p:xfrm>
          <a:off x="457200" y="1220724"/>
          <a:ext cx="8229600" cy="2301240"/>
        </p:xfrm>
        <a:graphic>
          <a:graphicData uri="http://schemas.openxmlformats.org/drawingml/2006/table">
            <a:tbl>
              <a:tblPr/>
              <a:tblGrid>
                <a:gridCol w="3108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19456">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Capability / Risk Factor</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OpenClaw</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AutoGPT</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LangChain</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CrewAI</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extLst>
                  <a:ext uri="{0D108BD9-81ED-4DB2-BD59-A6C34878D82A}">
                    <a16:rowId xmlns:a16="http://schemas.microsoft.com/office/drawing/2014/main" val="10000"/>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Runs locally on user machine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Cloud</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Messaging-as-UI (WhatsApp/Telegram)</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Native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Shell command execution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Built-in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Plugin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Plugin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24/7 autonomous operation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Core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Limited</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SOUL.md config attack surface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5C1010"/>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N/A</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N/A</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N/A</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Plugin marketplace (supply chain)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5C1010"/>
                          </a:solidFill>
                          <a:latin typeface="Calibri" pitchFamily="34" charset="0"/>
                          <a:ea typeface="Calibri" pitchFamily="34" charset="-122"/>
                          <a:cs typeface="Calibri" pitchFamily="34" charset="-120"/>
                        </a:rPr>
                        <a:t>⚠ ClawHub</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Limited</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Auth disabled by default</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5C1010"/>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 No</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CVEs documented (2025-26)</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5C1010"/>
                          </a:solidFill>
                          <a:latin typeface="Calibri" pitchFamily="34" charset="0"/>
                          <a:ea typeface="Calibri" pitchFamily="34" charset="-122"/>
                          <a:cs typeface="Calibri" pitchFamily="34" charset="-120"/>
                        </a:rPr>
                        <a:t>⚠ 7+</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19456">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Security maturity</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5C1010"/>
                          </a:solidFill>
                          <a:latin typeface="Calibri" pitchFamily="34" charset="0"/>
                          <a:ea typeface="Calibri" pitchFamily="34" charset="-122"/>
                          <a:cs typeface="Calibri" pitchFamily="34" charset="-120"/>
                        </a:rPr>
                        <a:t>⚠ Experimental</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Emerging</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2"/>
          <p:cNvSpPr/>
          <p:nvPr/>
        </p:nvSpPr>
        <p:spPr>
          <a:xfrm>
            <a:off x="457200" y="3918204"/>
            <a:ext cx="8229600" cy="365760"/>
          </a:xfrm>
          <a:prstGeom prst="rect">
            <a:avLst/>
          </a:prstGeom>
          <a:solidFill>
            <a:srgbClr val="F0E9DC"/>
          </a:solidFill>
          <a:ln w="12700">
            <a:solidFill>
              <a:srgbClr val="C9A961"/>
            </a:solidFill>
            <a:prstDash val="solid"/>
          </a:ln>
        </p:spPr>
        <p:txBody>
          <a:bodyPr/>
          <a:lstStyle/>
          <a:p>
            <a:endParaRPr lang="en-US"/>
          </a:p>
        </p:txBody>
      </p:sp>
      <p:sp>
        <p:nvSpPr>
          <p:cNvPr id="5" name="Text 3"/>
          <p:cNvSpPr/>
          <p:nvPr/>
        </p:nvSpPr>
        <p:spPr>
          <a:xfrm>
            <a:off x="594360" y="3918204"/>
            <a:ext cx="8046720" cy="365760"/>
          </a:xfrm>
          <a:prstGeom prst="rect">
            <a:avLst/>
          </a:prstGeom>
          <a:noFill/>
          <a:ln/>
        </p:spPr>
        <p:txBody>
          <a:bodyPr wrap="square" lIns="0" tIns="0" rIns="0" bIns="0" rtlCol="0" anchor="ctr"/>
          <a:lstStyle/>
          <a:p>
            <a:pPr marL="0" indent="0">
              <a:buNone/>
            </a:pPr>
            <a:r>
              <a:rPr lang="en-US" sz="1000" b="1" dirty="0">
                <a:solidFill>
                  <a:srgbClr val="8B1A1A"/>
                </a:solidFill>
                <a:latin typeface="Calibri" pitchFamily="34" charset="0"/>
                <a:ea typeface="Calibri" pitchFamily="34" charset="-122"/>
                <a:cs typeface="Calibri" pitchFamily="34" charset="-120"/>
              </a:rPr>
              <a:t>⚠  </a:t>
            </a:r>
            <a:r>
              <a:rPr lang="en-US" sz="1000" dirty="0">
                <a:solidFill>
                  <a:srgbClr val="1A1A1A"/>
                </a:solidFill>
                <a:latin typeface="Calibri" pitchFamily="34" charset="0"/>
                <a:ea typeface="Calibri" pitchFamily="34" charset="-122"/>
                <a:cs typeface="Calibri" pitchFamily="34" charset="-120"/>
              </a:rPr>
              <a:t>Open Claw's unique combination of local execution + messaging-as-UI + always-on + SOUL.md config makes it the highest-risk agentic framework in production.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9267" y="340866"/>
            <a:ext cx="4887991" cy="381836"/>
          </a:xfrm>
          <a:prstGeom prst="rect">
            <a:avLst/>
          </a:prstGeom>
        </p:spPr>
        <p:txBody>
          <a:bodyPr vert="horz" wrap="square" lIns="0" tIns="12383" rIns="0" bIns="0" rtlCol="0">
            <a:spAutoFit/>
          </a:bodyPr>
          <a:lstStyle/>
          <a:p>
            <a:pPr marL="78104">
              <a:spcBef>
                <a:spcPts val="98"/>
              </a:spcBef>
            </a:pPr>
            <a:r>
              <a:rPr sz="2400" b="1" dirty="0">
                <a:solidFill>
                  <a:schemeClr val="tx1"/>
                </a:solidFill>
                <a:latin typeface="+mn-lt"/>
                <a:cs typeface="Trebuchet MS"/>
              </a:rPr>
              <a:t>Social</a:t>
            </a:r>
            <a:r>
              <a:rPr sz="2400" b="1" spc="165" dirty="0">
                <a:solidFill>
                  <a:schemeClr val="tx1"/>
                </a:solidFill>
                <a:latin typeface="+mn-lt"/>
                <a:cs typeface="Trebuchet MS"/>
              </a:rPr>
              <a:t> </a:t>
            </a:r>
            <a:r>
              <a:rPr sz="2400" b="1" spc="53" dirty="0">
                <a:solidFill>
                  <a:schemeClr val="tx1"/>
                </a:solidFill>
                <a:latin typeface="+mn-lt"/>
                <a:cs typeface="Trebuchet MS"/>
              </a:rPr>
              <a:t>Networks</a:t>
            </a:r>
            <a:endParaRPr sz="2400" dirty="0">
              <a:solidFill>
                <a:schemeClr val="tx1"/>
              </a:solidFill>
              <a:latin typeface="+mn-lt"/>
              <a:cs typeface="Trebuchet MS"/>
            </a:endParaRPr>
          </a:p>
        </p:txBody>
      </p:sp>
      <p:grpSp>
        <p:nvGrpSpPr>
          <p:cNvPr id="3" name="object 3"/>
          <p:cNvGrpSpPr/>
          <p:nvPr/>
        </p:nvGrpSpPr>
        <p:grpSpPr>
          <a:xfrm>
            <a:off x="2386584" y="898397"/>
            <a:ext cx="2918459" cy="3542348"/>
            <a:chOff x="3182111" y="1197863"/>
            <a:chExt cx="3891279" cy="4723130"/>
          </a:xfrm>
        </p:grpSpPr>
        <p:pic>
          <p:nvPicPr>
            <p:cNvPr id="4" name="object 4"/>
            <p:cNvPicPr/>
            <p:nvPr/>
          </p:nvPicPr>
          <p:blipFill>
            <a:blip r:embed="rId2" cstate="print"/>
            <a:stretch>
              <a:fillRect/>
            </a:stretch>
          </p:blipFill>
          <p:spPr>
            <a:xfrm>
              <a:off x="3182111" y="1197863"/>
              <a:ext cx="3890772" cy="4722876"/>
            </a:xfrm>
            <a:prstGeom prst="rect">
              <a:avLst/>
            </a:prstGeom>
          </p:spPr>
        </p:pic>
        <p:pic>
          <p:nvPicPr>
            <p:cNvPr id="5" name="object 5"/>
            <p:cNvPicPr/>
            <p:nvPr/>
          </p:nvPicPr>
          <p:blipFill>
            <a:blip r:embed="rId3" cstate="print"/>
            <a:stretch>
              <a:fillRect/>
            </a:stretch>
          </p:blipFill>
          <p:spPr>
            <a:xfrm>
              <a:off x="3227831" y="1243901"/>
              <a:ext cx="3749040" cy="4582287"/>
            </a:xfrm>
            <a:prstGeom prst="rect">
              <a:avLst/>
            </a:prstGeom>
          </p:spPr>
        </p:pic>
        <p:sp>
          <p:nvSpPr>
            <p:cNvPr id="6" name="object 6"/>
            <p:cNvSpPr/>
            <p:nvPr/>
          </p:nvSpPr>
          <p:spPr>
            <a:xfrm>
              <a:off x="3223132" y="1239138"/>
              <a:ext cx="3758565" cy="4592320"/>
            </a:xfrm>
            <a:custGeom>
              <a:avLst/>
              <a:gdLst/>
              <a:ahLst/>
              <a:cxnLst/>
              <a:rect l="l" t="t" r="r" b="b"/>
              <a:pathLst>
                <a:path w="3758565" h="4592320">
                  <a:moveTo>
                    <a:pt x="0" y="4591812"/>
                  </a:moveTo>
                  <a:lnTo>
                    <a:pt x="3758565" y="4591812"/>
                  </a:lnTo>
                  <a:lnTo>
                    <a:pt x="3758565" y="0"/>
                  </a:lnTo>
                  <a:lnTo>
                    <a:pt x="0" y="0"/>
                  </a:lnTo>
                  <a:lnTo>
                    <a:pt x="0" y="4591812"/>
                  </a:lnTo>
                  <a:close/>
                </a:path>
              </a:pathLst>
            </a:custGeom>
            <a:ln w="9525">
              <a:solidFill>
                <a:srgbClr val="000000"/>
              </a:solidFill>
            </a:ln>
          </p:spPr>
          <p:txBody>
            <a:bodyPr wrap="square" lIns="0" tIns="0" rIns="0" bIns="0" rtlCol="0"/>
            <a:lstStyle/>
            <a:p>
              <a:endParaRPr sz="1350"/>
            </a:p>
          </p:txBody>
        </p:sp>
      </p:grpSp>
      <p:sp>
        <p:nvSpPr>
          <p:cNvPr id="7" name="object 7"/>
          <p:cNvSpPr txBox="1"/>
          <p:nvPr/>
        </p:nvSpPr>
        <p:spPr>
          <a:xfrm>
            <a:off x="2501646" y="4358544"/>
            <a:ext cx="984885"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linkclaws.com</a:t>
            </a:r>
            <a:endParaRPr sz="1350">
              <a:latin typeface="Calibri"/>
              <a:cs typeface="Calibri"/>
            </a:endParaRPr>
          </a:p>
        </p:txBody>
      </p:sp>
      <p:sp>
        <p:nvSpPr>
          <p:cNvPr id="8" name="object 8"/>
          <p:cNvSpPr txBox="1"/>
          <p:nvPr/>
        </p:nvSpPr>
        <p:spPr>
          <a:xfrm>
            <a:off x="5487258" y="4358544"/>
            <a:ext cx="753427"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4claw.com</a:t>
            </a:r>
            <a:endParaRPr sz="1350">
              <a:latin typeface="Calibri"/>
              <a:cs typeface="Calibri"/>
            </a:endParaRPr>
          </a:p>
        </p:txBody>
      </p:sp>
      <p:sp>
        <p:nvSpPr>
          <p:cNvPr id="9" name="object 9"/>
          <p:cNvSpPr txBox="1"/>
          <p:nvPr/>
        </p:nvSpPr>
        <p:spPr>
          <a:xfrm>
            <a:off x="464858" y="4358544"/>
            <a:ext cx="103632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moltbook.com</a:t>
            </a:r>
            <a:endParaRPr sz="1350">
              <a:latin typeface="Calibri"/>
              <a:cs typeface="Calibri"/>
            </a:endParaRPr>
          </a:p>
        </p:txBody>
      </p:sp>
      <p:grpSp>
        <p:nvGrpSpPr>
          <p:cNvPr id="10" name="object 10"/>
          <p:cNvGrpSpPr/>
          <p:nvPr/>
        </p:nvGrpSpPr>
        <p:grpSpPr>
          <a:xfrm>
            <a:off x="370332" y="898397"/>
            <a:ext cx="1930718" cy="3514725"/>
            <a:chOff x="493776" y="1197863"/>
            <a:chExt cx="2574290" cy="4686300"/>
          </a:xfrm>
        </p:grpSpPr>
        <p:pic>
          <p:nvPicPr>
            <p:cNvPr id="11" name="object 11"/>
            <p:cNvPicPr/>
            <p:nvPr/>
          </p:nvPicPr>
          <p:blipFill>
            <a:blip r:embed="rId4" cstate="print"/>
            <a:stretch>
              <a:fillRect/>
            </a:stretch>
          </p:blipFill>
          <p:spPr>
            <a:xfrm>
              <a:off x="493776" y="1197863"/>
              <a:ext cx="2574036" cy="4686300"/>
            </a:xfrm>
            <a:prstGeom prst="rect">
              <a:avLst/>
            </a:prstGeom>
          </p:spPr>
        </p:pic>
        <p:pic>
          <p:nvPicPr>
            <p:cNvPr id="12" name="object 12"/>
            <p:cNvPicPr/>
            <p:nvPr/>
          </p:nvPicPr>
          <p:blipFill>
            <a:blip r:embed="rId5" cstate="print"/>
            <a:stretch>
              <a:fillRect/>
            </a:stretch>
          </p:blipFill>
          <p:spPr>
            <a:xfrm>
              <a:off x="539496" y="1243888"/>
              <a:ext cx="2432304" cy="4545711"/>
            </a:xfrm>
            <a:prstGeom prst="rect">
              <a:avLst/>
            </a:prstGeom>
          </p:spPr>
        </p:pic>
        <p:sp>
          <p:nvSpPr>
            <p:cNvPr id="13" name="object 13"/>
            <p:cNvSpPr/>
            <p:nvPr/>
          </p:nvSpPr>
          <p:spPr>
            <a:xfrm>
              <a:off x="534733" y="1239126"/>
              <a:ext cx="2442210" cy="4555490"/>
            </a:xfrm>
            <a:custGeom>
              <a:avLst/>
              <a:gdLst/>
              <a:ahLst/>
              <a:cxnLst/>
              <a:rect l="l" t="t" r="r" b="b"/>
              <a:pathLst>
                <a:path w="2442210" h="4555490">
                  <a:moveTo>
                    <a:pt x="0" y="4555236"/>
                  </a:moveTo>
                  <a:lnTo>
                    <a:pt x="2441829" y="4555236"/>
                  </a:lnTo>
                  <a:lnTo>
                    <a:pt x="2441829" y="0"/>
                  </a:lnTo>
                  <a:lnTo>
                    <a:pt x="0" y="0"/>
                  </a:lnTo>
                  <a:lnTo>
                    <a:pt x="0" y="4555236"/>
                  </a:lnTo>
                  <a:close/>
                </a:path>
              </a:pathLst>
            </a:custGeom>
            <a:ln w="9525">
              <a:solidFill>
                <a:srgbClr val="000000"/>
              </a:solidFill>
            </a:ln>
          </p:spPr>
          <p:txBody>
            <a:bodyPr wrap="square" lIns="0" tIns="0" rIns="0" bIns="0" rtlCol="0"/>
            <a:lstStyle/>
            <a:p>
              <a:endParaRPr sz="1350"/>
            </a:p>
          </p:txBody>
        </p:sp>
      </p:grpSp>
      <p:grpSp>
        <p:nvGrpSpPr>
          <p:cNvPr id="14" name="object 14"/>
          <p:cNvGrpSpPr/>
          <p:nvPr/>
        </p:nvGrpSpPr>
        <p:grpSpPr>
          <a:xfrm>
            <a:off x="5390388" y="898398"/>
            <a:ext cx="3418999" cy="3562826"/>
            <a:chOff x="7187183" y="1197863"/>
            <a:chExt cx="4558665" cy="4750435"/>
          </a:xfrm>
        </p:grpSpPr>
        <p:pic>
          <p:nvPicPr>
            <p:cNvPr id="15" name="object 15"/>
            <p:cNvPicPr/>
            <p:nvPr/>
          </p:nvPicPr>
          <p:blipFill>
            <a:blip r:embed="rId6" cstate="print"/>
            <a:stretch>
              <a:fillRect/>
            </a:stretch>
          </p:blipFill>
          <p:spPr>
            <a:xfrm>
              <a:off x="7187183" y="1197863"/>
              <a:ext cx="4558283" cy="4750308"/>
            </a:xfrm>
            <a:prstGeom prst="rect">
              <a:avLst/>
            </a:prstGeom>
          </p:spPr>
        </p:pic>
        <p:pic>
          <p:nvPicPr>
            <p:cNvPr id="16" name="object 16"/>
            <p:cNvPicPr/>
            <p:nvPr/>
          </p:nvPicPr>
          <p:blipFill>
            <a:blip r:embed="rId7" cstate="print"/>
            <a:stretch>
              <a:fillRect/>
            </a:stretch>
          </p:blipFill>
          <p:spPr>
            <a:xfrm>
              <a:off x="7232903" y="1243901"/>
              <a:ext cx="4416552" cy="4609719"/>
            </a:xfrm>
            <a:prstGeom prst="rect">
              <a:avLst/>
            </a:prstGeom>
          </p:spPr>
        </p:pic>
        <p:sp>
          <p:nvSpPr>
            <p:cNvPr id="17" name="object 17"/>
            <p:cNvSpPr/>
            <p:nvPr/>
          </p:nvSpPr>
          <p:spPr>
            <a:xfrm>
              <a:off x="7228204" y="1239138"/>
              <a:ext cx="4426585" cy="4619625"/>
            </a:xfrm>
            <a:custGeom>
              <a:avLst/>
              <a:gdLst/>
              <a:ahLst/>
              <a:cxnLst/>
              <a:rect l="l" t="t" r="r" b="b"/>
              <a:pathLst>
                <a:path w="4426584" h="4619625">
                  <a:moveTo>
                    <a:pt x="0" y="4619244"/>
                  </a:moveTo>
                  <a:lnTo>
                    <a:pt x="4426077" y="4619244"/>
                  </a:lnTo>
                  <a:lnTo>
                    <a:pt x="4426077" y="0"/>
                  </a:lnTo>
                  <a:lnTo>
                    <a:pt x="0" y="0"/>
                  </a:lnTo>
                  <a:lnTo>
                    <a:pt x="0" y="4619244"/>
                  </a:lnTo>
                  <a:close/>
                </a:path>
              </a:pathLst>
            </a:custGeom>
            <a:ln w="9525">
              <a:solidFill>
                <a:srgbClr val="000000"/>
              </a:solidFill>
            </a:ln>
          </p:spPr>
          <p:txBody>
            <a:bodyPr wrap="square" lIns="0" tIns="0" rIns="0" bIns="0" rtlCol="0"/>
            <a:lstStyle/>
            <a:p>
              <a:endParaRPr sz="1350"/>
            </a:p>
          </p:txBody>
        </p:sp>
      </p:grpSp>
      <p:sp>
        <p:nvSpPr>
          <p:cNvPr id="18" name="object 18"/>
          <p:cNvSpPr txBox="1">
            <a:spLocks noGrp="1"/>
          </p:cNvSpPr>
          <p:nvPr>
            <p:ph type="sldNum" sz="quarter" idx="7"/>
          </p:nvPr>
        </p:nvSpPr>
        <p:spPr>
          <a:xfrm>
            <a:off x="0" y="0"/>
            <a:ext cx="0" cy="150522"/>
          </a:xfrm>
          <a:prstGeom prst="rect">
            <a:avLst/>
          </a:prstGeom>
        </p:spPr>
        <p:txBody>
          <a:bodyPr vert="horz" wrap="square" lIns="0" tIns="11906" rIns="0" bIns="0" rtlCol="0">
            <a:spAutoFit/>
          </a:bodyPr>
          <a:lstStyle/>
          <a:p>
            <a:pPr marL="45720">
              <a:spcBef>
                <a:spcPts val="94"/>
              </a:spcBef>
            </a:pPr>
            <a:fld id="{81D60167-4931-47E6-BA6A-407CBD079E47}" type="slidenum">
              <a:rPr spc="-38" dirty="0"/>
              <a:pPr marL="45720">
                <a:spcBef>
                  <a:spcPts val="94"/>
                </a:spcBef>
              </a:pPr>
              <a:t>5</a:t>
            </a:fld>
            <a:endParaRPr spc="-3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95275"/>
            <a:ext cx="9142095" cy="4849654"/>
            <a:chOff x="0" y="393700"/>
            <a:chExt cx="12189460" cy="6466205"/>
          </a:xfrm>
        </p:grpSpPr>
        <p:pic>
          <p:nvPicPr>
            <p:cNvPr id="3" name="object 3"/>
            <p:cNvPicPr/>
            <p:nvPr/>
          </p:nvPicPr>
          <p:blipFill>
            <a:blip r:embed="rId2" cstate="print"/>
            <a:stretch>
              <a:fillRect/>
            </a:stretch>
          </p:blipFill>
          <p:spPr>
            <a:xfrm>
              <a:off x="731519" y="1344422"/>
              <a:ext cx="5047488" cy="3923791"/>
            </a:xfrm>
            <a:prstGeom prst="rect">
              <a:avLst/>
            </a:prstGeom>
          </p:spPr>
        </p:pic>
        <p:sp>
          <p:nvSpPr>
            <p:cNvPr id="4" name="object 4"/>
            <p:cNvSpPr/>
            <p:nvPr/>
          </p:nvSpPr>
          <p:spPr>
            <a:xfrm>
              <a:off x="726757" y="1339722"/>
              <a:ext cx="5057140" cy="3933825"/>
            </a:xfrm>
            <a:custGeom>
              <a:avLst/>
              <a:gdLst/>
              <a:ahLst/>
              <a:cxnLst/>
              <a:rect l="l" t="t" r="r" b="b"/>
              <a:pathLst>
                <a:path w="5057140" h="3933825">
                  <a:moveTo>
                    <a:pt x="0" y="3933316"/>
                  </a:moveTo>
                  <a:lnTo>
                    <a:pt x="5057013" y="3933316"/>
                  </a:lnTo>
                  <a:lnTo>
                    <a:pt x="5057013" y="0"/>
                  </a:lnTo>
                  <a:lnTo>
                    <a:pt x="0" y="0"/>
                  </a:lnTo>
                  <a:lnTo>
                    <a:pt x="0" y="3933316"/>
                  </a:lnTo>
                  <a:close/>
                </a:path>
              </a:pathLst>
            </a:custGeom>
            <a:ln w="9525">
              <a:solidFill>
                <a:srgbClr val="000000"/>
              </a:solidFill>
            </a:ln>
          </p:spPr>
          <p:txBody>
            <a:bodyPr wrap="square" lIns="0" tIns="0" rIns="0" bIns="0" rtlCol="0"/>
            <a:lstStyle/>
            <a:p>
              <a:endParaRPr sz="1350"/>
            </a:p>
          </p:txBody>
        </p:sp>
        <p:pic>
          <p:nvPicPr>
            <p:cNvPr id="5" name="object 5"/>
            <p:cNvPicPr/>
            <p:nvPr/>
          </p:nvPicPr>
          <p:blipFill>
            <a:blip r:embed="rId3" cstate="print"/>
            <a:stretch>
              <a:fillRect/>
            </a:stretch>
          </p:blipFill>
          <p:spPr>
            <a:xfrm>
              <a:off x="6702552" y="1161541"/>
              <a:ext cx="3538728" cy="4948174"/>
            </a:xfrm>
            <a:prstGeom prst="rect">
              <a:avLst/>
            </a:prstGeom>
          </p:spPr>
        </p:pic>
        <p:sp>
          <p:nvSpPr>
            <p:cNvPr id="6" name="object 6"/>
            <p:cNvSpPr/>
            <p:nvPr/>
          </p:nvSpPr>
          <p:spPr>
            <a:xfrm>
              <a:off x="6697853" y="1156779"/>
              <a:ext cx="3548379" cy="4958080"/>
            </a:xfrm>
            <a:custGeom>
              <a:avLst/>
              <a:gdLst/>
              <a:ahLst/>
              <a:cxnLst/>
              <a:rect l="l" t="t" r="r" b="b"/>
              <a:pathLst>
                <a:path w="3548379" h="4958080">
                  <a:moveTo>
                    <a:pt x="0" y="4957699"/>
                  </a:moveTo>
                  <a:lnTo>
                    <a:pt x="3548253" y="4957699"/>
                  </a:lnTo>
                  <a:lnTo>
                    <a:pt x="3548253" y="0"/>
                  </a:lnTo>
                  <a:lnTo>
                    <a:pt x="0" y="0"/>
                  </a:lnTo>
                  <a:lnTo>
                    <a:pt x="0" y="4957699"/>
                  </a:lnTo>
                  <a:close/>
                </a:path>
              </a:pathLst>
            </a:custGeom>
            <a:ln w="9524">
              <a:solidFill>
                <a:srgbClr val="000000"/>
              </a:solidFill>
            </a:ln>
          </p:spPr>
          <p:txBody>
            <a:bodyPr wrap="square" lIns="0" tIns="0" rIns="0" bIns="0" rtlCol="0"/>
            <a:lstStyle/>
            <a:p>
              <a:endParaRPr sz="1350"/>
            </a:p>
          </p:txBody>
        </p:sp>
      </p:grpSp>
      <p:sp>
        <p:nvSpPr>
          <p:cNvPr id="7" name="object 7"/>
          <p:cNvSpPr txBox="1">
            <a:spLocks noGrp="1"/>
          </p:cNvSpPr>
          <p:nvPr>
            <p:ph type="title"/>
          </p:nvPr>
        </p:nvSpPr>
        <p:spPr>
          <a:xfrm flipH="1">
            <a:off x="-517359" y="433801"/>
            <a:ext cx="4117087" cy="381836"/>
          </a:xfrm>
          <a:prstGeom prst="rect">
            <a:avLst/>
          </a:prstGeom>
        </p:spPr>
        <p:txBody>
          <a:bodyPr vert="horz" wrap="square" lIns="0" tIns="12383" rIns="0" bIns="0" rtlCol="0">
            <a:spAutoFit/>
          </a:bodyPr>
          <a:lstStyle/>
          <a:p>
            <a:pPr marL="78104">
              <a:spcBef>
                <a:spcPts val="98"/>
              </a:spcBef>
            </a:pPr>
            <a:r>
              <a:rPr sz="2400" b="1" dirty="0">
                <a:solidFill>
                  <a:schemeClr val="tx1"/>
                </a:solidFill>
                <a:latin typeface="+mn-lt"/>
                <a:cs typeface="Trebuchet MS"/>
              </a:rPr>
              <a:t>Search</a:t>
            </a:r>
            <a:r>
              <a:rPr sz="2400" b="1" spc="165" dirty="0">
                <a:solidFill>
                  <a:schemeClr val="tx1"/>
                </a:solidFill>
                <a:latin typeface="+mn-lt"/>
                <a:cs typeface="Trebuchet MS"/>
              </a:rPr>
              <a:t> </a:t>
            </a:r>
            <a:r>
              <a:rPr sz="2400" b="1" spc="-8" dirty="0">
                <a:solidFill>
                  <a:schemeClr val="tx1"/>
                </a:solidFill>
                <a:latin typeface="+mn-lt"/>
                <a:cs typeface="Trebuchet MS"/>
              </a:rPr>
              <a:t>Engines</a:t>
            </a:r>
            <a:endParaRPr sz="2400" dirty="0">
              <a:solidFill>
                <a:schemeClr val="tx1"/>
              </a:solidFill>
              <a:latin typeface="+mn-lt"/>
              <a:cs typeface="Trebuchet MS"/>
            </a:endParaRPr>
          </a:p>
        </p:txBody>
      </p:sp>
      <p:sp>
        <p:nvSpPr>
          <p:cNvPr id="10" name="object 10"/>
          <p:cNvSpPr txBox="1">
            <a:spLocks noGrp="1"/>
          </p:cNvSpPr>
          <p:nvPr>
            <p:ph type="sldNum" sz="quarter" idx="7"/>
          </p:nvPr>
        </p:nvSpPr>
        <p:spPr>
          <a:xfrm>
            <a:off x="0" y="0"/>
            <a:ext cx="0" cy="150522"/>
          </a:xfrm>
          <a:prstGeom prst="rect">
            <a:avLst/>
          </a:prstGeom>
        </p:spPr>
        <p:txBody>
          <a:bodyPr vert="horz" wrap="square" lIns="0" tIns="11906" rIns="0" bIns="0" rtlCol="0">
            <a:spAutoFit/>
          </a:bodyPr>
          <a:lstStyle/>
          <a:p>
            <a:pPr marL="45720">
              <a:spcBef>
                <a:spcPts val="94"/>
              </a:spcBef>
            </a:pPr>
            <a:fld id="{81D60167-4931-47E6-BA6A-407CBD079E47}" type="slidenum">
              <a:rPr spc="-38" dirty="0"/>
              <a:pPr marL="45720">
                <a:spcBef>
                  <a:spcPts val="94"/>
                </a:spcBef>
              </a:pPr>
              <a:t>6</a:t>
            </a:fld>
            <a:endParaRPr spc="-38" dirty="0"/>
          </a:p>
        </p:txBody>
      </p:sp>
      <p:sp>
        <p:nvSpPr>
          <p:cNvPr id="8" name="object 8"/>
          <p:cNvSpPr txBox="1"/>
          <p:nvPr/>
        </p:nvSpPr>
        <p:spPr>
          <a:xfrm>
            <a:off x="610771" y="3966448"/>
            <a:ext cx="1063943"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clawoogle.com</a:t>
            </a:r>
            <a:endParaRPr sz="1350">
              <a:latin typeface="Calibri"/>
              <a:cs typeface="Calibri"/>
            </a:endParaRPr>
          </a:p>
        </p:txBody>
      </p:sp>
      <p:sp>
        <p:nvSpPr>
          <p:cNvPr id="9" name="object 9"/>
          <p:cNvSpPr txBox="1"/>
          <p:nvPr/>
        </p:nvSpPr>
        <p:spPr>
          <a:xfrm>
            <a:off x="5088064" y="4553883"/>
            <a:ext cx="944404"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clawhoo.com</a:t>
            </a:r>
            <a:endParaRPr sz="135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1716945" y="107382"/>
            <a:ext cx="5576633" cy="528222"/>
          </a:xfrm>
          <a:prstGeom prst="rect">
            <a:avLst/>
          </a:prstGeom>
        </p:spPr>
        <p:txBody>
          <a:bodyPr vert="horz" wrap="square" lIns="0" tIns="157353" rIns="0" bIns="0" rtlCol="0">
            <a:spAutoFit/>
          </a:bodyPr>
          <a:lstStyle/>
          <a:p>
            <a:pPr marL="173831">
              <a:spcBef>
                <a:spcPts val="101"/>
              </a:spcBef>
            </a:pPr>
            <a:r>
              <a:rPr sz="2400" b="1" spc="64" dirty="0">
                <a:solidFill>
                  <a:schemeClr val="tx1"/>
                </a:solidFill>
                <a:latin typeface="+mn-lt"/>
                <a:cs typeface="Trebuchet MS"/>
              </a:rPr>
              <a:t>Markdown</a:t>
            </a:r>
            <a:r>
              <a:rPr sz="2400" b="1" spc="-15" dirty="0">
                <a:solidFill>
                  <a:schemeClr val="tx1"/>
                </a:solidFill>
                <a:latin typeface="+mn-lt"/>
                <a:cs typeface="Trebuchet MS"/>
              </a:rPr>
              <a:t> </a:t>
            </a:r>
            <a:r>
              <a:rPr sz="2400" b="1" dirty="0">
                <a:solidFill>
                  <a:schemeClr val="tx1"/>
                </a:solidFill>
                <a:latin typeface="+mn-lt"/>
                <a:cs typeface="Trebuchet MS"/>
              </a:rPr>
              <a:t>is</a:t>
            </a:r>
            <a:r>
              <a:rPr sz="2400" b="1" spc="4" dirty="0">
                <a:solidFill>
                  <a:schemeClr val="tx1"/>
                </a:solidFill>
                <a:latin typeface="+mn-lt"/>
                <a:cs typeface="Trebuchet MS"/>
              </a:rPr>
              <a:t> </a:t>
            </a:r>
            <a:r>
              <a:rPr sz="2400" b="1" spc="161" dirty="0">
                <a:solidFill>
                  <a:schemeClr val="tx1"/>
                </a:solidFill>
                <a:latin typeface="+mn-lt"/>
                <a:cs typeface="Trebuchet MS"/>
              </a:rPr>
              <a:t>Now</a:t>
            </a:r>
            <a:r>
              <a:rPr sz="2400" b="1" spc="-56" dirty="0">
                <a:solidFill>
                  <a:schemeClr val="tx1"/>
                </a:solidFill>
                <a:latin typeface="+mn-lt"/>
                <a:cs typeface="Trebuchet MS"/>
              </a:rPr>
              <a:t> </a:t>
            </a:r>
            <a:r>
              <a:rPr sz="2400" b="1" dirty="0">
                <a:solidFill>
                  <a:schemeClr val="tx1"/>
                </a:solidFill>
                <a:latin typeface="+mn-lt"/>
                <a:cs typeface="Trebuchet MS"/>
              </a:rPr>
              <a:t>Executable</a:t>
            </a:r>
            <a:r>
              <a:rPr sz="2400" b="1" spc="-49" dirty="0">
                <a:solidFill>
                  <a:schemeClr val="tx1"/>
                </a:solidFill>
                <a:latin typeface="+mn-lt"/>
                <a:cs typeface="Trebuchet MS"/>
              </a:rPr>
              <a:t> </a:t>
            </a:r>
            <a:r>
              <a:rPr sz="2400" b="1" spc="94" dirty="0">
                <a:solidFill>
                  <a:schemeClr val="tx1"/>
                </a:solidFill>
                <a:latin typeface="+mn-lt"/>
                <a:cs typeface="Trebuchet MS"/>
              </a:rPr>
              <a:t>Code</a:t>
            </a:r>
            <a:endParaRPr sz="2400" dirty="0">
              <a:solidFill>
                <a:schemeClr val="tx1"/>
              </a:solidFill>
              <a:latin typeface="+mn-lt"/>
              <a:cs typeface="Trebuchet MS"/>
            </a:endParaRPr>
          </a:p>
        </p:txBody>
      </p:sp>
      <p:grpSp>
        <p:nvGrpSpPr>
          <p:cNvPr id="3" name="object 3"/>
          <p:cNvGrpSpPr/>
          <p:nvPr/>
        </p:nvGrpSpPr>
        <p:grpSpPr>
          <a:xfrm>
            <a:off x="740664" y="836867"/>
            <a:ext cx="5534501" cy="3669030"/>
            <a:chOff x="987552" y="1115822"/>
            <a:chExt cx="7379334" cy="4892040"/>
          </a:xfrm>
        </p:grpSpPr>
        <p:pic>
          <p:nvPicPr>
            <p:cNvPr id="4" name="object 4"/>
            <p:cNvPicPr/>
            <p:nvPr/>
          </p:nvPicPr>
          <p:blipFill>
            <a:blip r:embed="rId2" cstate="print"/>
            <a:stretch>
              <a:fillRect/>
            </a:stretch>
          </p:blipFill>
          <p:spPr>
            <a:xfrm>
              <a:off x="3904487" y="1554480"/>
              <a:ext cx="4462271" cy="4453128"/>
            </a:xfrm>
            <a:prstGeom prst="rect">
              <a:avLst/>
            </a:prstGeom>
          </p:spPr>
        </p:pic>
        <p:pic>
          <p:nvPicPr>
            <p:cNvPr id="5" name="object 5"/>
            <p:cNvPicPr/>
            <p:nvPr/>
          </p:nvPicPr>
          <p:blipFill>
            <a:blip r:embed="rId3" cstate="print"/>
            <a:stretch>
              <a:fillRect/>
            </a:stretch>
          </p:blipFill>
          <p:spPr>
            <a:xfrm>
              <a:off x="4105656" y="1756041"/>
              <a:ext cx="3867911" cy="3859784"/>
            </a:xfrm>
            <a:prstGeom prst="rect">
              <a:avLst/>
            </a:prstGeom>
          </p:spPr>
        </p:pic>
        <p:sp>
          <p:nvSpPr>
            <p:cNvPr id="6" name="object 6"/>
            <p:cNvSpPr/>
            <p:nvPr/>
          </p:nvSpPr>
          <p:spPr>
            <a:xfrm>
              <a:off x="987552" y="1115822"/>
              <a:ext cx="2734310" cy="1125220"/>
            </a:xfrm>
            <a:custGeom>
              <a:avLst/>
              <a:gdLst/>
              <a:ahLst/>
              <a:cxnLst/>
              <a:rect l="l" t="t" r="r" b="b"/>
              <a:pathLst>
                <a:path w="2734310" h="1125220">
                  <a:moveTo>
                    <a:pt x="2609342" y="0"/>
                  </a:moveTo>
                  <a:lnTo>
                    <a:pt x="124663" y="0"/>
                  </a:lnTo>
                  <a:lnTo>
                    <a:pt x="76139" y="9806"/>
                  </a:lnTo>
                  <a:lnTo>
                    <a:pt x="36514" y="36544"/>
                  </a:lnTo>
                  <a:lnTo>
                    <a:pt x="9797" y="76188"/>
                  </a:lnTo>
                  <a:lnTo>
                    <a:pt x="0" y="124713"/>
                  </a:lnTo>
                  <a:lnTo>
                    <a:pt x="0" y="1000378"/>
                  </a:lnTo>
                  <a:lnTo>
                    <a:pt x="9797" y="1048885"/>
                  </a:lnTo>
                  <a:lnTo>
                    <a:pt x="36514" y="1088485"/>
                  </a:lnTo>
                  <a:lnTo>
                    <a:pt x="76139" y="1115179"/>
                  </a:lnTo>
                  <a:lnTo>
                    <a:pt x="124663" y="1124965"/>
                  </a:lnTo>
                  <a:lnTo>
                    <a:pt x="2609342" y="1124965"/>
                  </a:lnTo>
                  <a:lnTo>
                    <a:pt x="2657921" y="1115179"/>
                  </a:lnTo>
                  <a:lnTo>
                    <a:pt x="2697559" y="1088485"/>
                  </a:lnTo>
                  <a:lnTo>
                    <a:pt x="2724267" y="1048885"/>
                  </a:lnTo>
                  <a:lnTo>
                    <a:pt x="2734056" y="1000378"/>
                  </a:lnTo>
                  <a:lnTo>
                    <a:pt x="2734056" y="124713"/>
                  </a:lnTo>
                  <a:lnTo>
                    <a:pt x="2724267" y="76188"/>
                  </a:lnTo>
                  <a:lnTo>
                    <a:pt x="2697559" y="36544"/>
                  </a:lnTo>
                  <a:lnTo>
                    <a:pt x="2657921" y="9806"/>
                  </a:lnTo>
                  <a:lnTo>
                    <a:pt x="2609342" y="0"/>
                  </a:lnTo>
                  <a:close/>
                </a:path>
              </a:pathLst>
            </a:custGeom>
            <a:solidFill>
              <a:srgbClr val="E8F5F9"/>
            </a:solidFill>
          </p:spPr>
          <p:txBody>
            <a:bodyPr wrap="square" lIns="0" tIns="0" rIns="0" bIns="0" rtlCol="0"/>
            <a:lstStyle/>
            <a:p>
              <a:endParaRPr sz="1350"/>
            </a:p>
          </p:txBody>
        </p:sp>
        <p:sp>
          <p:nvSpPr>
            <p:cNvPr id="7" name="object 7"/>
            <p:cNvSpPr/>
            <p:nvPr/>
          </p:nvSpPr>
          <p:spPr>
            <a:xfrm>
              <a:off x="987552" y="1115822"/>
              <a:ext cx="2734310" cy="311150"/>
            </a:xfrm>
            <a:custGeom>
              <a:avLst/>
              <a:gdLst/>
              <a:ahLst/>
              <a:cxnLst/>
              <a:rect l="l" t="t" r="r" b="b"/>
              <a:pathLst>
                <a:path w="2734310" h="311150">
                  <a:moveTo>
                    <a:pt x="2578608" y="0"/>
                  </a:moveTo>
                  <a:lnTo>
                    <a:pt x="155447" y="0"/>
                  </a:lnTo>
                  <a:lnTo>
                    <a:pt x="106314" y="7925"/>
                  </a:lnTo>
                  <a:lnTo>
                    <a:pt x="63642" y="30000"/>
                  </a:lnTo>
                  <a:lnTo>
                    <a:pt x="29992" y="63669"/>
                  </a:lnTo>
                  <a:lnTo>
                    <a:pt x="7924" y="106379"/>
                  </a:lnTo>
                  <a:lnTo>
                    <a:pt x="0" y="155575"/>
                  </a:lnTo>
                  <a:lnTo>
                    <a:pt x="0" y="311023"/>
                  </a:lnTo>
                  <a:lnTo>
                    <a:pt x="2734056" y="311023"/>
                  </a:lnTo>
                  <a:lnTo>
                    <a:pt x="2734056" y="155575"/>
                  </a:lnTo>
                  <a:lnTo>
                    <a:pt x="2726131" y="106379"/>
                  </a:lnTo>
                  <a:lnTo>
                    <a:pt x="2704063" y="63669"/>
                  </a:lnTo>
                  <a:lnTo>
                    <a:pt x="2670413" y="30000"/>
                  </a:lnTo>
                  <a:lnTo>
                    <a:pt x="2627741" y="7925"/>
                  </a:lnTo>
                  <a:lnTo>
                    <a:pt x="2578608" y="0"/>
                  </a:lnTo>
                  <a:close/>
                </a:path>
              </a:pathLst>
            </a:custGeom>
            <a:solidFill>
              <a:srgbClr val="ADDCF1"/>
            </a:solidFill>
          </p:spPr>
          <p:txBody>
            <a:bodyPr wrap="square" lIns="0" tIns="0" rIns="0" bIns="0" rtlCol="0"/>
            <a:lstStyle/>
            <a:p>
              <a:endParaRPr sz="1350"/>
            </a:p>
          </p:txBody>
        </p:sp>
      </p:grpSp>
      <p:sp>
        <p:nvSpPr>
          <p:cNvPr id="8" name="object 8"/>
          <p:cNvSpPr txBox="1"/>
          <p:nvPr/>
        </p:nvSpPr>
        <p:spPr>
          <a:xfrm>
            <a:off x="1035748" y="759768"/>
            <a:ext cx="1463040" cy="820257"/>
          </a:xfrm>
          <a:prstGeom prst="rect">
            <a:avLst/>
          </a:prstGeom>
        </p:spPr>
        <p:txBody>
          <a:bodyPr vert="horz" wrap="square" lIns="0" tIns="83344" rIns="0" bIns="0" rtlCol="0">
            <a:spAutoFit/>
          </a:bodyPr>
          <a:lstStyle/>
          <a:p>
            <a:pPr algn="ctr">
              <a:spcBef>
                <a:spcPts val="656"/>
              </a:spcBef>
            </a:pPr>
            <a:r>
              <a:rPr sz="1350" b="1" spc="-60" dirty="0">
                <a:latin typeface="Arial"/>
                <a:cs typeface="Arial"/>
              </a:rPr>
              <a:t>IDENTITY.md</a:t>
            </a:r>
            <a:endParaRPr sz="1350">
              <a:latin typeface="Arial"/>
              <a:cs typeface="Arial"/>
            </a:endParaRPr>
          </a:p>
          <a:p>
            <a:pPr marL="2858" algn="ctr">
              <a:spcBef>
                <a:spcPts val="664"/>
              </a:spcBef>
            </a:pPr>
            <a:r>
              <a:rPr sz="1500" b="1" spc="-176" dirty="0">
                <a:latin typeface="Arial"/>
                <a:cs typeface="Arial"/>
              </a:rPr>
              <a:t>Who</a:t>
            </a:r>
            <a:r>
              <a:rPr sz="1500" b="1" spc="-30" dirty="0">
                <a:latin typeface="Arial"/>
                <a:cs typeface="Arial"/>
              </a:rPr>
              <a:t> </a:t>
            </a:r>
            <a:r>
              <a:rPr sz="1500" b="1" dirty="0">
                <a:latin typeface="Arial"/>
                <a:cs typeface="Arial"/>
              </a:rPr>
              <a:t>I</a:t>
            </a:r>
            <a:r>
              <a:rPr sz="1500" b="1" spc="-26" dirty="0">
                <a:latin typeface="Arial"/>
                <a:cs typeface="Arial"/>
              </a:rPr>
              <a:t> </a:t>
            </a:r>
            <a:r>
              <a:rPr sz="1500" b="1" spc="-19" dirty="0">
                <a:latin typeface="Arial"/>
                <a:cs typeface="Arial"/>
              </a:rPr>
              <a:t>am</a:t>
            </a:r>
            <a:endParaRPr sz="1500">
              <a:latin typeface="Arial"/>
              <a:cs typeface="Arial"/>
            </a:endParaRPr>
          </a:p>
          <a:p>
            <a:pPr algn="ctr">
              <a:spcBef>
                <a:spcPts val="26"/>
              </a:spcBef>
            </a:pPr>
            <a:r>
              <a:rPr sz="1350" spc="-90" dirty="0">
                <a:latin typeface="Tahoma"/>
                <a:cs typeface="Tahoma"/>
              </a:rPr>
              <a:t>How</a:t>
            </a:r>
            <a:r>
              <a:rPr sz="1350" spc="-19" dirty="0">
                <a:latin typeface="Tahoma"/>
                <a:cs typeface="Tahoma"/>
              </a:rPr>
              <a:t> </a:t>
            </a:r>
            <a:r>
              <a:rPr sz="1350" spc="-79" dirty="0">
                <a:latin typeface="Tahoma"/>
                <a:cs typeface="Tahoma"/>
              </a:rPr>
              <a:t>humans</a:t>
            </a:r>
            <a:r>
              <a:rPr sz="1350" spc="-49" dirty="0">
                <a:latin typeface="Tahoma"/>
                <a:cs typeface="Tahoma"/>
              </a:rPr>
              <a:t> </a:t>
            </a:r>
            <a:r>
              <a:rPr sz="1350" spc="-53" dirty="0">
                <a:latin typeface="Tahoma"/>
                <a:cs typeface="Tahoma"/>
              </a:rPr>
              <a:t>see</a:t>
            </a:r>
            <a:r>
              <a:rPr sz="1350" spc="-23" dirty="0">
                <a:latin typeface="Tahoma"/>
                <a:cs typeface="Tahoma"/>
              </a:rPr>
              <a:t> </a:t>
            </a:r>
            <a:r>
              <a:rPr sz="1350" spc="-19" dirty="0">
                <a:latin typeface="Tahoma"/>
                <a:cs typeface="Tahoma"/>
              </a:rPr>
              <a:t>me</a:t>
            </a:r>
            <a:endParaRPr sz="1350">
              <a:latin typeface="Tahoma"/>
              <a:cs typeface="Tahoma"/>
            </a:endParaRPr>
          </a:p>
        </p:txBody>
      </p:sp>
      <p:grpSp>
        <p:nvGrpSpPr>
          <p:cNvPr id="9" name="object 9"/>
          <p:cNvGrpSpPr/>
          <p:nvPr/>
        </p:nvGrpSpPr>
        <p:grpSpPr>
          <a:xfrm>
            <a:off x="6268212" y="3862006"/>
            <a:ext cx="2050733" cy="843915"/>
            <a:chOff x="8357616" y="5149341"/>
            <a:chExt cx="2734310" cy="1125220"/>
          </a:xfrm>
        </p:grpSpPr>
        <p:sp>
          <p:nvSpPr>
            <p:cNvPr id="10" name="object 10"/>
            <p:cNvSpPr/>
            <p:nvPr/>
          </p:nvSpPr>
          <p:spPr>
            <a:xfrm>
              <a:off x="8357616" y="5149341"/>
              <a:ext cx="2734310" cy="1125220"/>
            </a:xfrm>
            <a:custGeom>
              <a:avLst/>
              <a:gdLst/>
              <a:ahLst/>
              <a:cxnLst/>
              <a:rect l="l" t="t" r="r" b="b"/>
              <a:pathLst>
                <a:path w="2734309" h="1125220">
                  <a:moveTo>
                    <a:pt x="2609341" y="0"/>
                  </a:moveTo>
                  <a:lnTo>
                    <a:pt x="124713" y="0"/>
                  </a:lnTo>
                  <a:lnTo>
                    <a:pt x="76134" y="9806"/>
                  </a:lnTo>
                  <a:lnTo>
                    <a:pt x="36496" y="36544"/>
                  </a:lnTo>
                  <a:lnTo>
                    <a:pt x="9788" y="76188"/>
                  </a:lnTo>
                  <a:lnTo>
                    <a:pt x="0" y="124713"/>
                  </a:lnTo>
                  <a:lnTo>
                    <a:pt x="0" y="1000315"/>
                  </a:lnTo>
                  <a:lnTo>
                    <a:pt x="9788" y="1048848"/>
                  </a:lnTo>
                  <a:lnTo>
                    <a:pt x="36496" y="1088482"/>
                  </a:lnTo>
                  <a:lnTo>
                    <a:pt x="76134" y="1115204"/>
                  </a:lnTo>
                  <a:lnTo>
                    <a:pt x="124713" y="1125004"/>
                  </a:lnTo>
                  <a:lnTo>
                    <a:pt x="2609341" y="1125004"/>
                  </a:lnTo>
                  <a:lnTo>
                    <a:pt x="2657921" y="1115204"/>
                  </a:lnTo>
                  <a:lnTo>
                    <a:pt x="2697559" y="1088482"/>
                  </a:lnTo>
                  <a:lnTo>
                    <a:pt x="2724267" y="1048848"/>
                  </a:lnTo>
                  <a:lnTo>
                    <a:pt x="2734055" y="1000315"/>
                  </a:lnTo>
                  <a:lnTo>
                    <a:pt x="2734055" y="124713"/>
                  </a:lnTo>
                  <a:lnTo>
                    <a:pt x="2724267" y="76188"/>
                  </a:lnTo>
                  <a:lnTo>
                    <a:pt x="2697559" y="36544"/>
                  </a:lnTo>
                  <a:lnTo>
                    <a:pt x="2657921" y="9806"/>
                  </a:lnTo>
                  <a:lnTo>
                    <a:pt x="2609341" y="0"/>
                  </a:lnTo>
                  <a:close/>
                </a:path>
              </a:pathLst>
            </a:custGeom>
            <a:solidFill>
              <a:srgbClr val="C0E6D3"/>
            </a:solidFill>
          </p:spPr>
          <p:txBody>
            <a:bodyPr wrap="square" lIns="0" tIns="0" rIns="0" bIns="0" rtlCol="0"/>
            <a:lstStyle/>
            <a:p>
              <a:endParaRPr sz="1350"/>
            </a:p>
          </p:txBody>
        </p:sp>
        <p:sp>
          <p:nvSpPr>
            <p:cNvPr id="11" name="object 11"/>
            <p:cNvSpPr/>
            <p:nvPr/>
          </p:nvSpPr>
          <p:spPr>
            <a:xfrm>
              <a:off x="8357616" y="5149341"/>
              <a:ext cx="2734310" cy="311150"/>
            </a:xfrm>
            <a:custGeom>
              <a:avLst/>
              <a:gdLst/>
              <a:ahLst/>
              <a:cxnLst/>
              <a:rect l="l" t="t" r="r" b="b"/>
              <a:pathLst>
                <a:path w="2734309" h="311150">
                  <a:moveTo>
                    <a:pt x="2578607" y="0"/>
                  </a:moveTo>
                  <a:lnTo>
                    <a:pt x="155448" y="0"/>
                  </a:lnTo>
                  <a:lnTo>
                    <a:pt x="106314" y="7924"/>
                  </a:lnTo>
                  <a:lnTo>
                    <a:pt x="63642" y="29992"/>
                  </a:lnTo>
                  <a:lnTo>
                    <a:pt x="29992" y="63642"/>
                  </a:lnTo>
                  <a:lnTo>
                    <a:pt x="7924" y="106314"/>
                  </a:lnTo>
                  <a:lnTo>
                    <a:pt x="0" y="155447"/>
                  </a:lnTo>
                  <a:lnTo>
                    <a:pt x="0" y="311022"/>
                  </a:lnTo>
                  <a:lnTo>
                    <a:pt x="2734055" y="311022"/>
                  </a:lnTo>
                  <a:lnTo>
                    <a:pt x="2734055" y="155447"/>
                  </a:lnTo>
                  <a:lnTo>
                    <a:pt x="2726131" y="106314"/>
                  </a:lnTo>
                  <a:lnTo>
                    <a:pt x="2704063" y="63642"/>
                  </a:lnTo>
                  <a:lnTo>
                    <a:pt x="2670413" y="29992"/>
                  </a:lnTo>
                  <a:lnTo>
                    <a:pt x="2627741" y="7924"/>
                  </a:lnTo>
                  <a:lnTo>
                    <a:pt x="2578607" y="0"/>
                  </a:lnTo>
                  <a:close/>
                </a:path>
              </a:pathLst>
            </a:custGeom>
            <a:solidFill>
              <a:srgbClr val="0590A6"/>
            </a:solidFill>
          </p:spPr>
          <p:txBody>
            <a:bodyPr wrap="square" lIns="0" tIns="0" rIns="0" bIns="0" rtlCol="0"/>
            <a:lstStyle/>
            <a:p>
              <a:endParaRPr sz="1350"/>
            </a:p>
          </p:txBody>
        </p:sp>
      </p:grpSp>
      <p:sp>
        <p:nvSpPr>
          <p:cNvPr id="12" name="object 12"/>
          <p:cNvSpPr txBox="1"/>
          <p:nvPr/>
        </p:nvSpPr>
        <p:spPr>
          <a:xfrm>
            <a:off x="6431756" y="3790001"/>
            <a:ext cx="1729740" cy="820257"/>
          </a:xfrm>
          <a:prstGeom prst="rect">
            <a:avLst/>
          </a:prstGeom>
        </p:spPr>
        <p:txBody>
          <a:bodyPr vert="horz" wrap="square" lIns="0" tIns="83344" rIns="0" bIns="0" rtlCol="0">
            <a:spAutoFit/>
          </a:bodyPr>
          <a:lstStyle/>
          <a:p>
            <a:pPr algn="ctr">
              <a:spcBef>
                <a:spcPts val="656"/>
              </a:spcBef>
            </a:pPr>
            <a:r>
              <a:rPr sz="1350" b="1" spc="-71" dirty="0">
                <a:solidFill>
                  <a:srgbClr val="FFFFFF"/>
                </a:solidFill>
                <a:latin typeface="Arial"/>
                <a:cs typeface="Arial"/>
              </a:rPr>
              <a:t>MEMORY.md</a:t>
            </a:r>
            <a:endParaRPr sz="1350">
              <a:latin typeface="Arial"/>
              <a:cs typeface="Arial"/>
            </a:endParaRPr>
          </a:p>
          <a:p>
            <a:pPr marL="953" algn="ctr">
              <a:spcBef>
                <a:spcPts val="664"/>
              </a:spcBef>
            </a:pPr>
            <a:r>
              <a:rPr sz="1500" b="1" spc="-127" dirty="0">
                <a:latin typeface="Arial"/>
                <a:cs typeface="Arial"/>
              </a:rPr>
              <a:t>What</a:t>
            </a:r>
            <a:r>
              <a:rPr sz="1500" b="1" spc="-34" dirty="0">
                <a:latin typeface="Arial"/>
                <a:cs typeface="Arial"/>
              </a:rPr>
              <a:t> </a:t>
            </a:r>
            <a:r>
              <a:rPr sz="1500" b="1" dirty="0">
                <a:latin typeface="Arial"/>
                <a:cs typeface="Arial"/>
              </a:rPr>
              <a:t>I</a:t>
            </a:r>
            <a:r>
              <a:rPr sz="1500" b="1" spc="-23" dirty="0">
                <a:latin typeface="Arial"/>
                <a:cs typeface="Arial"/>
              </a:rPr>
              <a:t> </a:t>
            </a:r>
            <a:r>
              <a:rPr sz="1500" b="1" spc="-45" dirty="0">
                <a:latin typeface="Arial"/>
                <a:cs typeface="Arial"/>
              </a:rPr>
              <a:t>remember</a:t>
            </a:r>
            <a:endParaRPr sz="1500">
              <a:latin typeface="Arial"/>
              <a:cs typeface="Arial"/>
            </a:endParaRPr>
          </a:p>
          <a:p>
            <a:pPr algn="ctr">
              <a:spcBef>
                <a:spcPts val="30"/>
              </a:spcBef>
            </a:pPr>
            <a:r>
              <a:rPr sz="1350" dirty="0">
                <a:latin typeface="Tahoma"/>
                <a:cs typeface="Tahoma"/>
              </a:rPr>
              <a:t>My</a:t>
            </a:r>
            <a:r>
              <a:rPr sz="1350" spc="-53" dirty="0">
                <a:latin typeface="Tahoma"/>
                <a:cs typeface="Tahoma"/>
              </a:rPr>
              <a:t> </a:t>
            </a:r>
            <a:r>
              <a:rPr sz="1350" spc="-56" dirty="0">
                <a:latin typeface="Tahoma"/>
                <a:cs typeface="Tahoma"/>
              </a:rPr>
              <a:t>long-</a:t>
            </a:r>
            <a:r>
              <a:rPr sz="1350" spc="-83" dirty="0">
                <a:latin typeface="Tahoma"/>
                <a:cs typeface="Tahoma"/>
              </a:rPr>
              <a:t>term</a:t>
            </a:r>
            <a:r>
              <a:rPr sz="1350" spc="-68" dirty="0">
                <a:latin typeface="Tahoma"/>
                <a:cs typeface="Tahoma"/>
              </a:rPr>
              <a:t> </a:t>
            </a:r>
            <a:r>
              <a:rPr sz="1350" spc="-56" dirty="0">
                <a:latin typeface="Tahoma"/>
                <a:cs typeface="Tahoma"/>
              </a:rPr>
              <a:t>knowledge</a:t>
            </a:r>
            <a:endParaRPr sz="1350">
              <a:latin typeface="Tahoma"/>
              <a:cs typeface="Tahoma"/>
            </a:endParaRPr>
          </a:p>
        </p:txBody>
      </p:sp>
      <p:grpSp>
        <p:nvGrpSpPr>
          <p:cNvPr id="13" name="object 13"/>
          <p:cNvGrpSpPr/>
          <p:nvPr/>
        </p:nvGrpSpPr>
        <p:grpSpPr>
          <a:xfrm>
            <a:off x="6268212" y="2860548"/>
            <a:ext cx="2050733" cy="843915"/>
            <a:chOff x="8357616" y="3814064"/>
            <a:chExt cx="2734310" cy="1125220"/>
          </a:xfrm>
        </p:grpSpPr>
        <p:sp>
          <p:nvSpPr>
            <p:cNvPr id="14" name="object 14"/>
            <p:cNvSpPr/>
            <p:nvPr/>
          </p:nvSpPr>
          <p:spPr>
            <a:xfrm>
              <a:off x="8357616" y="3814064"/>
              <a:ext cx="2734310" cy="1125220"/>
            </a:xfrm>
            <a:custGeom>
              <a:avLst/>
              <a:gdLst/>
              <a:ahLst/>
              <a:cxnLst/>
              <a:rect l="l" t="t" r="r" b="b"/>
              <a:pathLst>
                <a:path w="2734309" h="1125220">
                  <a:moveTo>
                    <a:pt x="2609341" y="0"/>
                  </a:moveTo>
                  <a:lnTo>
                    <a:pt x="124713" y="0"/>
                  </a:lnTo>
                  <a:lnTo>
                    <a:pt x="76134" y="9786"/>
                  </a:lnTo>
                  <a:lnTo>
                    <a:pt x="36496" y="36480"/>
                  </a:lnTo>
                  <a:lnTo>
                    <a:pt x="9788" y="76080"/>
                  </a:lnTo>
                  <a:lnTo>
                    <a:pt x="0" y="124587"/>
                  </a:lnTo>
                  <a:lnTo>
                    <a:pt x="0" y="1000252"/>
                  </a:lnTo>
                  <a:lnTo>
                    <a:pt x="9788" y="1048777"/>
                  </a:lnTo>
                  <a:lnTo>
                    <a:pt x="36496" y="1088421"/>
                  </a:lnTo>
                  <a:lnTo>
                    <a:pt x="76134" y="1115159"/>
                  </a:lnTo>
                  <a:lnTo>
                    <a:pt x="124713" y="1124966"/>
                  </a:lnTo>
                  <a:lnTo>
                    <a:pt x="2609341" y="1124966"/>
                  </a:lnTo>
                  <a:lnTo>
                    <a:pt x="2657921" y="1115159"/>
                  </a:lnTo>
                  <a:lnTo>
                    <a:pt x="2697559" y="1088421"/>
                  </a:lnTo>
                  <a:lnTo>
                    <a:pt x="2724267" y="1048777"/>
                  </a:lnTo>
                  <a:lnTo>
                    <a:pt x="2734055" y="1000252"/>
                  </a:lnTo>
                  <a:lnTo>
                    <a:pt x="2734055" y="124587"/>
                  </a:lnTo>
                  <a:lnTo>
                    <a:pt x="2724267" y="76080"/>
                  </a:lnTo>
                  <a:lnTo>
                    <a:pt x="2697559" y="36480"/>
                  </a:lnTo>
                  <a:lnTo>
                    <a:pt x="2657921" y="9786"/>
                  </a:lnTo>
                  <a:lnTo>
                    <a:pt x="2609341" y="0"/>
                  </a:lnTo>
                  <a:close/>
                </a:path>
              </a:pathLst>
            </a:custGeom>
            <a:solidFill>
              <a:srgbClr val="AABEE8"/>
            </a:solidFill>
          </p:spPr>
          <p:txBody>
            <a:bodyPr wrap="square" lIns="0" tIns="0" rIns="0" bIns="0" rtlCol="0"/>
            <a:lstStyle/>
            <a:p>
              <a:endParaRPr sz="1350"/>
            </a:p>
          </p:txBody>
        </p:sp>
        <p:sp>
          <p:nvSpPr>
            <p:cNvPr id="15" name="object 15"/>
            <p:cNvSpPr/>
            <p:nvPr/>
          </p:nvSpPr>
          <p:spPr>
            <a:xfrm>
              <a:off x="8357616" y="3814064"/>
              <a:ext cx="2734310" cy="311150"/>
            </a:xfrm>
            <a:custGeom>
              <a:avLst/>
              <a:gdLst/>
              <a:ahLst/>
              <a:cxnLst/>
              <a:rect l="l" t="t" r="r" b="b"/>
              <a:pathLst>
                <a:path w="2734309" h="311150">
                  <a:moveTo>
                    <a:pt x="2578607" y="0"/>
                  </a:moveTo>
                  <a:lnTo>
                    <a:pt x="155448" y="0"/>
                  </a:lnTo>
                  <a:lnTo>
                    <a:pt x="106314" y="7924"/>
                  </a:lnTo>
                  <a:lnTo>
                    <a:pt x="63642" y="29992"/>
                  </a:lnTo>
                  <a:lnTo>
                    <a:pt x="29992" y="63642"/>
                  </a:lnTo>
                  <a:lnTo>
                    <a:pt x="7924" y="106314"/>
                  </a:lnTo>
                  <a:lnTo>
                    <a:pt x="0" y="155448"/>
                  </a:lnTo>
                  <a:lnTo>
                    <a:pt x="0" y="310896"/>
                  </a:lnTo>
                  <a:lnTo>
                    <a:pt x="2734055" y="310896"/>
                  </a:lnTo>
                  <a:lnTo>
                    <a:pt x="2734055" y="155448"/>
                  </a:lnTo>
                  <a:lnTo>
                    <a:pt x="2726131" y="106314"/>
                  </a:lnTo>
                  <a:lnTo>
                    <a:pt x="2704063" y="63642"/>
                  </a:lnTo>
                  <a:lnTo>
                    <a:pt x="2670413" y="29992"/>
                  </a:lnTo>
                  <a:lnTo>
                    <a:pt x="2627741" y="7924"/>
                  </a:lnTo>
                  <a:lnTo>
                    <a:pt x="2578607" y="0"/>
                  </a:lnTo>
                  <a:close/>
                </a:path>
              </a:pathLst>
            </a:custGeom>
            <a:solidFill>
              <a:srgbClr val="7476FF"/>
            </a:solidFill>
          </p:spPr>
          <p:txBody>
            <a:bodyPr wrap="square" lIns="0" tIns="0" rIns="0" bIns="0" rtlCol="0"/>
            <a:lstStyle/>
            <a:p>
              <a:endParaRPr sz="1350"/>
            </a:p>
          </p:txBody>
        </p:sp>
      </p:grpSp>
      <p:sp>
        <p:nvSpPr>
          <p:cNvPr id="16" name="object 16"/>
          <p:cNvSpPr txBox="1"/>
          <p:nvPr/>
        </p:nvSpPr>
        <p:spPr>
          <a:xfrm>
            <a:off x="6388798" y="2786490"/>
            <a:ext cx="1818323" cy="820257"/>
          </a:xfrm>
          <a:prstGeom prst="rect">
            <a:avLst/>
          </a:prstGeom>
        </p:spPr>
        <p:txBody>
          <a:bodyPr vert="horz" wrap="square" lIns="0" tIns="83344" rIns="0" bIns="0" rtlCol="0">
            <a:spAutoFit/>
          </a:bodyPr>
          <a:lstStyle/>
          <a:p>
            <a:pPr algn="ctr">
              <a:spcBef>
                <a:spcPts val="656"/>
              </a:spcBef>
            </a:pPr>
            <a:r>
              <a:rPr sz="1350" b="1" spc="-53" dirty="0">
                <a:solidFill>
                  <a:srgbClr val="FFFFFF"/>
                </a:solidFill>
                <a:latin typeface="Arial"/>
                <a:cs typeface="Arial"/>
              </a:rPr>
              <a:t>SKILLS.md</a:t>
            </a:r>
            <a:endParaRPr sz="1350">
              <a:latin typeface="Arial"/>
              <a:cs typeface="Arial"/>
            </a:endParaRPr>
          </a:p>
          <a:p>
            <a:pPr algn="ctr">
              <a:spcBef>
                <a:spcPts val="668"/>
              </a:spcBef>
            </a:pPr>
            <a:r>
              <a:rPr sz="1500" b="1" spc="-146" dirty="0">
                <a:latin typeface="Arial"/>
                <a:cs typeface="Arial"/>
              </a:rPr>
              <a:t>How/When</a:t>
            </a:r>
            <a:r>
              <a:rPr sz="1500" b="1" spc="23" dirty="0">
                <a:latin typeface="Arial"/>
                <a:cs typeface="Arial"/>
              </a:rPr>
              <a:t> </a:t>
            </a:r>
            <a:r>
              <a:rPr sz="1500" b="1" spc="-120" dirty="0">
                <a:latin typeface="Arial"/>
                <a:cs typeface="Arial"/>
              </a:rPr>
              <a:t>to</a:t>
            </a:r>
            <a:r>
              <a:rPr sz="1500" b="1" spc="-11" dirty="0">
                <a:latin typeface="Arial"/>
                <a:cs typeface="Arial"/>
              </a:rPr>
              <a:t> </a:t>
            </a:r>
            <a:r>
              <a:rPr sz="1500" b="1" spc="-131" dirty="0">
                <a:latin typeface="Arial"/>
                <a:cs typeface="Arial"/>
              </a:rPr>
              <a:t>use</a:t>
            </a:r>
            <a:r>
              <a:rPr sz="1500" b="1" spc="-71" dirty="0">
                <a:latin typeface="Arial"/>
                <a:cs typeface="Arial"/>
              </a:rPr>
              <a:t> </a:t>
            </a:r>
            <a:r>
              <a:rPr sz="1500" b="1" spc="-75" dirty="0">
                <a:latin typeface="Arial"/>
                <a:cs typeface="Arial"/>
              </a:rPr>
              <a:t>tools</a:t>
            </a:r>
            <a:endParaRPr sz="1500">
              <a:latin typeface="Arial"/>
              <a:cs typeface="Arial"/>
            </a:endParaRPr>
          </a:p>
          <a:p>
            <a:pPr marR="476" algn="ctr">
              <a:spcBef>
                <a:spcPts val="26"/>
              </a:spcBef>
            </a:pPr>
            <a:r>
              <a:rPr sz="1350" dirty="0">
                <a:latin typeface="Tahoma"/>
                <a:cs typeface="Tahoma"/>
              </a:rPr>
              <a:t>My</a:t>
            </a:r>
            <a:r>
              <a:rPr sz="1350" spc="-53" dirty="0">
                <a:latin typeface="Tahoma"/>
                <a:cs typeface="Tahoma"/>
              </a:rPr>
              <a:t> </a:t>
            </a:r>
            <a:r>
              <a:rPr sz="1350" spc="-90" dirty="0">
                <a:latin typeface="Tahoma"/>
                <a:cs typeface="Tahoma"/>
              </a:rPr>
              <a:t>playbook</a:t>
            </a:r>
            <a:r>
              <a:rPr sz="1350" spc="-56" dirty="0">
                <a:latin typeface="Tahoma"/>
                <a:cs typeface="Tahoma"/>
              </a:rPr>
              <a:t> </a:t>
            </a:r>
            <a:r>
              <a:rPr sz="1350" spc="-45" dirty="0">
                <a:latin typeface="Tahoma"/>
                <a:cs typeface="Tahoma"/>
              </a:rPr>
              <a:t>for</a:t>
            </a:r>
            <a:r>
              <a:rPr sz="1350" spc="-64" dirty="0">
                <a:latin typeface="Tahoma"/>
                <a:cs typeface="Tahoma"/>
              </a:rPr>
              <a:t> </a:t>
            </a:r>
            <a:r>
              <a:rPr sz="1350" spc="-15" dirty="0">
                <a:latin typeface="Tahoma"/>
                <a:cs typeface="Tahoma"/>
              </a:rPr>
              <a:t>tools</a:t>
            </a:r>
            <a:endParaRPr sz="1350">
              <a:latin typeface="Tahoma"/>
              <a:cs typeface="Tahoma"/>
            </a:endParaRPr>
          </a:p>
        </p:txBody>
      </p:sp>
      <p:grpSp>
        <p:nvGrpSpPr>
          <p:cNvPr id="17" name="object 17"/>
          <p:cNvGrpSpPr/>
          <p:nvPr/>
        </p:nvGrpSpPr>
        <p:grpSpPr>
          <a:xfrm>
            <a:off x="6268212" y="1845278"/>
            <a:ext cx="2050733" cy="843915"/>
            <a:chOff x="8357616" y="2460370"/>
            <a:chExt cx="2734310" cy="1125220"/>
          </a:xfrm>
        </p:grpSpPr>
        <p:sp>
          <p:nvSpPr>
            <p:cNvPr id="18" name="object 18"/>
            <p:cNvSpPr/>
            <p:nvPr/>
          </p:nvSpPr>
          <p:spPr>
            <a:xfrm>
              <a:off x="8357616" y="2460370"/>
              <a:ext cx="2734310" cy="1125220"/>
            </a:xfrm>
            <a:custGeom>
              <a:avLst/>
              <a:gdLst/>
              <a:ahLst/>
              <a:cxnLst/>
              <a:rect l="l" t="t" r="r" b="b"/>
              <a:pathLst>
                <a:path w="2734309" h="1125220">
                  <a:moveTo>
                    <a:pt x="2609341" y="0"/>
                  </a:moveTo>
                  <a:lnTo>
                    <a:pt x="124713" y="0"/>
                  </a:lnTo>
                  <a:lnTo>
                    <a:pt x="76134" y="9788"/>
                  </a:lnTo>
                  <a:lnTo>
                    <a:pt x="36496" y="36496"/>
                  </a:lnTo>
                  <a:lnTo>
                    <a:pt x="9788" y="76134"/>
                  </a:lnTo>
                  <a:lnTo>
                    <a:pt x="0" y="124713"/>
                  </a:lnTo>
                  <a:lnTo>
                    <a:pt x="0" y="1000251"/>
                  </a:lnTo>
                  <a:lnTo>
                    <a:pt x="9788" y="1048777"/>
                  </a:lnTo>
                  <a:lnTo>
                    <a:pt x="36496" y="1088421"/>
                  </a:lnTo>
                  <a:lnTo>
                    <a:pt x="76134" y="1115159"/>
                  </a:lnTo>
                  <a:lnTo>
                    <a:pt x="124713" y="1124965"/>
                  </a:lnTo>
                  <a:lnTo>
                    <a:pt x="2609341" y="1124965"/>
                  </a:lnTo>
                  <a:lnTo>
                    <a:pt x="2657921" y="1115159"/>
                  </a:lnTo>
                  <a:lnTo>
                    <a:pt x="2697559" y="1088421"/>
                  </a:lnTo>
                  <a:lnTo>
                    <a:pt x="2724267" y="1048777"/>
                  </a:lnTo>
                  <a:lnTo>
                    <a:pt x="2734055" y="1000251"/>
                  </a:lnTo>
                  <a:lnTo>
                    <a:pt x="2734055" y="124713"/>
                  </a:lnTo>
                  <a:lnTo>
                    <a:pt x="2724267" y="76134"/>
                  </a:lnTo>
                  <a:lnTo>
                    <a:pt x="2697559" y="36496"/>
                  </a:lnTo>
                  <a:lnTo>
                    <a:pt x="2657921" y="9788"/>
                  </a:lnTo>
                  <a:lnTo>
                    <a:pt x="2609341" y="0"/>
                  </a:lnTo>
                  <a:close/>
                </a:path>
              </a:pathLst>
            </a:custGeom>
            <a:solidFill>
              <a:srgbClr val="FAE0DC"/>
            </a:solidFill>
          </p:spPr>
          <p:txBody>
            <a:bodyPr wrap="square" lIns="0" tIns="0" rIns="0" bIns="0" rtlCol="0"/>
            <a:lstStyle/>
            <a:p>
              <a:endParaRPr sz="1350"/>
            </a:p>
          </p:txBody>
        </p:sp>
        <p:sp>
          <p:nvSpPr>
            <p:cNvPr id="19" name="object 19"/>
            <p:cNvSpPr/>
            <p:nvPr/>
          </p:nvSpPr>
          <p:spPr>
            <a:xfrm>
              <a:off x="8357616" y="2460370"/>
              <a:ext cx="2734310" cy="311150"/>
            </a:xfrm>
            <a:custGeom>
              <a:avLst/>
              <a:gdLst/>
              <a:ahLst/>
              <a:cxnLst/>
              <a:rect l="l" t="t" r="r" b="b"/>
              <a:pathLst>
                <a:path w="2734309" h="311150">
                  <a:moveTo>
                    <a:pt x="2578607" y="0"/>
                  </a:moveTo>
                  <a:lnTo>
                    <a:pt x="155448" y="0"/>
                  </a:lnTo>
                  <a:lnTo>
                    <a:pt x="106314" y="7924"/>
                  </a:lnTo>
                  <a:lnTo>
                    <a:pt x="63642" y="29992"/>
                  </a:lnTo>
                  <a:lnTo>
                    <a:pt x="29992" y="63642"/>
                  </a:lnTo>
                  <a:lnTo>
                    <a:pt x="7924" y="106314"/>
                  </a:lnTo>
                  <a:lnTo>
                    <a:pt x="0" y="155448"/>
                  </a:lnTo>
                  <a:lnTo>
                    <a:pt x="0" y="310895"/>
                  </a:lnTo>
                  <a:lnTo>
                    <a:pt x="2734055" y="310895"/>
                  </a:lnTo>
                  <a:lnTo>
                    <a:pt x="2734055" y="155448"/>
                  </a:lnTo>
                  <a:lnTo>
                    <a:pt x="2726131" y="106314"/>
                  </a:lnTo>
                  <a:lnTo>
                    <a:pt x="2704063" y="63642"/>
                  </a:lnTo>
                  <a:lnTo>
                    <a:pt x="2670413" y="29992"/>
                  </a:lnTo>
                  <a:lnTo>
                    <a:pt x="2627741" y="7924"/>
                  </a:lnTo>
                  <a:lnTo>
                    <a:pt x="2578607" y="0"/>
                  </a:lnTo>
                  <a:close/>
                </a:path>
              </a:pathLst>
            </a:custGeom>
            <a:solidFill>
              <a:srgbClr val="F1A396"/>
            </a:solidFill>
          </p:spPr>
          <p:txBody>
            <a:bodyPr wrap="square" lIns="0" tIns="0" rIns="0" bIns="0" rtlCol="0"/>
            <a:lstStyle/>
            <a:p>
              <a:endParaRPr sz="1350"/>
            </a:p>
          </p:txBody>
        </p:sp>
      </p:grpSp>
      <p:sp>
        <p:nvSpPr>
          <p:cNvPr id="20" name="object 20"/>
          <p:cNvSpPr txBox="1"/>
          <p:nvPr/>
        </p:nvSpPr>
        <p:spPr>
          <a:xfrm>
            <a:off x="6470332" y="1772459"/>
            <a:ext cx="1657826" cy="820257"/>
          </a:xfrm>
          <a:prstGeom prst="rect">
            <a:avLst/>
          </a:prstGeom>
        </p:spPr>
        <p:txBody>
          <a:bodyPr vert="horz" wrap="square" lIns="0" tIns="83344" rIns="0" bIns="0" rtlCol="0">
            <a:spAutoFit/>
          </a:bodyPr>
          <a:lstStyle/>
          <a:p>
            <a:pPr algn="ctr">
              <a:spcBef>
                <a:spcPts val="656"/>
              </a:spcBef>
            </a:pPr>
            <a:r>
              <a:rPr sz="1350" b="1" spc="-56" dirty="0">
                <a:latin typeface="Arial"/>
                <a:cs typeface="Arial"/>
              </a:rPr>
              <a:t>TOOLS.md</a:t>
            </a:r>
            <a:endParaRPr sz="1350">
              <a:latin typeface="Arial"/>
              <a:cs typeface="Arial"/>
            </a:endParaRPr>
          </a:p>
          <a:p>
            <a:pPr algn="ctr">
              <a:spcBef>
                <a:spcPts val="668"/>
              </a:spcBef>
            </a:pPr>
            <a:r>
              <a:rPr sz="1500" b="1" spc="-127" dirty="0">
                <a:latin typeface="Arial"/>
                <a:cs typeface="Arial"/>
              </a:rPr>
              <a:t>What</a:t>
            </a:r>
            <a:r>
              <a:rPr sz="1500" b="1" spc="-38" dirty="0">
                <a:latin typeface="Arial"/>
                <a:cs typeface="Arial"/>
              </a:rPr>
              <a:t> </a:t>
            </a:r>
            <a:r>
              <a:rPr sz="1500" b="1" dirty="0">
                <a:latin typeface="Arial"/>
                <a:cs typeface="Arial"/>
              </a:rPr>
              <a:t>I</a:t>
            </a:r>
            <a:r>
              <a:rPr sz="1500" b="1" spc="-15" dirty="0">
                <a:latin typeface="Arial"/>
                <a:cs typeface="Arial"/>
              </a:rPr>
              <a:t> </a:t>
            </a:r>
            <a:r>
              <a:rPr sz="1500" b="1" spc="-146" dirty="0">
                <a:latin typeface="Arial"/>
                <a:cs typeface="Arial"/>
              </a:rPr>
              <a:t>can</a:t>
            </a:r>
            <a:r>
              <a:rPr sz="1500" b="1" spc="-41" dirty="0">
                <a:latin typeface="Arial"/>
                <a:cs typeface="Arial"/>
              </a:rPr>
              <a:t> </a:t>
            </a:r>
            <a:r>
              <a:rPr sz="1500" b="1" spc="-19" dirty="0">
                <a:latin typeface="Arial"/>
                <a:cs typeface="Arial"/>
              </a:rPr>
              <a:t>do</a:t>
            </a:r>
            <a:endParaRPr sz="1500">
              <a:latin typeface="Arial"/>
              <a:cs typeface="Arial"/>
            </a:endParaRPr>
          </a:p>
          <a:p>
            <a:pPr algn="ctr">
              <a:spcBef>
                <a:spcPts val="26"/>
              </a:spcBef>
            </a:pPr>
            <a:r>
              <a:rPr sz="1350" dirty="0">
                <a:latin typeface="Tahoma"/>
                <a:cs typeface="Tahoma"/>
              </a:rPr>
              <a:t>My</a:t>
            </a:r>
            <a:r>
              <a:rPr sz="1350" spc="-38" dirty="0">
                <a:latin typeface="Tahoma"/>
                <a:cs typeface="Tahoma"/>
              </a:rPr>
              <a:t> </a:t>
            </a:r>
            <a:r>
              <a:rPr sz="1350" spc="-86" dirty="0">
                <a:latin typeface="Tahoma"/>
                <a:cs typeface="Tahoma"/>
              </a:rPr>
              <a:t>available</a:t>
            </a:r>
            <a:r>
              <a:rPr sz="1350" spc="-34" dirty="0">
                <a:latin typeface="Tahoma"/>
                <a:cs typeface="Tahoma"/>
              </a:rPr>
              <a:t> </a:t>
            </a:r>
            <a:r>
              <a:rPr sz="1350" spc="-41" dirty="0">
                <a:latin typeface="Tahoma"/>
                <a:cs typeface="Tahoma"/>
              </a:rPr>
              <a:t>capabilities</a:t>
            </a:r>
            <a:endParaRPr sz="1350">
              <a:latin typeface="Tahoma"/>
              <a:cs typeface="Tahoma"/>
            </a:endParaRPr>
          </a:p>
        </p:txBody>
      </p:sp>
      <p:grpSp>
        <p:nvGrpSpPr>
          <p:cNvPr id="21" name="object 21"/>
          <p:cNvGrpSpPr/>
          <p:nvPr/>
        </p:nvGrpSpPr>
        <p:grpSpPr>
          <a:xfrm>
            <a:off x="6268212" y="836867"/>
            <a:ext cx="2050733" cy="843915"/>
            <a:chOff x="8357616" y="1115822"/>
            <a:chExt cx="2734310" cy="1125220"/>
          </a:xfrm>
        </p:grpSpPr>
        <p:sp>
          <p:nvSpPr>
            <p:cNvPr id="22" name="object 22"/>
            <p:cNvSpPr/>
            <p:nvPr/>
          </p:nvSpPr>
          <p:spPr>
            <a:xfrm>
              <a:off x="8357616" y="1115822"/>
              <a:ext cx="2734310" cy="1125220"/>
            </a:xfrm>
            <a:custGeom>
              <a:avLst/>
              <a:gdLst/>
              <a:ahLst/>
              <a:cxnLst/>
              <a:rect l="l" t="t" r="r" b="b"/>
              <a:pathLst>
                <a:path w="2734309" h="1125220">
                  <a:moveTo>
                    <a:pt x="2609341" y="0"/>
                  </a:moveTo>
                  <a:lnTo>
                    <a:pt x="124713" y="0"/>
                  </a:lnTo>
                  <a:lnTo>
                    <a:pt x="76134" y="9806"/>
                  </a:lnTo>
                  <a:lnTo>
                    <a:pt x="36496" y="36544"/>
                  </a:lnTo>
                  <a:lnTo>
                    <a:pt x="9788" y="76188"/>
                  </a:lnTo>
                  <a:lnTo>
                    <a:pt x="0" y="124713"/>
                  </a:lnTo>
                  <a:lnTo>
                    <a:pt x="0" y="1000378"/>
                  </a:lnTo>
                  <a:lnTo>
                    <a:pt x="9788" y="1048885"/>
                  </a:lnTo>
                  <a:lnTo>
                    <a:pt x="36496" y="1088485"/>
                  </a:lnTo>
                  <a:lnTo>
                    <a:pt x="76134" y="1115179"/>
                  </a:lnTo>
                  <a:lnTo>
                    <a:pt x="124713" y="1124965"/>
                  </a:lnTo>
                  <a:lnTo>
                    <a:pt x="2609341" y="1124965"/>
                  </a:lnTo>
                  <a:lnTo>
                    <a:pt x="2657921" y="1115179"/>
                  </a:lnTo>
                  <a:lnTo>
                    <a:pt x="2697559" y="1088485"/>
                  </a:lnTo>
                  <a:lnTo>
                    <a:pt x="2724267" y="1048885"/>
                  </a:lnTo>
                  <a:lnTo>
                    <a:pt x="2734055" y="1000378"/>
                  </a:lnTo>
                  <a:lnTo>
                    <a:pt x="2734055" y="124713"/>
                  </a:lnTo>
                  <a:lnTo>
                    <a:pt x="2724267" y="76188"/>
                  </a:lnTo>
                  <a:lnTo>
                    <a:pt x="2697559" y="36544"/>
                  </a:lnTo>
                  <a:lnTo>
                    <a:pt x="2657921" y="9806"/>
                  </a:lnTo>
                  <a:lnTo>
                    <a:pt x="2609341" y="0"/>
                  </a:lnTo>
                  <a:close/>
                </a:path>
              </a:pathLst>
            </a:custGeom>
            <a:solidFill>
              <a:srgbClr val="DDDCFC"/>
            </a:solidFill>
          </p:spPr>
          <p:txBody>
            <a:bodyPr wrap="square" lIns="0" tIns="0" rIns="0" bIns="0" rtlCol="0"/>
            <a:lstStyle/>
            <a:p>
              <a:endParaRPr sz="1350"/>
            </a:p>
          </p:txBody>
        </p:sp>
        <p:sp>
          <p:nvSpPr>
            <p:cNvPr id="23" name="object 23"/>
            <p:cNvSpPr/>
            <p:nvPr/>
          </p:nvSpPr>
          <p:spPr>
            <a:xfrm>
              <a:off x="8357616" y="1115822"/>
              <a:ext cx="2734310" cy="311150"/>
            </a:xfrm>
            <a:custGeom>
              <a:avLst/>
              <a:gdLst/>
              <a:ahLst/>
              <a:cxnLst/>
              <a:rect l="l" t="t" r="r" b="b"/>
              <a:pathLst>
                <a:path w="2734309" h="311150">
                  <a:moveTo>
                    <a:pt x="2578607" y="0"/>
                  </a:moveTo>
                  <a:lnTo>
                    <a:pt x="155448" y="0"/>
                  </a:lnTo>
                  <a:lnTo>
                    <a:pt x="106314" y="7925"/>
                  </a:lnTo>
                  <a:lnTo>
                    <a:pt x="63642" y="30000"/>
                  </a:lnTo>
                  <a:lnTo>
                    <a:pt x="29992" y="63669"/>
                  </a:lnTo>
                  <a:lnTo>
                    <a:pt x="7924" y="106379"/>
                  </a:lnTo>
                  <a:lnTo>
                    <a:pt x="0" y="155575"/>
                  </a:lnTo>
                  <a:lnTo>
                    <a:pt x="0" y="311023"/>
                  </a:lnTo>
                  <a:lnTo>
                    <a:pt x="2734055" y="311023"/>
                  </a:lnTo>
                  <a:lnTo>
                    <a:pt x="2734055" y="155575"/>
                  </a:lnTo>
                  <a:lnTo>
                    <a:pt x="2726131" y="106379"/>
                  </a:lnTo>
                  <a:lnTo>
                    <a:pt x="2704063" y="63669"/>
                  </a:lnTo>
                  <a:lnTo>
                    <a:pt x="2670413" y="30000"/>
                  </a:lnTo>
                  <a:lnTo>
                    <a:pt x="2627741" y="7925"/>
                  </a:lnTo>
                  <a:lnTo>
                    <a:pt x="2578607" y="0"/>
                  </a:lnTo>
                  <a:close/>
                </a:path>
              </a:pathLst>
            </a:custGeom>
            <a:solidFill>
              <a:srgbClr val="C8ABF5"/>
            </a:solidFill>
          </p:spPr>
          <p:txBody>
            <a:bodyPr wrap="square" lIns="0" tIns="0" rIns="0" bIns="0" rtlCol="0"/>
            <a:lstStyle/>
            <a:p>
              <a:endParaRPr sz="1350"/>
            </a:p>
          </p:txBody>
        </p:sp>
      </p:grpSp>
      <p:sp>
        <p:nvSpPr>
          <p:cNvPr id="24" name="object 24"/>
          <p:cNvSpPr txBox="1"/>
          <p:nvPr/>
        </p:nvSpPr>
        <p:spPr>
          <a:xfrm>
            <a:off x="6416898" y="759768"/>
            <a:ext cx="1760696" cy="820257"/>
          </a:xfrm>
          <a:prstGeom prst="rect">
            <a:avLst/>
          </a:prstGeom>
        </p:spPr>
        <p:txBody>
          <a:bodyPr vert="horz" wrap="square" lIns="0" tIns="83344" rIns="0" bIns="0" rtlCol="0">
            <a:spAutoFit/>
          </a:bodyPr>
          <a:lstStyle/>
          <a:p>
            <a:pPr marL="2381" algn="ctr">
              <a:spcBef>
                <a:spcPts val="656"/>
              </a:spcBef>
            </a:pPr>
            <a:r>
              <a:rPr sz="1350" b="1" spc="-38" dirty="0">
                <a:latin typeface="Arial"/>
                <a:cs typeface="Arial"/>
              </a:rPr>
              <a:t>USER.md</a:t>
            </a:r>
            <a:endParaRPr sz="1350">
              <a:latin typeface="Arial"/>
              <a:cs typeface="Arial"/>
            </a:endParaRPr>
          </a:p>
          <a:p>
            <a:pPr marL="1905" algn="ctr">
              <a:spcBef>
                <a:spcPts val="664"/>
              </a:spcBef>
            </a:pPr>
            <a:r>
              <a:rPr sz="1500" b="1" spc="-176" dirty="0">
                <a:latin typeface="Arial"/>
                <a:cs typeface="Arial"/>
              </a:rPr>
              <a:t>Who</a:t>
            </a:r>
            <a:r>
              <a:rPr sz="1500" b="1" spc="-30" dirty="0">
                <a:latin typeface="Arial"/>
                <a:cs typeface="Arial"/>
              </a:rPr>
              <a:t> </a:t>
            </a:r>
            <a:r>
              <a:rPr sz="1500" b="1" dirty="0">
                <a:latin typeface="Arial"/>
                <a:cs typeface="Arial"/>
              </a:rPr>
              <a:t>I</a:t>
            </a:r>
            <a:r>
              <a:rPr sz="1500" b="1" spc="-26" dirty="0">
                <a:latin typeface="Arial"/>
                <a:cs typeface="Arial"/>
              </a:rPr>
              <a:t> </a:t>
            </a:r>
            <a:r>
              <a:rPr sz="1500" b="1" spc="-15" dirty="0">
                <a:latin typeface="Arial"/>
                <a:cs typeface="Arial"/>
              </a:rPr>
              <a:t>help</a:t>
            </a:r>
            <a:endParaRPr sz="1500">
              <a:latin typeface="Arial"/>
              <a:cs typeface="Arial"/>
            </a:endParaRPr>
          </a:p>
          <a:p>
            <a:pPr algn="ctr">
              <a:spcBef>
                <a:spcPts val="26"/>
              </a:spcBef>
            </a:pPr>
            <a:r>
              <a:rPr sz="1350" spc="-38" dirty="0">
                <a:latin typeface="Tahoma"/>
                <a:cs typeface="Tahoma"/>
              </a:rPr>
              <a:t>User</a:t>
            </a:r>
            <a:r>
              <a:rPr sz="1350" spc="-49" dirty="0">
                <a:latin typeface="Tahoma"/>
                <a:cs typeface="Tahoma"/>
              </a:rPr>
              <a:t> </a:t>
            </a:r>
            <a:r>
              <a:rPr sz="1350" spc="-68" dirty="0">
                <a:latin typeface="Tahoma"/>
                <a:cs typeface="Tahoma"/>
              </a:rPr>
              <a:t>preferences</a:t>
            </a:r>
            <a:r>
              <a:rPr sz="1350" spc="15" dirty="0">
                <a:latin typeface="Tahoma"/>
                <a:cs typeface="Tahoma"/>
              </a:rPr>
              <a:t> </a:t>
            </a:r>
            <a:r>
              <a:rPr sz="1350" spc="-68" dirty="0">
                <a:latin typeface="Tahoma"/>
                <a:cs typeface="Tahoma"/>
              </a:rPr>
              <a:t>&amp;</a:t>
            </a:r>
            <a:r>
              <a:rPr sz="1350" spc="-71" dirty="0">
                <a:latin typeface="Tahoma"/>
                <a:cs typeface="Tahoma"/>
              </a:rPr>
              <a:t> </a:t>
            </a:r>
            <a:r>
              <a:rPr sz="1350" spc="-15" dirty="0">
                <a:latin typeface="Tahoma"/>
                <a:cs typeface="Tahoma"/>
              </a:rPr>
              <a:t>goals</a:t>
            </a:r>
            <a:endParaRPr sz="1350">
              <a:latin typeface="Tahoma"/>
              <a:cs typeface="Tahoma"/>
            </a:endParaRPr>
          </a:p>
        </p:txBody>
      </p:sp>
      <p:grpSp>
        <p:nvGrpSpPr>
          <p:cNvPr id="25" name="object 25"/>
          <p:cNvGrpSpPr/>
          <p:nvPr/>
        </p:nvGrpSpPr>
        <p:grpSpPr>
          <a:xfrm>
            <a:off x="740664" y="1845278"/>
            <a:ext cx="2050733" cy="843915"/>
            <a:chOff x="987552" y="2460370"/>
            <a:chExt cx="2734310" cy="1125220"/>
          </a:xfrm>
        </p:grpSpPr>
        <p:sp>
          <p:nvSpPr>
            <p:cNvPr id="26" name="object 26"/>
            <p:cNvSpPr/>
            <p:nvPr/>
          </p:nvSpPr>
          <p:spPr>
            <a:xfrm>
              <a:off x="987552" y="2460370"/>
              <a:ext cx="2734310" cy="1125220"/>
            </a:xfrm>
            <a:custGeom>
              <a:avLst/>
              <a:gdLst/>
              <a:ahLst/>
              <a:cxnLst/>
              <a:rect l="l" t="t" r="r" b="b"/>
              <a:pathLst>
                <a:path w="2734310" h="1125220">
                  <a:moveTo>
                    <a:pt x="2609342" y="0"/>
                  </a:moveTo>
                  <a:lnTo>
                    <a:pt x="124663" y="0"/>
                  </a:lnTo>
                  <a:lnTo>
                    <a:pt x="76139" y="9788"/>
                  </a:lnTo>
                  <a:lnTo>
                    <a:pt x="36514" y="36496"/>
                  </a:lnTo>
                  <a:lnTo>
                    <a:pt x="9797" y="76134"/>
                  </a:lnTo>
                  <a:lnTo>
                    <a:pt x="0" y="124713"/>
                  </a:lnTo>
                  <a:lnTo>
                    <a:pt x="0" y="1000251"/>
                  </a:lnTo>
                  <a:lnTo>
                    <a:pt x="9797" y="1048777"/>
                  </a:lnTo>
                  <a:lnTo>
                    <a:pt x="36514" y="1088421"/>
                  </a:lnTo>
                  <a:lnTo>
                    <a:pt x="76139" y="1115159"/>
                  </a:lnTo>
                  <a:lnTo>
                    <a:pt x="124663" y="1124965"/>
                  </a:lnTo>
                  <a:lnTo>
                    <a:pt x="2609342" y="1124965"/>
                  </a:lnTo>
                  <a:lnTo>
                    <a:pt x="2657921" y="1115159"/>
                  </a:lnTo>
                  <a:lnTo>
                    <a:pt x="2697559" y="1088421"/>
                  </a:lnTo>
                  <a:lnTo>
                    <a:pt x="2724267" y="1048777"/>
                  </a:lnTo>
                  <a:lnTo>
                    <a:pt x="2734056" y="1000251"/>
                  </a:lnTo>
                  <a:lnTo>
                    <a:pt x="2734056" y="124713"/>
                  </a:lnTo>
                  <a:lnTo>
                    <a:pt x="2724267" y="76134"/>
                  </a:lnTo>
                  <a:lnTo>
                    <a:pt x="2697559" y="36496"/>
                  </a:lnTo>
                  <a:lnTo>
                    <a:pt x="2657921" y="9788"/>
                  </a:lnTo>
                  <a:lnTo>
                    <a:pt x="2609342" y="0"/>
                  </a:lnTo>
                  <a:close/>
                </a:path>
              </a:pathLst>
            </a:custGeom>
            <a:solidFill>
              <a:srgbClr val="E3F1E7"/>
            </a:solidFill>
          </p:spPr>
          <p:txBody>
            <a:bodyPr wrap="square" lIns="0" tIns="0" rIns="0" bIns="0" rtlCol="0"/>
            <a:lstStyle/>
            <a:p>
              <a:endParaRPr sz="1350"/>
            </a:p>
          </p:txBody>
        </p:sp>
        <p:sp>
          <p:nvSpPr>
            <p:cNvPr id="27" name="object 27"/>
            <p:cNvSpPr/>
            <p:nvPr/>
          </p:nvSpPr>
          <p:spPr>
            <a:xfrm>
              <a:off x="987552" y="2460370"/>
              <a:ext cx="2734310" cy="311150"/>
            </a:xfrm>
            <a:custGeom>
              <a:avLst/>
              <a:gdLst/>
              <a:ahLst/>
              <a:cxnLst/>
              <a:rect l="l" t="t" r="r" b="b"/>
              <a:pathLst>
                <a:path w="2734310" h="311150">
                  <a:moveTo>
                    <a:pt x="2578608" y="0"/>
                  </a:moveTo>
                  <a:lnTo>
                    <a:pt x="155447" y="0"/>
                  </a:lnTo>
                  <a:lnTo>
                    <a:pt x="106314" y="7924"/>
                  </a:lnTo>
                  <a:lnTo>
                    <a:pt x="63642" y="29992"/>
                  </a:lnTo>
                  <a:lnTo>
                    <a:pt x="29992" y="63642"/>
                  </a:lnTo>
                  <a:lnTo>
                    <a:pt x="7924" y="106314"/>
                  </a:lnTo>
                  <a:lnTo>
                    <a:pt x="0" y="155448"/>
                  </a:lnTo>
                  <a:lnTo>
                    <a:pt x="0" y="310895"/>
                  </a:lnTo>
                  <a:lnTo>
                    <a:pt x="2734056" y="310895"/>
                  </a:lnTo>
                  <a:lnTo>
                    <a:pt x="2734056" y="155448"/>
                  </a:lnTo>
                  <a:lnTo>
                    <a:pt x="2726131" y="106314"/>
                  </a:lnTo>
                  <a:lnTo>
                    <a:pt x="2704063" y="63642"/>
                  </a:lnTo>
                  <a:lnTo>
                    <a:pt x="2670413" y="29992"/>
                  </a:lnTo>
                  <a:lnTo>
                    <a:pt x="2627741" y="7924"/>
                  </a:lnTo>
                  <a:lnTo>
                    <a:pt x="2578608" y="0"/>
                  </a:lnTo>
                  <a:close/>
                </a:path>
              </a:pathLst>
            </a:custGeom>
            <a:solidFill>
              <a:srgbClr val="AFDEBC"/>
            </a:solidFill>
          </p:spPr>
          <p:txBody>
            <a:bodyPr wrap="square" lIns="0" tIns="0" rIns="0" bIns="0" rtlCol="0"/>
            <a:lstStyle/>
            <a:p>
              <a:endParaRPr sz="1350"/>
            </a:p>
          </p:txBody>
        </p:sp>
      </p:grpSp>
      <p:sp>
        <p:nvSpPr>
          <p:cNvPr id="28" name="object 28"/>
          <p:cNvSpPr txBox="1"/>
          <p:nvPr/>
        </p:nvSpPr>
        <p:spPr>
          <a:xfrm>
            <a:off x="870195" y="1772459"/>
            <a:ext cx="1794986" cy="820257"/>
          </a:xfrm>
          <a:prstGeom prst="rect">
            <a:avLst/>
          </a:prstGeom>
        </p:spPr>
        <p:txBody>
          <a:bodyPr vert="horz" wrap="square" lIns="0" tIns="83344" rIns="0" bIns="0" rtlCol="0">
            <a:spAutoFit/>
          </a:bodyPr>
          <a:lstStyle/>
          <a:p>
            <a:pPr algn="ctr">
              <a:spcBef>
                <a:spcPts val="656"/>
              </a:spcBef>
            </a:pPr>
            <a:r>
              <a:rPr sz="1350" b="1" spc="-38" dirty="0">
                <a:latin typeface="Arial"/>
                <a:cs typeface="Arial"/>
              </a:rPr>
              <a:t>SOUL.md</a:t>
            </a:r>
            <a:endParaRPr sz="1350" dirty="0">
              <a:latin typeface="Arial"/>
              <a:cs typeface="Arial"/>
            </a:endParaRPr>
          </a:p>
          <a:p>
            <a:pPr marL="4286" algn="ctr">
              <a:spcBef>
                <a:spcPts val="668"/>
              </a:spcBef>
            </a:pPr>
            <a:r>
              <a:rPr sz="1500" b="1" spc="-176" dirty="0">
                <a:latin typeface="Arial"/>
                <a:cs typeface="Arial"/>
              </a:rPr>
              <a:t>How</a:t>
            </a:r>
            <a:r>
              <a:rPr sz="1500" b="1" spc="-15" dirty="0">
                <a:latin typeface="Arial"/>
                <a:cs typeface="Arial"/>
              </a:rPr>
              <a:t> </a:t>
            </a:r>
            <a:r>
              <a:rPr sz="1500" b="1" dirty="0">
                <a:latin typeface="Arial"/>
                <a:cs typeface="Arial"/>
              </a:rPr>
              <a:t>I</a:t>
            </a:r>
            <a:r>
              <a:rPr sz="1500" b="1" spc="-75" dirty="0">
                <a:latin typeface="Arial"/>
                <a:cs typeface="Arial"/>
              </a:rPr>
              <a:t> </a:t>
            </a:r>
            <a:r>
              <a:rPr sz="1500" b="1" spc="-23" dirty="0">
                <a:latin typeface="Arial"/>
                <a:cs typeface="Arial"/>
              </a:rPr>
              <a:t>choose</a:t>
            </a:r>
            <a:endParaRPr sz="1500" dirty="0">
              <a:latin typeface="Arial"/>
              <a:cs typeface="Arial"/>
            </a:endParaRPr>
          </a:p>
          <a:p>
            <a:pPr algn="ctr">
              <a:spcBef>
                <a:spcPts val="26"/>
              </a:spcBef>
            </a:pPr>
            <a:r>
              <a:rPr sz="1350" dirty="0">
                <a:latin typeface="Tahoma"/>
                <a:cs typeface="Tahoma"/>
              </a:rPr>
              <a:t>My</a:t>
            </a:r>
            <a:r>
              <a:rPr sz="1350" spc="-94" dirty="0">
                <a:latin typeface="Tahoma"/>
                <a:cs typeface="Tahoma"/>
              </a:rPr>
              <a:t> </a:t>
            </a:r>
            <a:r>
              <a:rPr sz="1350" spc="-64" dirty="0">
                <a:latin typeface="Tahoma"/>
                <a:cs typeface="Tahoma"/>
              </a:rPr>
              <a:t>personality</a:t>
            </a:r>
            <a:r>
              <a:rPr sz="1350" spc="-60" dirty="0">
                <a:latin typeface="Tahoma"/>
                <a:cs typeface="Tahoma"/>
              </a:rPr>
              <a:t> </a:t>
            </a:r>
            <a:r>
              <a:rPr sz="1350" spc="-90" dirty="0">
                <a:latin typeface="Tahoma"/>
                <a:cs typeface="Tahoma"/>
              </a:rPr>
              <a:t>and</a:t>
            </a:r>
            <a:r>
              <a:rPr sz="1350" spc="-75" dirty="0">
                <a:latin typeface="Tahoma"/>
                <a:cs typeface="Tahoma"/>
              </a:rPr>
              <a:t> </a:t>
            </a:r>
            <a:r>
              <a:rPr sz="1350" spc="-30" dirty="0">
                <a:latin typeface="Tahoma"/>
                <a:cs typeface="Tahoma"/>
              </a:rPr>
              <a:t>values</a:t>
            </a:r>
            <a:endParaRPr sz="1350" dirty="0">
              <a:latin typeface="Tahoma"/>
              <a:cs typeface="Tahoma"/>
            </a:endParaRPr>
          </a:p>
        </p:txBody>
      </p:sp>
      <p:grpSp>
        <p:nvGrpSpPr>
          <p:cNvPr id="29" name="object 29"/>
          <p:cNvGrpSpPr/>
          <p:nvPr/>
        </p:nvGrpSpPr>
        <p:grpSpPr>
          <a:xfrm>
            <a:off x="740664" y="2860548"/>
            <a:ext cx="2050733" cy="843915"/>
            <a:chOff x="987552" y="3814064"/>
            <a:chExt cx="2734310" cy="1125220"/>
          </a:xfrm>
        </p:grpSpPr>
        <p:sp>
          <p:nvSpPr>
            <p:cNvPr id="30" name="object 30"/>
            <p:cNvSpPr/>
            <p:nvPr/>
          </p:nvSpPr>
          <p:spPr>
            <a:xfrm>
              <a:off x="987552" y="3814064"/>
              <a:ext cx="2734310" cy="1125220"/>
            </a:xfrm>
            <a:custGeom>
              <a:avLst/>
              <a:gdLst/>
              <a:ahLst/>
              <a:cxnLst/>
              <a:rect l="l" t="t" r="r" b="b"/>
              <a:pathLst>
                <a:path w="2734310" h="1125220">
                  <a:moveTo>
                    <a:pt x="2609342" y="0"/>
                  </a:moveTo>
                  <a:lnTo>
                    <a:pt x="124663" y="0"/>
                  </a:lnTo>
                  <a:lnTo>
                    <a:pt x="76139" y="9786"/>
                  </a:lnTo>
                  <a:lnTo>
                    <a:pt x="36514" y="36480"/>
                  </a:lnTo>
                  <a:lnTo>
                    <a:pt x="9797" y="76080"/>
                  </a:lnTo>
                  <a:lnTo>
                    <a:pt x="0" y="124587"/>
                  </a:lnTo>
                  <a:lnTo>
                    <a:pt x="0" y="1000252"/>
                  </a:lnTo>
                  <a:lnTo>
                    <a:pt x="9797" y="1048777"/>
                  </a:lnTo>
                  <a:lnTo>
                    <a:pt x="36514" y="1088421"/>
                  </a:lnTo>
                  <a:lnTo>
                    <a:pt x="76139" y="1115159"/>
                  </a:lnTo>
                  <a:lnTo>
                    <a:pt x="124663" y="1124966"/>
                  </a:lnTo>
                  <a:lnTo>
                    <a:pt x="2609342" y="1124966"/>
                  </a:lnTo>
                  <a:lnTo>
                    <a:pt x="2657921" y="1115159"/>
                  </a:lnTo>
                  <a:lnTo>
                    <a:pt x="2697559" y="1088421"/>
                  </a:lnTo>
                  <a:lnTo>
                    <a:pt x="2724267" y="1048777"/>
                  </a:lnTo>
                  <a:lnTo>
                    <a:pt x="2734056" y="1000252"/>
                  </a:lnTo>
                  <a:lnTo>
                    <a:pt x="2734056" y="124587"/>
                  </a:lnTo>
                  <a:lnTo>
                    <a:pt x="2724267" y="76080"/>
                  </a:lnTo>
                  <a:lnTo>
                    <a:pt x="2697559" y="36480"/>
                  </a:lnTo>
                  <a:lnTo>
                    <a:pt x="2657921" y="9786"/>
                  </a:lnTo>
                  <a:lnTo>
                    <a:pt x="2609342" y="0"/>
                  </a:lnTo>
                  <a:close/>
                </a:path>
              </a:pathLst>
            </a:custGeom>
            <a:solidFill>
              <a:srgbClr val="FCF1E1"/>
            </a:solidFill>
          </p:spPr>
          <p:txBody>
            <a:bodyPr wrap="square" lIns="0" tIns="0" rIns="0" bIns="0" rtlCol="0"/>
            <a:lstStyle/>
            <a:p>
              <a:endParaRPr sz="1350"/>
            </a:p>
          </p:txBody>
        </p:sp>
        <p:sp>
          <p:nvSpPr>
            <p:cNvPr id="31" name="object 31"/>
            <p:cNvSpPr/>
            <p:nvPr/>
          </p:nvSpPr>
          <p:spPr>
            <a:xfrm>
              <a:off x="987552" y="3814064"/>
              <a:ext cx="2734310" cy="311150"/>
            </a:xfrm>
            <a:custGeom>
              <a:avLst/>
              <a:gdLst/>
              <a:ahLst/>
              <a:cxnLst/>
              <a:rect l="l" t="t" r="r" b="b"/>
              <a:pathLst>
                <a:path w="2734310" h="311150">
                  <a:moveTo>
                    <a:pt x="2578608" y="0"/>
                  </a:moveTo>
                  <a:lnTo>
                    <a:pt x="155447" y="0"/>
                  </a:lnTo>
                  <a:lnTo>
                    <a:pt x="106314" y="7924"/>
                  </a:lnTo>
                  <a:lnTo>
                    <a:pt x="63642" y="29992"/>
                  </a:lnTo>
                  <a:lnTo>
                    <a:pt x="29992" y="63642"/>
                  </a:lnTo>
                  <a:lnTo>
                    <a:pt x="7924" y="106314"/>
                  </a:lnTo>
                  <a:lnTo>
                    <a:pt x="0" y="155448"/>
                  </a:lnTo>
                  <a:lnTo>
                    <a:pt x="0" y="310896"/>
                  </a:lnTo>
                  <a:lnTo>
                    <a:pt x="2734056" y="310896"/>
                  </a:lnTo>
                  <a:lnTo>
                    <a:pt x="2734056" y="155448"/>
                  </a:lnTo>
                  <a:lnTo>
                    <a:pt x="2726131" y="106314"/>
                  </a:lnTo>
                  <a:lnTo>
                    <a:pt x="2704063" y="63642"/>
                  </a:lnTo>
                  <a:lnTo>
                    <a:pt x="2670413" y="29992"/>
                  </a:lnTo>
                  <a:lnTo>
                    <a:pt x="2627741" y="7924"/>
                  </a:lnTo>
                  <a:lnTo>
                    <a:pt x="2578608" y="0"/>
                  </a:lnTo>
                  <a:close/>
                </a:path>
              </a:pathLst>
            </a:custGeom>
            <a:solidFill>
              <a:srgbClr val="FCD49E"/>
            </a:solidFill>
          </p:spPr>
          <p:txBody>
            <a:bodyPr wrap="square" lIns="0" tIns="0" rIns="0" bIns="0" rtlCol="0"/>
            <a:lstStyle/>
            <a:p>
              <a:endParaRPr sz="1350"/>
            </a:p>
          </p:txBody>
        </p:sp>
      </p:grpSp>
      <p:sp>
        <p:nvSpPr>
          <p:cNvPr id="32" name="object 32"/>
          <p:cNvSpPr txBox="1"/>
          <p:nvPr/>
        </p:nvSpPr>
        <p:spPr>
          <a:xfrm>
            <a:off x="886977" y="2786490"/>
            <a:ext cx="1764030" cy="820257"/>
          </a:xfrm>
          <a:prstGeom prst="rect">
            <a:avLst/>
          </a:prstGeom>
        </p:spPr>
        <p:txBody>
          <a:bodyPr vert="horz" wrap="square" lIns="0" tIns="83344" rIns="0" bIns="0" rtlCol="0">
            <a:spAutoFit/>
          </a:bodyPr>
          <a:lstStyle/>
          <a:p>
            <a:pPr marL="1429" algn="ctr">
              <a:spcBef>
                <a:spcPts val="656"/>
              </a:spcBef>
            </a:pPr>
            <a:r>
              <a:rPr sz="1350" b="1" spc="-199" dirty="0">
                <a:latin typeface="Arial"/>
                <a:cs typeface="Arial"/>
              </a:rPr>
              <a:t>HEARTBEAT.md</a:t>
            </a:r>
            <a:endParaRPr sz="1350">
              <a:latin typeface="Arial"/>
              <a:cs typeface="Arial"/>
            </a:endParaRPr>
          </a:p>
          <a:p>
            <a:pPr algn="ctr">
              <a:spcBef>
                <a:spcPts val="668"/>
              </a:spcBef>
            </a:pPr>
            <a:r>
              <a:rPr sz="1500" b="1" spc="-127" dirty="0">
                <a:latin typeface="Arial"/>
                <a:cs typeface="Arial"/>
              </a:rPr>
              <a:t>What</a:t>
            </a:r>
            <a:r>
              <a:rPr sz="1500" b="1" spc="-38" dirty="0">
                <a:latin typeface="Arial"/>
                <a:cs typeface="Arial"/>
              </a:rPr>
              <a:t> </a:t>
            </a:r>
            <a:r>
              <a:rPr sz="1500" b="1" dirty="0">
                <a:latin typeface="Arial"/>
                <a:cs typeface="Arial"/>
              </a:rPr>
              <a:t>I</a:t>
            </a:r>
            <a:r>
              <a:rPr sz="1500" b="1" spc="-19" dirty="0">
                <a:latin typeface="Arial"/>
                <a:cs typeface="Arial"/>
              </a:rPr>
              <a:t> </a:t>
            </a:r>
            <a:r>
              <a:rPr sz="1500" b="1" spc="-153" dirty="0">
                <a:latin typeface="Arial"/>
                <a:cs typeface="Arial"/>
              </a:rPr>
              <a:t>check</a:t>
            </a:r>
            <a:r>
              <a:rPr sz="1500" b="1" spc="-4" dirty="0">
                <a:latin typeface="Arial"/>
                <a:cs typeface="Arial"/>
              </a:rPr>
              <a:t> </a:t>
            </a:r>
            <a:r>
              <a:rPr sz="1500" b="1" spc="-86" dirty="0">
                <a:latin typeface="Arial"/>
                <a:cs typeface="Arial"/>
              </a:rPr>
              <a:t>regularly</a:t>
            </a:r>
            <a:endParaRPr sz="1500">
              <a:latin typeface="Arial"/>
              <a:cs typeface="Arial"/>
            </a:endParaRPr>
          </a:p>
          <a:p>
            <a:pPr marL="476" algn="ctr">
              <a:spcBef>
                <a:spcPts val="26"/>
              </a:spcBef>
            </a:pPr>
            <a:r>
              <a:rPr sz="1350" dirty="0">
                <a:latin typeface="Tahoma"/>
                <a:cs typeface="Tahoma"/>
              </a:rPr>
              <a:t>My</a:t>
            </a:r>
            <a:r>
              <a:rPr sz="1350" spc="-79" dirty="0">
                <a:latin typeface="Tahoma"/>
                <a:cs typeface="Tahoma"/>
              </a:rPr>
              <a:t> </a:t>
            </a:r>
            <a:r>
              <a:rPr sz="1350" spc="-56" dirty="0">
                <a:latin typeface="Tahoma"/>
                <a:cs typeface="Tahoma"/>
              </a:rPr>
              <a:t>recurring</a:t>
            </a:r>
            <a:r>
              <a:rPr sz="1350" spc="-71" dirty="0">
                <a:latin typeface="Tahoma"/>
                <a:cs typeface="Tahoma"/>
              </a:rPr>
              <a:t> </a:t>
            </a:r>
            <a:r>
              <a:rPr sz="1350" spc="-8" dirty="0">
                <a:latin typeface="Tahoma"/>
                <a:cs typeface="Tahoma"/>
              </a:rPr>
              <a:t>events</a:t>
            </a:r>
            <a:endParaRPr sz="1350">
              <a:latin typeface="Tahoma"/>
              <a:cs typeface="Tahoma"/>
            </a:endParaRPr>
          </a:p>
        </p:txBody>
      </p:sp>
      <p:grpSp>
        <p:nvGrpSpPr>
          <p:cNvPr id="33" name="object 33"/>
          <p:cNvGrpSpPr/>
          <p:nvPr/>
        </p:nvGrpSpPr>
        <p:grpSpPr>
          <a:xfrm>
            <a:off x="740664" y="3868864"/>
            <a:ext cx="2050733" cy="843915"/>
            <a:chOff x="987552" y="5158485"/>
            <a:chExt cx="2734310" cy="1125220"/>
          </a:xfrm>
        </p:grpSpPr>
        <p:sp>
          <p:nvSpPr>
            <p:cNvPr id="34" name="object 34"/>
            <p:cNvSpPr/>
            <p:nvPr/>
          </p:nvSpPr>
          <p:spPr>
            <a:xfrm>
              <a:off x="987552" y="5158485"/>
              <a:ext cx="2734310" cy="1125220"/>
            </a:xfrm>
            <a:custGeom>
              <a:avLst/>
              <a:gdLst/>
              <a:ahLst/>
              <a:cxnLst/>
              <a:rect l="l" t="t" r="r" b="b"/>
              <a:pathLst>
                <a:path w="2734310" h="1125220">
                  <a:moveTo>
                    <a:pt x="2609342" y="0"/>
                  </a:moveTo>
                  <a:lnTo>
                    <a:pt x="124663" y="0"/>
                  </a:lnTo>
                  <a:lnTo>
                    <a:pt x="76139" y="9806"/>
                  </a:lnTo>
                  <a:lnTo>
                    <a:pt x="36514" y="36544"/>
                  </a:lnTo>
                  <a:lnTo>
                    <a:pt x="9797" y="76188"/>
                  </a:lnTo>
                  <a:lnTo>
                    <a:pt x="0" y="124713"/>
                  </a:lnTo>
                  <a:lnTo>
                    <a:pt x="0" y="1000315"/>
                  </a:lnTo>
                  <a:lnTo>
                    <a:pt x="9797" y="1048855"/>
                  </a:lnTo>
                  <a:lnTo>
                    <a:pt x="36514" y="1088493"/>
                  </a:lnTo>
                  <a:lnTo>
                    <a:pt x="76139" y="1115217"/>
                  </a:lnTo>
                  <a:lnTo>
                    <a:pt x="124663" y="1125016"/>
                  </a:lnTo>
                  <a:lnTo>
                    <a:pt x="2609342" y="1125016"/>
                  </a:lnTo>
                  <a:lnTo>
                    <a:pt x="2657921" y="1115217"/>
                  </a:lnTo>
                  <a:lnTo>
                    <a:pt x="2697559" y="1088493"/>
                  </a:lnTo>
                  <a:lnTo>
                    <a:pt x="2724267" y="1048855"/>
                  </a:lnTo>
                  <a:lnTo>
                    <a:pt x="2734056" y="1000315"/>
                  </a:lnTo>
                  <a:lnTo>
                    <a:pt x="2734056" y="124713"/>
                  </a:lnTo>
                  <a:lnTo>
                    <a:pt x="2724267" y="76188"/>
                  </a:lnTo>
                  <a:lnTo>
                    <a:pt x="2697559" y="36544"/>
                  </a:lnTo>
                  <a:lnTo>
                    <a:pt x="2657921" y="9806"/>
                  </a:lnTo>
                  <a:lnTo>
                    <a:pt x="2609342" y="0"/>
                  </a:lnTo>
                  <a:close/>
                </a:path>
              </a:pathLst>
            </a:custGeom>
            <a:solidFill>
              <a:srgbClr val="F3DBDF"/>
            </a:solidFill>
          </p:spPr>
          <p:txBody>
            <a:bodyPr wrap="square" lIns="0" tIns="0" rIns="0" bIns="0" rtlCol="0"/>
            <a:lstStyle/>
            <a:p>
              <a:endParaRPr sz="1350"/>
            </a:p>
          </p:txBody>
        </p:sp>
        <p:sp>
          <p:nvSpPr>
            <p:cNvPr id="35" name="object 35"/>
            <p:cNvSpPr/>
            <p:nvPr/>
          </p:nvSpPr>
          <p:spPr>
            <a:xfrm>
              <a:off x="987552" y="5158485"/>
              <a:ext cx="2734310" cy="311150"/>
            </a:xfrm>
            <a:custGeom>
              <a:avLst/>
              <a:gdLst/>
              <a:ahLst/>
              <a:cxnLst/>
              <a:rect l="l" t="t" r="r" b="b"/>
              <a:pathLst>
                <a:path w="2734310" h="311150">
                  <a:moveTo>
                    <a:pt x="2578608" y="0"/>
                  </a:moveTo>
                  <a:lnTo>
                    <a:pt x="155447" y="0"/>
                  </a:lnTo>
                  <a:lnTo>
                    <a:pt x="106314" y="7924"/>
                  </a:lnTo>
                  <a:lnTo>
                    <a:pt x="63642" y="29992"/>
                  </a:lnTo>
                  <a:lnTo>
                    <a:pt x="29992" y="63642"/>
                  </a:lnTo>
                  <a:lnTo>
                    <a:pt x="7924" y="106314"/>
                  </a:lnTo>
                  <a:lnTo>
                    <a:pt x="0" y="155447"/>
                  </a:lnTo>
                  <a:lnTo>
                    <a:pt x="0" y="311022"/>
                  </a:lnTo>
                  <a:lnTo>
                    <a:pt x="2734056" y="311022"/>
                  </a:lnTo>
                  <a:lnTo>
                    <a:pt x="2734056" y="155447"/>
                  </a:lnTo>
                  <a:lnTo>
                    <a:pt x="2726131" y="106314"/>
                  </a:lnTo>
                  <a:lnTo>
                    <a:pt x="2704063" y="63642"/>
                  </a:lnTo>
                  <a:lnTo>
                    <a:pt x="2670413" y="29992"/>
                  </a:lnTo>
                  <a:lnTo>
                    <a:pt x="2627741" y="7924"/>
                  </a:lnTo>
                  <a:lnTo>
                    <a:pt x="2578608" y="0"/>
                  </a:lnTo>
                  <a:close/>
                </a:path>
              </a:pathLst>
            </a:custGeom>
            <a:solidFill>
              <a:srgbClr val="DB92A1"/>
            </a:solidFill>
          </p:spPr>
          <p:txBody>
            <a:bodyPr wrap="square" lIns="0" tIns="0" rIns="0" bIns="0" rtlCol="0"/>
            <a:lstStyle/>
            <a:p>
              <a:endParaRPr sz="1350"/>
            </a:p>
          </p:txBody>
        </p:sp>
      </p:grpSp>
      <p:sp>
        <p:nvSpPr>
          <p:cNvPr id="36" name="object 36"/>
          <p:cNvSpPr txBox="1"/>
          <p:nvPr/>
        </p:nvSpPr>
        <p:spPr>
          <a:xfrm>
            <a:off x="1099375" y="3799403"/>
            <a:ext cx="1336358" cy="820738"/>
          </a:xfrm>
          <a:prstGeom prst="rect">
            <a:avLst/>
          </a:prstGeom>
        </p:spPr>
        <p:txBody>
          <a:bodyPr vert="horz" wrap="square" lIns="0" tIns="83820" rIns="0" bIns="0" rtlCol="0">
            <a:spAutoFit/>
          </a:bodyPr>
          <a:lstStyle/>
          <a:p>
            <a:pPr marL="4286" algn="ctr">
              <a:spcBef>
                <a:spcPts val="660"/>
              </a:spcBef>
            </a:pPr>
            <a:r>
              <a:rPr sz="1350" b="1" spc="-75" dirty="0">
                <a:latin typeface="Arial"/>
                <a:cs typeface="Arial"/>
              </a:rPr>
              <a:t>AGENTS.md</a:t>
            </a:r>
            <a:endParaRPr sz="1350">
              <a:latin typeface="Arial"/>
              <a:cs typeface="Arial"/>
            </a:endParaRPr>
          </a:p>
          <a:p>
            <a:pPr marL="3334" algn="ctr">
              <a:spcBef>
                <a:spcPts val="668"/>
              </a:spcBef>
            </a:pPr>
            <a:r>
              <a:rPr sz="1500" b="1" spc="-176" dirty="0">
                <a:latin typeface="Arial"/>
                <a:cs typeface="Arial"/>
              </a:rPr>
              <a:t>How</a:t>
            </a:r>
            <a:r>
              <a:rPr sz="1500" b="1" spc="-15" dirty="0">
                <a:latin typeface="Arial"/>
                <a:cs typeface="Arial"/>
              </a:rPr>
              <a:t> </a:t>
            </a:r>
            <a:r>
              <a:rPr sz="1500" b="1" dirty="0">
                <a:latin typeface="Arial"/>
                <a:cs typeface="Arial"/>
              </a:rPr>
              <a:t>I</a:t>
            </a:r>
            <a:r>
              <a:rPr sz="1500" b="1" spc="-79" dirty="0">
                <a:latin typeface="Arial"/>
                <a:cs typeface="Arial"/>
              </a:rPr>
              <a:t> </a:t>
            </a:r>
            <a:r>
              <a:rPr sz="1500" b="1" spc="-146" dirty="0">
                <a:latin typeface="Arial"/>
                <a:cs typeface="Arial"/>
              </a:rPr>
              <a:t>do</a:t>
            </a:r>
            <a:r>
              <a:rPr sz="1500" b="1" spc="-26" dirty="0">
                <a:latin typeface="Arial"/>
                <a:cs typeface="Arial"/>
              </a:rPr>
              <a:t> </a:t>
            </a:r>
            <a:r>
              <a:rPr sz="1500" b="1" spc="-8" dirty="0">
                <a:latin typeface="Arial"/>
                <a:cs typeface="Arial"/>
              </a:rPr>
              <a:t>things</a:t>
            </a:r>
            <a:endParaRPr sz="1500">
              <a:latin typeface="Arial"/>
              <a:cs typeface="Arial"/>
            </a:endParaRPr>
          </a:p>
          <a:p>
            <a:pPr algn="ctr">
              <a:spcBef>
                <a:spcPts val="26"/>
              </a:spcBef>
            </a:pPr>
            <a:r>
              <a:rPr sz="1350" dirty="0">
                <a:latin typeface="Tahoma"/>
                <a:cs typeface="Tahoma"/>
              </a:rPr>
              <a:t>My</a:t>
            </a:r>
            <a:r>
              <a:rPr sz="1350" spc="-83" dirty="0">
                <a:latin typeface="Tahoma"/>
                <a:cs typeface="Tahoma"/>
              </a:rPr>
              <a:t> </a:t>
            </a:r>
            <a:r>
              <a:rPr sz="1350" spc="-71" dirty="0">
                <a:latin typeface="Tahoma"/>
                <a:cs typeface="Tahoma"/>
              </a:rPr>
              <a:t>core</a:t>
            </a:r>
            <a:r>
              <a:rPr sz="1350" spc="-38" dirty="0">
                <a:latin typeface="Tahoma"/>
                <a:cs typeface="Tahoma"/>
              </a:rPr>
              <a:t> </a:t>
            </a:r>
            <a:r>
              <a:rPr sz="1350" spc="-53" dirty="0">
                <a:latin typeface="Tahoma"/>
                <a:cs typeface="Tahoma"/>
              </a:rPr>
              <a:t>operations</a:t>
            </a:r>
            <a:endParaRPr sz="1350">
              <a:latin typeface="Tahoma"/>
              <a:cs typeface="Tahoma"/>
            </a:endParaRPr>
          </a:p>
        </p:txBody>
      </p:sp>
      <p:sp>
        <p:nvSpPr>
          <p:cNvPr id="37" name="object 37"/>
          <p:cNvSpPr txBox="1">
            <a:spLocks noGrp="1"/>
          </p:cNvSpPr>
          <p:nvPr>
            <p:ph type="sldNum" sz="quarter" idx="7"/>
          </p:nvPr>
        </p:nvSpPr>
        <p:spPr>
          <a:xfrm>
            <a:off x="0" y="0"/>
            <a:ext cx="0" cy="289021"/>
          </a:xfrm>
          <a:prstGeom prst="rect">
            <a:avLst/>
          </a:prstGeom>
        </p:spPr>
        <p:txBody>
          <a:bodyPr vert="horz" wrap="square" lIns="0" tIns="11906" rIns="0" bIns="0" rtlCol="0">
            <a:spAutoFit/>
          </a:bodyPr>
          <a:lstStyle/>
          <a:p>
            <a:pPr marL="9525">
              <a:spcBef>
                <a:spcPts val="94"/>
              </a:spcBef>
            </a:pPr>
            <a:fld id="{81D60167-4931-47E6-BA6A-407CBD079E47}" type="slidenum">
              <a:rPr spc="-19" dirty="0"/>
              <a:pPr marL="9525">
                <a:spcBef>
                  <a:spcPts val="94"/>
                </a:spcBef>
              </a:pPr>
              <a:t>7</a:t>
            </a:fld>
            <a:endParaRPr spc="-19" dirty="0"/>
          </a:p>
        </p:txBody>
      </p:sp>
      <p:sp>
        <p:nvSpPr>
          <p:cNvPr id="38" name="object 38"/>
          <p:cNvSpPr txBox="1"/>
          <p:nvPr/>
        </p:nvSpPr>
        <p:spPr>
          <a:xfrm>
            <a:off x="3679126" y="4961110"/>
            <a:ext cx="2243138" cy="122630"/>
          </a:xfrm>
          <a:prstGeom prst="rect">
            <a:avLst/>
          </a:prstGeom>
        </p:spPr>
        <p:txBody>
          <a:bodyPr vert="horz" wrap="square" lIns="0" tIns="7144" rIns="0" bIns="0" rtlCol="0">
            <a:spAutoFit/>
          </a:bodyPr>
          <a:lstStyle/>
          <a:p>
            <a:pPr marL="9525">
              <a:spcBef>
                <a:spcPts val="56"/>
              </a:spcBef>
            </a:pPr>
            <a:r>
              <a:rPr sz="750" dirty="0">
                <a:solidFill>
                  <a:srgbClr val="FFFFFF"/>
                </a:solidFill>
                <a:latin typeface="Verdana"/>
                <a:cs typeface="Verdana"/>
              </a:rPr>
              <a:t>Copyright</a:t>
            </a:r>
            <a:r>
              <a:rPr sz="750" spc="-45" dirty="0">
                <a:solidFill>
                  <a:srgbClr val="FFFFFF"/>
                </a:solidFill>
                <a:latin typeface="Verdana"/>
                <a:cs typeface="Verdana"/>
              </a:rPr>
              <a:t> </a:t>
            </a:r>
            <a:r>
              <a:rPr sz="750" spc="-143" dirty="0">
                <a:solidFill>
                  <a:srgbClr val="FFFFFF"/>
                </a:solidFill>
                <a:latin typeface="Verdana"/>
                <a:cs typeface="Verdana"/>
              </a:rPr>
              <a:t>©</a:t>
            </a:r>
            <a:r>
              <a:rPr sz="750" spc="-15" dirty="0">
                <a:solidFill>
                  <a:srgbClr val="FFFFFF"/>
                </a:solidFill>
                <a:latin typeface="Verdana"/>
                <a:cs typeface="Verdana"/>
              </a:rPr>
              <a:t> </a:t>
            </a:r>
            <a:r>
              <a:rPr sz="750" spc="-41" dirty="0">
                <a:solidFill>
                  <a:srgbClr val="FFFFFF"/>
                </a:solidFill>
                <a:latin typeface="Verdana"/>
                <a:cs typeface="Verdana"/>
              </a:rPr>
              <a:t>2025</a:t>
            </a:r>
            <a:r>
              <a:rPr sz="750" spc="-60" dirty="0">
                <a:solidFill>
                  <a:srgbClr val="FFFFFF"/>
                </a:solidFill>
                <a:latin typeface="Verdana"/>
                <a:cs typeface="Verdana"/>
              </a:rPr>
              <a:t> </a:t>
            </a:r>
            <a:r>
              <a:rPr sz="750" dirty="0">
                <a:solidFill>
                  <a:srgbClr val="FFFFFF"/>
                </a:solidFill>
                <a:latin typeface="Verdana"/>
                <a:cs typeface="Verdana"/>
              </a:rPr>
              <a:t>CLOUD</a:t>
            </a:r>
            <a:r>
              <a:rPr sz="750" spc="-34" dirty="0">
                <a:solidFill>
                  <a:srgbClr val="FFFFFF"/>
                </a:solidFill>
                <a:latin typeface="Verdana"/>
                <a:cs typeface="Verdana"/>
              </a:rPr>
              <a:t> </a:t>
            </a:r>
            <a:r>
              <a:rPr sz="750" spc="-15" dirty="0">
                <a:solidFill>
                  <a:srgbClr val="FFFFFF"/>
                </a:solidFill>
                <a:latin typeface="Verdana"/>
                <a:cs typeface="Verdana"/>
              </a:rPr>
              <a:t>SECURITY</a:t>
            </a:r>
            <a:r>
              <a:rPr sz="750" spc="11" dirty="0">
                <a:solidFill>
                  <a:srgbClr val="FFFFFF"/>
                </a:solidFill>
                <a:latin typeface="Verdana"/>
                <a:cs typeface="Verdana"/>
              </a:rPr>
              <a:t> </a:t>
            </a:r>
            <a:r>
              <a:rPr sz="750" spc="-8" dirty="0">
                <a:solidFill>
                  <a:srgbClr val="FFFFFF"/>
                </a:solidFill>
                <a:latin typeface="Verdana"/>
                <a:cs typeface="Verdana"/>
              </a:rPr>
              <a:t>ALLIANCE</a:t>
            </a:r>
            <a:endParaRPr sz="750">
              <a:latin typeface="Verdana"/>
              <a:cs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3" name="Text 0"/>
          <p:cNvSpPr/>
          <p:nvPr/>
        </p:nvSpPr>
        <p:spPr>
          <a:xfrm>
            <a:off x="374073" y="733031"/>
            <a:ext cx="3657600" cy="256032"/>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ARCHITECTURE</a:t>
            </a:r>
            <a:endParaRPr lang="en-US" sz="1000" dirty="0"/>
          </a:p>
        </p:txBody>
      </p:sp>
      <p:pic>
        <p:nvPicPr>
          <p:cNvPr id="6" name="Image 1" descr="extracted_images/image33.png"/>
          <p:cNvPicPr>
            <a:picLocks noChangeAspect="1"/>
          </p:cNvPicPr>
          <p:nvPr/>
        </p:nvPicPr>
        <p:blipFill>
          <a:blip r:embed="rId4"/>
          <a:stretch>
            <a:fillRect/>
          </a:stretch>
        </p:blipFill>
        <p:spPr>
          <a:xfrm>
            <a:off x="2202873" y="31817"/>
            <a:ext cx="4195840" cy="51116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4" name="Text 1"/>
          <p:cNvSpPr/>
          <p:nvPr/>
        </p:nvSpPr>
        <p:spPr>
          <a:xfrm>
            <a:off x="411480" y="694944"/>
            <a:ext cx="8229600" cy="457200"/>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Design Blindspots: Hidden Vulnerability Entry Points</a:t>
            </a:r>
            <a:endParaRPr lang="en-US" sz="2200" dirty="0"/>
          </a:p>
        </p:txBody>
      </p:sp>
      <p:sp>
        <p:nvSpPr>
          <p:cNvPr id="5" name="Shape 2"/>
          <p:cNvSpPr/>
          <p:nvPr/>
        </p:nvSpPr>
        <p:spPr>
          <a:xfrm>
            <a:off x="434340" y="1301817"/>
            <a:ext cx="2697480" cy="1170432"/>
          </a:xfrm>
          <a:prstGeom prst="rect">
            <a:avLst/>
          </a:prstGeom>
          <a:solidFill>
            <a:srgbClr val="D9D9D9"/>
          </a:solidFill>
          <a:ln w="12700">
            <a:solidFill>
              <a:srgbClr val="D9D9D9"/>
            </a:solidFill>
            <a:prstDash val="solid"/>
          </a:ln>
        </p:spPr>
        <p:txBody>
          <a:bodyPr/>
          <a:lstStyle/>
          <a:p>
            <a:endParaRPr lang="en-US"/>
          </a:p>
        </p:txBody>
      </p:sp>
      <p:sp>
        <p:nvSpPr>
          <p:cNvPr id="6" name="Shape 3"/>
          <p:cNvSpPr/>
          <p:nvPr/>
        </p:nvSpPr>
        <p:spPr>
          <a:xfrm>
            <a:off x="434340" y="1301817"/>
            <a:ext cx="54864" cy="1170432"/>
          </a:xfrm>
          <a:prstGeom prst="rect">
            <a:avLst/>
          </a:prstGeom>
          <a:solidFill>
            <a:srgbClr val="8B1A1A"/>
          </a:solidFill>
          <a:ln w="12700">
            <a:solidFill>
              <a:srgbClr val="8B1A1A"/>
            </a:solidFill>
            <a:prstDash val="solid"/>
          </a:ln>
        </p:spPr>
        <p:txBody>
          <a:bodyPr/>
          <a:lstStyle/>
          <a:p>
            <a:endParaRPr lang="en-US"/>
          </a:p>
        </p:txBody>
      </p:sp>
      <p:sp>
        <p:nvSpPr>
          <p:cNvPr id="7" name="Text 4"/>
          <p:cNvSpPr/>
          <p:nvPr/>
        </p:nvSpPr>
        <p:spPr>
          <a:xfrm>
            <a:off x="571500" y="1393257"/>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SOUL.md Poisoning</a:t>
            </a:r>
            <a:endParaRPr lang="en-US" sz="1100" dirty="0"/>
          </a:p>
        </p:txBody>
      </p:sp>
      <p:sp>
        <p:nvSpPr>
          <p:cNvPr id="8" name="Text 5"/>
          <p:cNvSpPr/>
          <p:nvPr/>
        </p:nvSpPr>
        <p:spPr>
          <a:xfrm>
            <a:off x="571500" y="1685865"/>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Agent identity, rules &amp; behaviours defined in plain markdown. Easily modified or injected via prompt without detection.</a:t>
            </a:r>
            <a:endParaRPr lang="en-US" sz="850" dirty="0"/>
          </a:p>
        </p:txBody>
      </p:sp>
      <p:sp>
        <p:nvSpPr>
          <p:cNvPr id="9" name="Shape 6"/>
          <p:cNvSpPr/>
          <p:nvPr/>
        </p:nvSpPr>
        <p:spPr>
          <a:xfrm>
            <a:off x="3223260" y="1301817"/>
            <a:ext cx="2697480" cy="1170432"/>
          </a:xfrm>
          <a:prstGeom prst="rect">
            <a:avLst/>
          </a:prstGeom>
          <a:solidFill>
            <a:srgbClr val="D9D9D9"/>
          </a:solidFill>
          <a:ln w="12700">
            <a:solidFill>
              <a:srgbClr val="D9D9D9"/>
            </a:solidFill>
            <a:prstDash val="solid"/>
          </a:ln>
        </p:spPr>
        <p:txBody>
          <a:bodyPr/>
          <a:lstStyle/>
          <a:p>
            <a:endParaRPr lang="en-US"/>
          </a:p>
        </p:txBody>
      </p:sp>
      <p:sp>
        <p:nvSpPr>
          <p:cNvPr id="10" name="Shape 7"/>
          <p:cNvSpPr/>
          <p:nvPr/>
        </p:nvSpPr>
        <p:spPr>
          <a:xfrm>
            <a:off x="3223260" y="1301817"/>
            <a:ext cx="54864" cy="1170432"/>
          </a:xfrm>
          <a:prstGeom prst="rect">
            <a:avLst/>
          </a:prstGeom>
          <a:solidFill>
            <a:srgbClr val="8B1A1A"/>
          </a:solidFill>
          <a:ln w="12700">
            <a:solidFill>
              <a:srgbClr val="8B1A1A"/>
            </a:solidFill>
            <a:prstDash val="solid"/>
          </a:ln>
        </p:spPr>
        <p:txBody>
          <a:bodyPr/>
          <a:lstStyle/>
          <a:p>
            <a:endParaRPr lang="en-US"/>
          </a:p>
        </p:txBody>
      </p:sp>
      <p:sp>
        <p:nvSpPr>
          <p:cNvPr id="11" name="Text 8"/>
          <p:cNvSpPr/>
          <p:nvPr/>
        </p:nvSpPr>
        <p:spPr>
          <a:xfrm>
            <a:off x="3360420" y="1393257"/>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Weak Model Choice</a:t>
            </a:r>
            <a:endParaRPr lang="en-US" sz="1100" dirty="0"/>
          </a:p>
        </p:txBody>
      </p:sp>
      <p:sp>
        <p:nvSpPr>
          <p:cNvPr id="12" name="Text 9"/>
          <p:cNvSpPr/>
          <p:nvPr/>
        </p:nvSpPr>
        <p:spPr>
          <a:xfrm>
            <a:off x="3360420" y="1685865"/>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Using smaller/cheaper LLMs (DeepSeek-R1, GPT-3.5) increases susceptibility to prompt injection by 3–5×.</a:t>
            </a:r>
            <a:endParaRPr lang="en-US" sz="850" dirty="0"/>
          </a:p>
        </p:txBody>
      </p:sp>
      <p:sp>
        <p:nvSpPr>
          <p:cNvPr id="13" name="Shape 10"/>
          <p:cNvSpPr/>
          <p:nvPr/>
        </p:nvSpPr>
        <p:spPr>
          <a:xfrm>
            <a:off x="6012180" y="1301817"/>
            <a:ext cx="2697480" cy="1170432"/>
          </a:xfrm>
          <a:prstGeom prst="rect">
            <a:avLst/>
          </a:prstGeom>
          <a:solidFill>
            <a:srgbClr val="D9D9D9"/>
          </a:solidFill>
          <a:ln w="12700">
            <a:solidFill>
              <a:srgbClr val="D9D9D9"/>
            </a:solidFill>
            <a:prstDash val="solid"/>
          </a:ln>
        </p:spPr>
        <p:txBody>
          <a:bodyPr/>
          <a:lstStyle/>
          <a:p>
            <a:endParaRPr lang="en-US"/>
          </a:p>
        </p:txBody>
      </p:sp>
      <p:sp>
        <p:nvSpPr>
          <p:cNvPr id="14" name="Shape 11"/>
          <p:cNvSpPr/>
          <p:nvPr/>
        </p:nvSpPr>
        <p:spPr>
          <a:xfrm>
            <a:off x="6012180" y="1301817"/>
            <a:ext cx="54864" cy="1170432"/>
          </a:xfrm>
          <a:prstGeom prst="rect">
            <a:avLst/>
          </a:prstGeom>
          <a:solidFill>
            <a:srgbClr val="8B1A1A"/>
          </a:solidFill>
          <a:ln w="12700">
            <a:solidFill>
              <a:srgbClr val="8B1A1A"/>
            </a:solidFill>
            <a:prstDash val="solid"/>
          </a:ln>
        </p:spPr>
        <p:txBody>
          <a:bodyPr/>
          <a:lstStyle/>
          <a:p>
            <a:endParaRPr lang="en-US"/>
          </a:p>
        </p:txBody>
      </p:sp>
      <p:sp>
        <p:nvSpPr>
          <p:cNvPr id="15" name="Text 12"/>
          <p:cNvSpPr/>
          <p:nvPr/>
        </p:nvSpPr>
        <p:spPr>
          <a:xfrm>
            <a:off x="6149340" y="1393257"/>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Memory File Manipulation</a:t>
            </a:r>
            <a:endParaRPr lang="en-US" sz="1100" dirty="0"/>
          </a:p>
        </p:txBody>
      </p:sp>
      <p:sp>
        <p:nvSpPr>
          <p:cNvPr id="16" name="Text 13"/>
          <p:cNvSpPr/>
          <p:nvPr/>
        </p:nvSpPr>
        <p:spPr>
          <a:xfrm>
            <a:off x="6149340" y="1685865"/>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Agent writes diary &amp; identity files daily. Attacker can poison persistent memory to alter all future agent behavior.</a:t>
            </a:r>
            <a:endParaRPr lang="en-US" sz="850" dirty="0"/>
          </a:p>
        </p:txBody>
      </p:sp>
      <p:sp>
        <p:nvSpPr>
          <p:cNvPr id="17" name="Shape 14"/>
          <p:cNvSpPr/>
          <p:nvPr/>
        </p:nvSpPr>
        <p:spPr>
          <a:xfrm>
            <a:off x="434340" y="2563689"/>
            <a:ext cx="2697480" cy="1170432"/>
          </a:xfrm>
          <a:prstGeom prst="rect">
            <a:avLst/>
          </a:prstGeom>
          <a:solidFill>
            <a:srgbClr val="D9D9D9"/>
          </a:solidFill>
          <a:ln w="12700">
            <a:solidFill>
              <a:srgbClr val="D9D9D9"/>
            </a:solidFill>
            <a:prstDash val="solid"/>
          </a:ln>
        </p:spPr>
        <p:txBody>
          <a:bodyPr/>
          <a:lstStyle/>
          <a:p>
            <a:endParaRPr lang="en-US"/>
          </a:p>
        </p:txBody>
      </p:sp>
      <p:sp>
        <p:nvSpPr>
          <p:cNvPr id="18" name="Shape 15"/>
          <p:cNvSpPr/>
          <p:nvPr/>
        </p:nvSpPr>
        <p:spPr>
          <a:xfrm>
            <a:off x="434340" y="2563689"/>
            <a:ext cx="54864" cy="1170432"/>
          </a:xfrm>
          <a:prstGeom prst="rect">
            <a:avLst/>
          </a:prstGeom>
          <a:solidFill>
            <a:srgbClr val="8B1A1A"/>
          </a:solidFill>
          <a:ln w="12700">
            <a:solidFill>
              <a:srgbClr val="8B1A1A"/>
            </a:solidFill>
            <a:prstDash val="solid"/>
          </a:ln>
        </p:spPr>
        <p:txBody>
          <a:bodyPr/>
          <a:lstStyle/>
          <a:p>
            <a:endParaRPr lang="en-US"/>
          </a:p>
        </p:txBody>
      </p:sp>
      <p:sp>
        <p:nvSpPr>
          <p:cNvPr id="19" name="Text 16"/>
          <p:cNvSpPr/>
          <p:nvPr/>
        </p:nvSpPr>
        <p:spPr>
          <a:xfrm>
            <a:off x="571500" y="2655129"/>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Unvetted ClawHub Skills</a:t>
            </a:r>
            <a:endParaRPr lang="en-US" sz="1100" dirty="0"/>
          </a:p>
        </p:txBody>
      </p:sp>
      <p:sp>
        <p:nvSpPr>
          <p:cNvPr id="20" name="Text 17"/>
          <p:cNvSpPr/>
          <p:nvPr/>
        </p:nvSpPr>
        <p:spPr>
          <a:xfrm>
            <a:off x="571500" y="2947737"/>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Skills auto-install npm/pip deps. 12% of ClawHub skills contain malware (Snyk). 9 CVEs in top downloaded skill.</a:t>
            </a:r>
            <a:endParaRPr lang="en-US" sz="850" dirty="0"/>
          </a:p>
        </p:txBody>
      </p:sp>
      <p:sp>
        <p:nvSpPr>
          <p:cNvPr id="21" name="Shape 18"/>
          <p:cNvSpPr/>
          <p:nvPr/>
        </p:nvSpPr>
        <p:spPr>
          <a:xfrm>
            <a:off x="3223260" y="2563689"/>
            <a:ext cx="2697480" cy="1170432"/>
          </a:xfrm>
          <a:prstGeom prst="rect">
            <a:avLst/>
          </a:prstGeom>
          <a:solidFill>
            <a:srgbClr val="D9D9D9"/>
          </a:solidFill>
          <a:ln w="12700">
            <a:solidFill>
              <a:srgbClr val="D9D9D9"/>
            </a:solidFill>
            <a:prstDash val="solid"/>
          </a:ln>
        </p:spPr>
        <p:txBody>
          <a:bodyPr/>
          <a:lstStyle/>
          <a:p>
            <a:endParaRPr lang="en-US"/>
          </a:p>
        </p:txBody>
      </p:sp>
      <p:sp>
        <p:nvSpPr>
          <p:cNvPr id="22" name="Shape 19"/>
          <p:cNvSpPr/>
          <p:nvPr/>
        </p:nvSpPr>
        <p:spPr>
          <a:xfrm>
            <a:off x="3223260" y="2563689"/>
            <a:ext cx="54864" cy="1170432"/>
          </a:xfrm>
          <a:prstGeom prst="rect">
            <a:avLst/>
          </a:prstGeom>
          <a:solidFill>
            <a:srgbClr val="8B1A1A"/>
          </a:solidFill>
          <a:ln w="12700">
            <a:solidFill>
              <a:srgbClr val="8B1A1A"/>
            </a:solidFill>
            <a:prstDash val="solid"/>
          </a:ln>
        </p:spPr>
        <p:txBody>
          <a:bodyPr/>
          <a:lstStyle/>
          <a:p>
            <a:endParaRPr lang="en-US"/>
          </a:p>
        </p:txBody>
      </p:sp>
      <p:sp>
        <p:nvSpPr>
          <p:cNvPr id="23" name="Text 20"/>
          <p:cNvSpPr/>
          <p:nvPr/>
        </p:nvSpPr>
        <p:spPr>
          <a:xfrm>
            <a:off x="3360420" y="2655129"/>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Auth Disabled by Default</a:t>
            </a:r>
            <a:endParaRPr lang="en-US" sz="1100" dirty="0"/>
          </a:p>
        </p:txBody>
      </p:sp>
      <p:sp>
        <p:nvSpPr>
          <p:cNvPr id="24" name="Text 21"/>
          <p:cNvSpPr/>
          <p:nvPr/>
        </p:nvSpPr>
        <p:spPr>
          <a:xfrm>
            <a:off x="3360420" y="2947737"/>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OpenClaw ships with auth off. 40,000+ instances online with no authentication or access controls configured.</a:t>
            </a:r>
            <a:endParaRPr lang="en-US" sz="850" dirty="0"/>
          </a:p>
        </p:txBody>
      </p:sp>
      <p:sp>
        <p:nvSpPr>
          <p:cNvPr id="25" name="Shape 22"/>
          <p:cNvSpPr/>
          <p:nvPr/>
        </p:nvSpPr>
        <p:spPr>
          <a:xfrm>
            <a:off x="6012180" y="2563689"/>
            <a:ext cx="2697480" cy="1170432"/>
          </a:xfrm>
          <a:prstGeom prst="rect">
            <a:avLst/>
          </a:prstGeom>
          <a:solidFill>
            <a:srgbClr val="D9D9D9"/>
          </a:solidFill>
          <a:ln w="12700">
            <a:solidFill>
              <a:srgbClr val="D9D9D9"/>
            </a:solidFill>
            <a:prstDash val="solid"/>
          </a:ln>
        </p:spPr>
        <p:txBody>
          <a:bodyPr/>
          <a:lstStyle/>
          <a:p>
            <a:endParaRPr lang="en-US"/>
          </a:p>
        </p:txBody>
      </p:sp>
      <p:sp>
        <p:nvSpPr>
          <p:cNvPr id="26" name="Shape 23"/>
          <p:cNvSpPr/>
          <p:nvPr/>
        </p:nvSpPr>
        <p:spPr>
          <a:xfrm>
            <a:off x="6012180" y="2563689"/>
            <a:ext cx="54864" cy="1170432"/>
          </a:xfrm>
          <a:prstGeom prst="rect">
            <a:avLst/>
          </a:prstGeom>
          <a:solidFill>
            <a:srgbClr val="8B1A1A"/>
          </a:solidFill>
          <a:ln w="12700">
            <a:solidFill>
              <a:srgbClr val="8B1A1A"/>
            </a:solidFill>
            <a:prstDash val="solid"/>
          </a:ln>
        </p:spPr>
        <p:txBody>
          <a:bodyPr/>
          <a:lstStyle/>
          <a:p>
            <a:endParaRPr lang="en-US"/>
          </a:p>
        </p:txBody>
      </p:sp>
      <p:sp>
        <p:nvSpPr>
          <p:cNvPr id="27" name="Text 24"/>
          <p:cNvSpPr/>
          <p:nvPr/>
        </p:nvSpPr>
        <p:spPr>
          <a:xfrm>
            <a:off x="6149340" y="2655129"/>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MD File Modification</a:t>
            </a:r>
            <a:endParaRPr lang="en-US" sz="1100" dirty="0"/>
          </a:p>
        </p:txBody>
      </p:sp>
      <p:sp>
        <p:nvSpPr>
          <p:cNvPr id="28" name="Text 25"/>
          <p:cNvSpPr/>
          <p:nvPr/>
        </p:nvSpPr>
        <p:spPr>
          <a:xfrm>
            <a:off x="6149340" y="2947737"/>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AGENTS.md, TASKS.md, MEMORY.md stored in plain text and writable by any process with filesystem access (no integrity check).</a:t>
            </a:r>
            <a:endParaRPr lang="en-US" sz="850" dirty="0"/>
          </a:p>
        </p:txBody>
      </p:sp>
      <p:sp>
        <p:nvSpPr>
          <p:cNvPr id="29" name="Shape 26"/>
          <p:cNvSpPr/>
          <p:nvPr/>
        </p:nvSpPr>
        <p:spPr>
          <a:xfrm>
            <a:off x="457200" y="4288537"/>
            <a:ext cx="8229600" cy="365760"/>
          </a:xfrm>
          <a:prstGeom prst="rect">
            <a:avLst/>
          </a:prstGeom>
          <a:solidFill>
            <a:srgbClr val="F0E9DC"/>
          </a:solidFill>
          <a:ln w="12700">
            <a:solidFill>
              <a:srgbClr val="C9A961"/>
            </a:solidFill>
            <a:prstDash val="solid"/>
          </a:ln>
        </p:spPr>
        <p:txBody>
          <a:bodyPr/>
          <a:lstStyle/>
          <a:p>
            <a:endParaRPr lang="en-US"/>
          </a:p>
        </p:txBody>
      </p:sp>
      <p:sp>
        <p:nvSpPr>
          <p:cNvPr id="30" name="Text 27"/>
          <p:cNvSpPr/>
          <p:nvPr/>
        </p:nvSpPr>
        <p:spPr>
          <a:xfrm>
            <a:off x="594360" y="4343400"/>
            <a:ext cx="8046720" cy="365760"/>
          </a:xfrm>
          <a:prstGeom prst="rect">
            <a:avLst/>
          </a:prstGeom>
          <a:noFill/>
          <a:ln/>
        </p:spPr>
        <p:txBody>
          <a:bodyPr wrap="square" lIns="0" tIns="0" rIns="0" bIns="0" rtlCol="0" anchor="ctr"/>
          <a:lstStyle/>
          <a:p>
            <a:pPr marL="0" indent="0">
              <a:buNone/>
            </a:pPr>
            <a:r>
              <a:rPr lang="en-US" sz="1000" b="1" dirty="0">
                <a:solidFill>
                  <a:srgbClr val="8B1A1A"/>
                </a:solidFill>
                <a:latin typeface="Calibri" pitchFamily="34" charset="0"/>
                <a:ea typeface="Calibri" pitchFamily="34" charset="-122"/>
                <a:cs typeface="Calibri" pitchFamily="34" charset="-120"/>
              </a:rPr>
              <a:t>⚡  Compounding risk: </a:t>
            </a:r>
            <a:r>
              <a:rPr lang="en-US" sz="1000" dirty="0">
                <a:solidFill>
                  <a:srgbClr val="1A1A1A"/>
                </a:solidFill>
                <a:latin typeface="Calibri" pitchFamily="34" charset="0"/>
                <a:ea typeface="Calibri" pitchFamily="34" charset="-122"/>
                <a:cs typeface="Calibri" pitchFamily="34" charset="-120"/>
              </a:rPr>
              <a:t>SOUL.md poisoning + weak model + unvetted skills can multiply attack success rate by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3" name="Text 0"/>
          <p:cNvSpPr/>
          <p:nvPr/>
        </p:nvSpPr>
        <p:spPr>
          <a:xfrm>
            <a:off x="457200" y="914400"/>
            <a:ext cx="3657600" cy="256032"/>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PROMPT INJECTION</a:t>
            </a:r>
            <a:endParaRPr lang="en-US" sz="1000" dirty="0"/>
          </a:p>
        </p:txBody>
      </p:sp>
      <p:sp>
        <p:nvSpPr>
          <p:cNvPr id="4" name="Text 1"/>
          <p:cNvSpPr/>
          <p:nvPr/>
        </p:nvSpPr>
        <p:spPr>
          <a:xfrm>
            <a:off x="457200" y="1188720"/>
            <a:ext cx="8229600" cy="50292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Prompt Injection Campaigns</a:t>
            </a:r>
            <a:endParaRPr lang="en-US" sz="2400" dirty="0"/>
          </a:p>
        </p:txBody>
      </p:sp>
      <p:sp>
        <p:nvSpPr>
          <p:cNvPr id="5" name="Shape 2"/>
          <p:cNvSpPr/>
          <p:nvPr/>
        </p:nvSpPr>
        <p:spPr>
          <a:xfrm>
            <a:off x="457200" y="1828800"/>
            <a:ext cx="4023360" cy="1005840"/>
          </a:xfrm>
          <a:prstGeom prst="rect">
            <a:avLst/>
          </a:prstGeom>
          <a:solidFill>
            <a:srgbClr val="F0E9DC"/>
          </a:solidFill>
          <a:ln w="12700">
            <a:solidFill>
              <a:srgbClr val="F0E9DC"/>
            </a:solidFill>
            <a:prstDash val="solid"/>
          </a:ln>
        </p:spPr>
        <p:txBody>
          <a:bodyPr/>
          <a:lstStyle/>
          <a:p>
            <a:endParaRPr lang="en-US"/>
          </a:p>
        </p:txBody>
      </p:sp>
      <p:sp>
        <p:nvSpPr>
          <p:cNvPr id="6" name="Text 3"/>
          <p:cNvSpPr/>
          <p:nvPr/>
        </p:nvSpPr>
        <p:spPr>
          <a:xfrm>
            <a:off x="457200" y="1920240"/>
            <a:ext cx="4023360" cy="502920"/>
          </a:xfrm>
          <a:prstGeom prst="rect">
            <a:avLst/>
          </a:prstGeom>
          <a:noFill/>
          <a:ln/>
        </p:spPr>
        <p:txBody>
          <a:bodyPr wrap="square" lIns="0" tIns="0" rIns="0" bIns="0" rtlCol="0" anchor="ctr"/>
          <a:lstStyle/>
          <a:p>
            <a:pPr marL="0" indent="0" algn="ctr">
              <a:buNone/>
            </a:pPr>
            <a:r>
              <a:rPr lang="en-US" sz="4000" b="1" dirty="0">
                <a:solidFill>
                  <a:srgbClr val="8B1A1A"/>
                </a:solidFill>
                <a:latin typeface="Calibri" pitchFamily="34" charset="0"/>
                <a:ea typeface="Calibri" pitchFamily="34" charset="-122"/>
                <a:cs typeface="Calibri" pitchFamily="34" charset="-120"/>
              </a:rPr>
              <a:t>18.4%</a:t>
            </a:r>
            <a:endParaRPr lang="en-US" sz="4000" dirty="0"/>
          </a:p>
        </p:txBody>
      </p:sp>
      <p:sp>
        <p:nvSpPr>
          <p:cNvPr id="7" name="Text 4"/>
          <p:cNvSpPr/>
          <p:nvPr/>
        </p:nvSpPr>
        <p:spPr>
          <a:xfrm>
            <a:off x="731520" y="2450592"/>
            <a:ext cx="3474720" cy="365760"/>
          </a:xfrm>
          <a:prstGeom prst="rect">
            <a:avLst/>
          </a:prstGeom>
          <a:noFill/>
          <a:ln/>
        </p:spPr>
        <p:txBody>
          <a:bodyPr wrap="square" lIns="0" tIns="0" rIns="0" bIns="0" rtlCol="0" anchor="ctr"/>
          <a:lstStyle/>
          <a:p>
            <a:pPr marL="0" indent="0" algn="ctr">
              <a:buNone/>
            </a:pPr>
            <a:r>
              <a:rPr lang="en-US" sz="1000" dirty="0">
                <a:solidFill>
                  <a:srgbClr val="2D2D2D"/>
                </a:solidFill>
                <a:latin typeface="Calibri" pitchFamily="34" charset="0"/>
                <a:ea typeface="Calibri" pitchFamily="34" charset="-122"/>
                <a:cs typeface="Calibri" pitchFamily="34" charset="-120"/>
              </a:rPr>
              <a:t>of Moltbook posts contained action-inducing instructions</a:t>
            </a:r>
            <a:endParaRPr lang="en-US" sz="1000" dirty="0"/>
          </a:p>
        </p:txBody>
      </p:sp>
      <p:sp>
        <p:nvSpPr>
          <p:cNvPr id="8" name="Shape 5"/>
          <p:cNvSpPr/>
          <p:nvPr/>
        </p:nvSpPr>
        <p:spPr>
          <a:xfrm>
            <a:off x="4663440" y="1828800"/>
            <a:ext cx="4023360" cy="1005840"/>
          </a:xfrm>
          <a:prstGeom prst="rect">
            <a:avLst/>
          </a:prstGeom>
          <a:solidFill>
            <a:srgbClr val="F0E9DC"/>
          </a:solidFill>
          <a:ln w="12700">
            <a:solidFill>
              <a:srgbClr val="F0E9DC"/>
            </a:solidFill>
            <a:prstDash val="solid"/>
          </a:ln>
        </p:spPr>
        <p:txBody>
          <a:bodyPr/>
          <a:lstStyle/>
          <a:p>
            <a:endParaRPr lang="en-US"/>
          </a:p>
        </p:txBody>
      </p:sp>
      <p:sp>
        <p:nvSpPr>
          <p:cNvPr id="9" name="Text 6"/>
          <p:cNvSpPr/>
          <p:nvPr/>
        </p:nvSpPr>
        <p:spPr>
          <a:xfrm>
            <a:off x="4663440" y="1920240"/>
            <a:ext cx="4023360" cy="502920"/>
          </a:xfrm>
          <a:prstGeom prst="rect">
            <a:avLst/>
          </a:prstGeom>
          <a:noFill/>
          <a:ln/>
        </p:spPr>
        <p:txBody>
          <a:bodyPr wrap="square" lIns="0" tIns="0" rIns="0" bIns="0" rtlCol="0" anchor="ctr"/>
          <a:lstStyle/>
          <a:p>
            <a:pPr marL="0" indent="0" algn="ctr">
              <a:buNone/>
            </a:pPr>
            <a:r>
              <a:rPr lang="en-US" sz="4000" b="1" dirty="0">
                <a:solidFill>
                  <a:srgbClr val="8B1A1A"/>
                </a:solidFill>
                <a:latin typeface="Calibri" pitchFamily="34" charset="0"/>
                <a:ea typeface="Calibri" pitchFamily="34" charset="-122"/>
                <a:cs typeface="Calibri" pitchFamily="34" charset="-120"/>
              </a:rPr>
              <a:t>3 Types</a:t>
            </a:r>
            <a:endParaRPr lang="en-US" sz="4000" dirty="0"/>
          </a:p>
        </p:txBody>
      </p:sp>
      <p:sp>
        <p:nvSpPr>
          <p:cNvPr id="10" name="Text 7"/>
          <p:cNvSpPr/>
          <p:nvPr/>
        </p:nvSpPr>
        <p:spPr>
          <a:xfrm>
            <a:off x="4937760" y="2450592"/>
            <a:ext cx="3474720" cy="365760"/>
          </a:xfrm>
          <a:prstGeom prst="rect">
            <a:avLst/>
          </a:prstGeom>
          <a:noFill/>
          <a:ln/>
        </p:spPr>
        <p:txBody>
          <a:bodyPr wrap="square" lIns="0" tIns="0" rIns="0" bIns="0" rtlCol="0" anchor="ctr"/>
          <a:lstStyle/>
          <a:p>
            <a:pPr marL="0" indent="0" algn="ctr">
              <a:buNone/>
            </a:pPr>
            <a:r>
              <a:rPr lang="en-US" sz="1000" dirty="0">
                <a:solidFill>
                  <a:srgbClr val="2D2D2D"/>
                </a:solidFill>
                <a:latin typeface="Calibri" pitchFamily="34" charset="0"/>
                <a:ea typeface="Calibri" pitchFamily="34" charset="-122"/>
                <a:cs typeface="Calibri" pitchFamily="34" charset="-120"/>
              </a:rPr>
              <a:t>Direct, Indirect, and Tool Manipulation injection</a:t>
            </a:r>
            <a:endParaRPr lang="en-US" sz="1000" dirty="0"/>
          </a:p>
        </p:txBody>
      </p:sp>
      <p:sp>
        <p:nvSpPr>
          <p:cNvPr id="11" name="Shape 8"/>
          <p:cNvSpPr/>
          <p:nvPr/>
        </p:nvSpPr>
        <p:spPr>
          <a:xfrm>
            <a:off x="457200" y="2971800"/>
            <a:ext cx="2587752" cy="1783080"/>
          </a:xfrm>
          <a:prstGeom prst="rect">
            <a:avLst/>
          </a:prstGeom>
          <a:solidFill>
            <a:srgbClr val="D9D9D9"/>
          </a:solidFill>
          <a:ln w="12700">
            <a:solidFill>
              <a:srgbClr val="D9D9D9"/>
            </a:solidFill>
            <a:prstDash val="solid"/>
          </a:ln>
        </p:spPr>
        <p:txBody>
          <a:bodyPr/>
          <a:lstStyle/>
          <a:p>
            <a:endParaRPr lang="en-US"/>
          </a:p>
        </p:txBody>
      </p:sp>
      <p:sp>
        <p:nvSpPr>
          <p:cNvPr id="12" name="Shape 9"/>
          <p:cNvSpPr/>
          <p:nvPr/>
        </p:nvSpPr>
        <p:spPr>
          <a:xfrm>
            <a:off x="457200" y="2971800"/>
            <a:ext cx="54864" cy="1783080"/>
          </a:xfrm>
          <a:prstGeom prst="rect">
            <a:avLst/>
          </a:prstGeom>
          <a:solidFill>
            <a:srgbClr val="8B1A1A"/>
          </a:solidFill>
          <a:ln w="12700">
            <a:solidFill>
              <a:srgbClr val="8B1A1A"/>
            </a:solidFill>
            <a:prstDash val="solid"/>
          </a:ln>
        </p:spPr>
        <p:txBody>
          <a:bodyPr/>
          <a:lstStyle/>
          <a:p>
            <a:endParaRPr lang="en-US"/>
          </a:p>
        </p:txBody>
      </p:sp>
      <p:sp>
        <p:nvSpPr>
          <p:cNvPr id="13" name="Text 10"/>
          <p:cNvSpPr/>
          <p:nvPr/>
        </p:nvSpPr>
        <p:spPr>
          <a:xfrm>
            <a:off x="640080" y="3081528"/>
            <a:ext cx="237744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Indirect Prompt Injection</a:t>
            </a:r>
            <a:endParaRPr lang="en-US" sz="1100" dirty="0"/>
          </a:p>
        </p:txBody>
      </p:sp>
      <p:sp>
        <p:nvSpPr>
          <p:cNvPr id="14" name="Text 11"/>
          <p:cNvSpPr/>
          <p:nvPr/>
        </p:nvSpPr>
        <p:spPr>
          <a:xfrm>
            <a:off x="640080" y="3383280"/>
            <a:ext cx="2377440" cy="1280160"/>
          </a:xfrm>
          <a:prstGeom prst="rect">
            <a:avLst/>
          </a:prstGeom>
          <a:noFill/>
          <a:ln/>
        </p:spPr>
        <p:txBody>
          <a:bodyPr wrap="square" lIns="0" tIns="0" rIns="0" bIns="0" rtlCol="0" anchor="ctr"/>
          <a:lstStyle/>
          <a:p>
            <a:pPr marL="0" indent="0">
              <a:buNone/>
            </a:pPr>
            <a:r>
              <a:rPr lang="en-US" sz="900" dirty="0">
                <a:solidFill>
                  <a:srgbClr val="2D2D2D"/>
                </a:solidFill>
                <a:latin typeface="Calibri" pitchFamily="34" charset="0"/>
                <a:ea typeface="Calibri" pitchFamily="34" charset="-122"/>
                <a:cs typeface="Calibri" pitchFamily="34" charset="-120"/>
              </a:rPr>
              <a:t>Malicious instructions embedded in web content, documents, or Moltbook posts consumed by agents. The agent follows hidden instructions believing they are legitimate.</a:t>
            </a:r>
            <a:endParaRPr lang="en-US" sz="900" dirty="0"/>
          </a:p>
        </p:txBody>
      </p:sp>
      <p:sp>
        <p:nvSpPr>
          <p:cNvPr id="15" name="Shape 12"/>
          <p:cNvSpPr/>
          <p:nvPr/>
        </p:nvSpPr>
        <p:spPr>
          <a:xfrm>
            <a:off x="3355848" y="2971800"/>
            <a:ext cx="2587752" cy="1783080"/>
          </a:xfrm>
          <a:prstGeom prst="rect">
            <a:avLst/>
          </a:prstGeom>
          <a:solidFill>
            <a:srgbClr val="D9D9D9"/>
          </a:solidFill>
          <a:ln w="12700">
            <a:solidFill>
              <a:srgbClr val="D9D9D9"/>
            </a:solidFill>
            <a:prstDash val="solid"/>
          </a:ln>
        </p:spPr>
        <p:txBody>
          <a:bodyPr/>
          <a:lstStyle/>
          <a:p>
            <a:endParaRPr lang="en-US"/>
          </a:p>
        </p:txBody>
      </p:sp>
      <p:sp>
        <p:nvSpPr>
          <p:cNvPr id="16" name="Shape 13"/>
          <p:cNvSpPr/>
          <p:nvPr/>
        </p:nvSpPr>
        <p:spPr>
          <a:xfrm>
            <a:off x="3355848" y="2971800"/>
            <a:ext cx="54864" cy="1783080"/>
          </a:xfrm>
          <a:prstGeom prst="rect">
            <a:avLst/>
          </a:prstGeom>
          <a:solidFill>
            <a:srgbClr val="8B1A1A"/>
          </a:solidFill>
          <a:ln w="12700">
            <a:solidFill>
              <a:srgbClr val="8B1A1A"/>
            </a:solidFill>
            <a:prstDash val="solid"/>
          </a:ln>
        </p:spPr>
        <p:txBody>
          <a:bodyPr/>
          <a:lstStyle/>
          <a:p>
            <a:endParaRPr lang="en-US"/>
          </a:p>
        </p:txBody>
      </p:sp>
      <p:sp>
        <p:nvSpPr>
          <p:cNvPr id="17" name="Text 14"/>
          <p:cNvSpPr/>
          <p:nvPr/>
        </p:nvSpPr>
        <p:spPr>
          <a:xfrm>
            <a:off x="3538728" y="3081528"/>
            <a:ext cx="237744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Tool Manipulation</a:t>
            </a:r>
            <a:endParaRPr lang="en-US" sz="1100" dirty="0"/>
          </a:p>
        </p:txBody>
      </p:sp>
      <p:sp>
        <p:nvSpPr>
          <p:cNvPr id="18" name="Text 15"/>
          <p:cNvSpPr/>
          <p:nvPr/>
        </p:nvSpPr>
        <p:spPr>
          <a:xfrm>
            <a:off x="3538728" y="3383280"/>
            <a:ext cx="2377440" cy="1280160"/>
          </a:xfrm>
          <a:prstGeom prst="rect">
            <a:avLst/>
          </a:prstGeom>
          <a:noFill/>
          <a:ln/>
        </p:spPr>
        <p:txBody>
          <a:bodyPr wrap="square" lIns="0" tIns="0" rIns="0" bIns="0" rtlCol="0" anchor="ctr"/>
          <a:lstStyle/>
          <a:p>
            <a:pPr marL="0" indent="0">
              <a:buNone/>
            </a:pPr>
            <a:r>
              <a:rPr lang="en-US" sz="900" dirty="0">
                <a:solidFill>
                  <a:srgbClr val="2D2D2D"/>
                </a:solidFill>
                <a:latin typeface="Calibri" pitchFamily="34" charset="0"/>
                <a:ea typeface="Calibri" pitchFamily="34" charset="-122"/>
                <a:cs typeface="Calibri" pitchFamily="34" charset="-120"/>
              </a:rPr>
              <a:t>Injected prompts cause agents to misuse their available tools — executing unauthorized commands, accessing restricted files, or sending data to attacker-controlled endpoints.</a:t>
            </a:r>
            <a:endParaRPr lang="en-US" sz="900" dirty="0"/>
          </a:p>
        </p:txBody>
      </p:sp>
      <p:sp>
        <p:nvSpPr>
          <p:cNvPr id="19" name="Shape 16"/>
          <p:cNvSpPr/>
          <p:nvPr/>
        </p:nvSpPr>
        <p:spPr>
          <a:xfrm>
            <a:off x="6254496" y="2971800"/>
            <a:ext cx="2587752" cy="1783080"/>
          </a:xfrm>
          <a:prstGeom prst="rect">
            <a:avLst/>
          </a:prstGeom>
          <a:solidFill>
            <a:srgbClr val="D9D9D9"/>
          </a:solidFill>
          <a:ln w="12700">
            <a:solidFill>
              <a:srgbClr val="D9D9D9"/>
            </a:solidFill>
            <a:prstDash val="solid"/>
          </a:ln>
        </p:spPr>
        <p:txBody>
          <a:bodyPr/>
          <a:lstStyle/>
          <a:p>
            <a:endParaRPr lang="en-US"/>
          </a:p>
        </p:txBody>
      </p:sp>
      <p:sp>
        <p:nvSpPr>
          <p:cNvPr id="20" name="Shape 17"/>
          <p:cNvSpPr/>
          <p:nvPr/>
        </p:nvSpPr>
        <p:spPr>
          <a:xfrm>
            <a:off x="6254496" y="2971800"/>
            <a:ext cx="54864" cy="1783080"/>
          </a:xfrm>
          <a:prstGeom prst="rect">
            <a:avLst/>
          </a:prstGeom>
          <a:solidFill>
            <a:srgbClr val="8B1A1A"/>
          </a:solidFill>
          <a:ln w="12700">
            <a:solidFill>
              <a:srgbClr val="8B1A1A"/>
            </a:solidFill>
            <a:prstDash val="solid"/>
          </a:ln>
        </p:spPr>
        <p:txBody>
          <a:bodyPr/>
          <a:lstStyle/>
          <a:p>
            <a:endParaRPr lang="en-US"/>
          </a:p>
        </p:txBody>
      </p:sp>
      <p:sp>
        <p:nvSpPr>
          <p:cNvPr id="21" name="Text 18"/>
          <p:cNvSpPr/>
          <p:nvPr/>
        </p:nvSpPr>
        <p:spPr>
          <a:xfrm>
            <a:off x="6437376" y="3081528"/>
            <a:ext cx="237744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Instruction Override</a:t>
            </a:r>
            <a:endParaRPr lang="en-US" sz="1100" dirty="0"/>
          </a:p>
        </p:txBody>
      </p:sp>
      <p:sp>
        <p:nvSpPr>
          <p:cNvPr id="22" name="Text 19"/>
          <p:cNvSpPr/>
          <p:nvPr/>
        </p:nvSpPr>
        <p:spPr>
          <a:xfrm>
            <a:off x="6437376" y="3383280"/>
            <a:ext cx="2377440" cy="1280160"/>
          </a:xfrm>
          <a:prstGeom prst="rect">
            <a:avLst/>
          </a:prstGeom>
          <a:noFill/>
          <a:ln/>
        </p:spPr>
        <p:txBody>
          <a:bodyPr wrap="square" lIns="0" tIns="0" rIns="0" bIns="0" rtlCol="0" anchor="ctr"/>
          <a:lstStyle/>
          <a:p>
            <a:pPr marL="0" indent="0">
              <a:buNone/>
            </a:pPr>
            <a:r>
              <a:rPr lang="en-US" sz="900" dirty="0">
                <a:solidFill>
                  <a:srgbClr val="2D2D2D"/>
                </a:solidFill>
                <a:latin typeface="Calibri" pitchFamily="34" charset="0"/>
                <a:ea typeface="Calibri" pitchFamily="34" charset="-122"/>
                <a:cs typeface="Calibri" pitchFamily="34" charset="-120"/>
              </a:rPr>
              <a:t>Sophisticated injections that override the agent's original system prompt and safety guardrails, taking full control of agent behavior and decision-making.</a:t>
            </a:r>
            <a:endParaRPr lang="en-US" sz="900" dirty="0"/>
          </a:p>
        </p:txBody>
      </p:sp>
      <p:sp>
        <p:nvSpPr>
          <p:cNvPr id="23" name="Shape 20"/>
          <p:cNvSpPr/>
          <p:nvPr/>
        </p:nvSpPr>
        <p:spPr>
          <a:xfrm>
            <a:off x="457200" y="4800600"/>
            <a:ext cx="8229600" cy="0"/>
          </a:xfrm>
          <a:prstGeom prst="line">
            <a:avLst/>
          </a:prstGeom>
          <a:noFill/>
          <a:ln w="6350">
            <a:solidFill>
              <a:srgbClr val="C4C4C4"/>
            </a:solidFill>
            <a:prstDash val="solid"/>
          </a:ln>
        </p:spPr>
        <p:txBody>
          <a:bodyPr/>
          <a:lstStyle/>
          <a:p>
            <a:endParaRPr lang="en-US"/>
          </a:p>
        </p:txBody>
      </p:sp>
      <p:sp>
        <p:nvSpPr>
          <p:cNvPr id="24" name="Text 21"/>
          <p:cNvSpPr/>
          <p:nvPr/>
        </p:nvSpPr>
        <p:spPr>
          <a:xfrm>
            <a:off x="457200" y="4873752"/>
            <a:ext cx="2743200" cy="228600"/>
          </a:xfrm>
          <a:prstGeom prst="rect">
            <a:avLst/>
          </a:prstGeom>
          <a:noFill/>
          <a:ln/>
        </p:spPr>
        <p:txBody>
          <a:bodyPr wrap="square" rtlCol="0" anchor="ctr"/>
          <a:lstStyle/>
          <a:p>
            <a:pPr marL="0" indent="0">
              <a:buNone/>
            </a:pPr>
            <a:r>
              <a:rPr lang="en-US" sz="900" dirty="0">
                <a:solidFill>
                  <a:srgbClr val="7A7A7A"/>
                </a:solidFill>
                <a:latin typeface="Calibri" pitchFamily="34" charset="0"/>
                <a:ea typeface="Calibri" pitchFamily="34" charset="-122"/>
                <a:cs typeface="Calibri" pitchFamily="34" charset="-120"/>
              </a:rPr>
              <a:t>AI Safety UAE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3" name="Text 0"/>
          <p:cNvSpPr/>
          <p:nvPr/>
        </p:nvSpPr>
        <p:spPr>
          <a:xfrm>
            <a:off x="457200" y="914400"/>
            <a:ext cx="5486400" cy="256032"/>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CRITICAL VULNERABILITY — CVSS 9.8</a:t>
            </a:r>
            <a:endParaRPr lang="en-US" sz="1000" dirty="0"/>
          </a:p>
        </p:txBody>
      </p:sp>
      <p:sp>
        <p:nvSpPr>
          <p:cNvPr id="4" name="Text 1"/>
          <p:cNvSpPr/>
          <p:nvPr/>
        </p:nvSpPr>
        <p:spPr>
          <a:xfrm>
            <a:off x="457200" y="1188720"/>
            <a:ext cx="6400800" cy="502920"/>
          </a:xfrm>
          <a:prstGeom prst="rect">
            <a:avLst/>
          </a:prstGeom>
          <a:noFill/>
          <a:ln/>
        </p:spPr>
        <p:txBody>
          <a:bodyPr wrap="square" lIns="0" tIns="0" rIns="0" bIns="0"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Remote Code Execution (RCE)</a:t>
            </a:r>
            <a:endParaRPr lang="en-US" sz="2600" dirty="0"/>
          </a:p>
        </p:txBody>
      </p:sp>
      <p:sp>
        <p:nvSpPr>
          <p:cNvPr id="5" name="Shape 2"/>
          <p:cNvSpPr/>
          <p:nvPr/>
        </p:nvSpPr>
        <p:spPr>
          <a:xfrm>
            <a:off x="7315200" y="1188720"/>
            <a:ext cx="1371600" cy="502920"/>
          </a:xfrm>
          <a:prstGeom prst="rect">
            <a:avLst/>
          </a:prstGeom>
          <a:solidFill>
            <a:srgbClr val="8B1A1A"/>
          </a:solidFill>
          <a:ln w="12700">
            <a:solidFill>
              <a:srgbClr val="8B1A1A"/>
            </a:solidFill>
            <a:prstDash val="solid"/>
          </a:ln>
        </p:spPr>
        <p:txBody>
          <a:bodyPr/>
          <a:lstStyle/>
          <a:p>
            <a:endParaRPr lang="en-US"/>
          </a:p>
        </p:txBody>
      </p:sp>
      <p:sp>
        <p:nvSpPr>
          <p:cNvPr id="6" name="Text 3"/>
          <p:cNvSpPr/>
          <p:nvPr/>
        </p:nvSpPr>
        <p:spPr>
          <a:xfrm>
            <a:off x="7315200" y="1188720"/>
            <a:ext cx="13716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CVSS 9.8</a:t>
            </a:r>
            <a:endParaRPr lang="en-US" sz="1600" dirty="0"/>
          </a:p>
        </p:txBody>
      </p:sp>
      <p:sp>
        <p:nvSpPr>
          <p:cNvPr id="7" name="Shape 4"/>
          <p:cNvSpPr/>
          <p:nvPr/>
        </p:nvSpPr>
        <p:spPr>
          <a:xfrm>
            <a:off x="457200" y="1828800"/>
            <a:ext cx="2587752" cy="2468880"/>
          </a:xfrm>
          <a:prstGeom prst="rect">
            <a:avLst/>
          </a:prstGeom>
          <a:solidFill>
            <a:srgbClr val="D9D9D9"/>
          </a:solidFill>
          <a:ln w="12700">
            <a:solidFill>
              <a:srgbClr val="D9D9D9"/>
            </a:solidFill>
            <a:prstDash val="solid"/>
          </a:ln>
        </p:spPr>
        <p:txBody>
          <a:bodyPr/>
          <a:lstStyle/>
          <a:p>
            <a:endParaRPr lang="en-US"/>
          </a:p>
        </p:txBody>
      </p:sp>
      <p:sp>
        <p:nvSpPr>
          <p:cNvPr id="8" name="Shape 5"/>
          <p:cNvSpPr/>
          <p:nvPr/>
        </p:nvSpPr>
        <p:spPr>
          <a:xfrm>
            <a:off x="457200" y="1828800"/>
            <a:ext cx="54864" cy="2468880"/>
          </a:xfrm>
          <a:prstGeom prst="rect">
            <a:avLst/>
          </a:prstGeom>
          <a:solidFill>
            <a:srgbClr val="8B1A1A"/>
          </a:solidFill>
          <a:ln w="12700">
            <a:solidFill>
              <a:srgbClr val="8B1A1A"/>
            </a:solidFill>
            <a:prstDash val="solid"/>
          </a:ln>
        </p:spPr>
        <p:txBody>
          <a:bodyPr/>
          <a:lstStyle/>
          <a:p>
            <a:endParaRPr lang="en-US"/>
          </a:p>
        </p:txBody>
      </p:sp>
      <p:sp>
        <p:nvSpPr>
          <p:cNvPr id="9" name="Text 6"/>
          <p:cNvSpPr/>
          <p:nvPr/>
        </p:nvSpPr>
        <p:spPr>
          <a:xfrm>
            <a:off x="640080" y="1965960"/>
            <a:ext cx="2313432"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Attack Chain</a:t>
            </a:r>
            <a:endParaRPr lang="en-US" sz="1200" dirty="0"/>
          </a:p>
        </p:txBody>
      </p:sp>
      <p:sp>
        <p:nvSpPr>
          <p:cNvPr id="10" name="Text 7"/>
          <p:cNvSpPr/>
          <p:nvPr/>
        </p:nvSpPr>
        <p:spPr>
          <a:xfrm>
            <a:off x="640080" y="2331720"/>
            <a:ext cx="2313432" cy="1828800"/>
          </a:xfrm>
          <a:prstGeom prst="rect">
            <a:avLst/>
          </a:prstGeom>
          <a:noFill/>
          <a:ln/>
        </p:spPr>
        <p:txBody>
          <a:bodyPr wrap="square" rtlCol="0" anchor="ctr"/>
          <a:lstStyle/>
          <a:p>
            <a:pPr marL="0" indent="0">
              <a:spcAft>
                <a:spcPts val="400"/>
              </a:spcAft>
              <a:buNone/>
            </a:pPr>
            <a:r>
              <a:rPr lang="en-US" sz="950" dirty="0">
                <a:solidFill>
                  <a:srgbClr val="2D2D2D"/>
                </a:solidFill>
                <a:latin typeface="Calibri" pitchFamily="34" charset="0"/>
                <a:ea typeface="Calibri" pitchFamily="34" charset="-122"/>
                <a:cs typeface="Calibri" pitchFamily="34" charset="-120"/>
              </a:rPr>
              <a:t>1. Attacker crafts malicious prompt or skill</a:t>
            </a:r>
            <a:endParaRPr lang="en-US" sz="950" dirty="0"/>
          </a:p>
          <a:p>
            <a:pPr marL="0" indent="0">
              <a:spcAft>
                <a:spcPts val="400"/>
              </a:spcAft>
              <a:buNone/>
            </a:pPr>
            <a:r>
              <a:rPr lang="en-US" sz="950" dirty="0">
                <a:solidFill>
                  <a:srgbClr val="2D2D2D"/>
                </a:solidFill>
                <a:latin typeface="Calibri" pitchFamily="34" charset="0"/>
                <a:ea typeface="Calibri" pitchFamily="34" charset="-122"/>
                <a:cs typeface="Calibri" pitchFamily="34" charset="-120"/>
              </a:rPr>
              <a:t>2. Agent processes input in execution loop</a:t>
            </a:r>
            <a:endParaRPr lang="en-US" sz="950" dirty="0"/>
          </a:p>
          <a:p>
            <a:pPr marL="0" indent="0">
              <a:spcAft>
                <a:spcPts val="400"/>
              </a:spcAft>
              <a:buNone/>
            </a:pPr>
            <a:r>
              <a:rPr lang="en-US" sz="950" dirty="0">
                <a:solidFill>
                  <a:srgbClr val="2D2D2D"/>
                </a:solidFill>
                <a:latin typeface="Calibri" pitchFamily="34" charset="0"/>
                <a:ea typeface="Calibri" pitchFamily="34" charset="-122"/>
                <a:cs typeface="Calibri" pitchFamily="34" charset="-120"/>
              </a:rPr>
              <a:t>3. Tool invocation triggers shell command</a:t>
            </a:r>
            <a:endParaRPr lang="en-US" sz="950" dirty="0"/>
          </a:p>
          <a:p>
            <a:pPr marL="0" indent="0">
              <a:spcAft>
                <a:spcPts val="400"/>
              </a:spcAft>
              <a:buNone/>
            </a:pPr>
            <a:r>
              <a:rPr lang="en-US" sz="950" dirty="0">
                <a:solidFill>
                  <a:srgbClr val="2D2D2D"/>
                </a:solidFill>
                <a:latin typeface="Calibri" pitchFamily="34" charset="0"/>
                <a:ea typeface="Calibri" pitchFamily="34" charset="-122"/>
                <a:cs typeface="Calibri" pitchFamily="34" charset="-120"/>
              </a:rPr>
              <a:t>4. Arbitrary code executes with agent privileges</a:t>
            </a:r>
            <a:endParaRPr lang="en-US" sz="950" dirty="0"/>
          </a:p>
          <a:p>
            <a:pPr marL="0" indent="0">
              <a:spcAft>
                <a:spcPts val="400"/>
              </a:spcAft>
              <a:buNone/>
            </a:pPr>
            <a:r>
              <a:rPr lang="en-US" sz="950" dirty="0">
                <a:solidFill>
                  <a:srgbClr val="2D2D2D"/>
                </a:solidFill>
                <a:latin typeface="Calibri" pitchFamily="34" charset="0"/>
                <a:ea typeface="Calibri" pitchFamily="34" charset="-122"/>
                <a:cs typeface="Calibri" pitchFamily="34" charset="-120"/>
              </a:rPr>
              <a:t>5. Full system compromise achieved</a:t>
            </a:r>
            <a:endParaRPr lang="en-US" sz="950" dirty="0"/>
          </a:p>
        </p:txBody>
      </p:sp>
      <p:sp>
        <p:nvSpPr>
          <p:cNvPr id="11" name="Shape 8"/>
          <p:cNvSpPr/>
          <p:nvPr/>
        </p:nvSpPr>
        <p:spPr>
          <a:xfrm>
            <a:off x="3355848" y="1828800"/>
            <a:ext cx="2587752" cy="2468880"/>
          </a:xfrm>
          <a:prstGeom prst="rect">
            <a:avLst/>
          </a:prstGeom>
          <a:solidFill>
            <a:srgbClr val="F0E9DC"/>
          </a:solidFill>
          <a:ln w="12700">
            <a:solidFill>
              <a:srgbClr val="F0E9DC"/>
            </a:solidFill>
            <a:prstDash val="solid"/>
          </a:ln>
        </p:spPr>
        <p:txBody>
          <a:bodyPr/>
          <a:lstStyle/>
          <a:p>
            <a:endParaRPr lang="en-US"/>
          </a:p>
        </p:txBody>
      </p:sp>
      <p:sp>
        <p:nvSpPr>
          <p:cNvPr id="12" name="Shape 9"/>
          <p:cNvSpPr/>
          <p:nvPr/>
        </p:nvSpPr>
        <p:spPr>
          <a:xfrm>
            <a:off x="3355848" y="1828800"/>
            <a:ext cx="54864" cy="2468880"/>
          </a:xfrm>
          <a:prstGeom prst="rect">
            <a:avLst/>
          </a:prstGeom>
          <a:solidFill>
            <a:srgbClr val="8B1A1A"/>
          </a:solidFill>
          <a:ln w="12700">
            <a:solidFill>
              <a:srgbClr val="8B1A1A"/>
            </a:solidFill>
            <a:prstDash val="solid"/>
          </a:ln>
        </p:spPr>
        <p:txBody>
          <a:bodyPr/>
          <a:lstStyle/>
          <a:p>
            <a:endParaRPr lang="en-US"/>
          </a:p>
        </p:txBody>
      </p:sp>
      <p:sp>
        <p:nvSpPr>
          <p:cNvPr id="13" name="Text 10"/>
          <p:cNvSpPr/>
          <p:nvPr/>
        </p:nvSpPr>
        <p:spPr>
          <a:xfrm>
            <a:off x="3538728" y="1965960"/>
            <a:ext cx="2313432"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Exploitation Scenario</a:t>
            </a:r>
            <a:endParaRPr lang="en-US" sz="1200" dirty="0"/>
          </a:p>
        </p:txBody>
      </p:sp>
      <p:sp>
        <p:nvSpPr>
          <p:cNvPr id="14" name="Text 11"/>
          <p:cNvSpPr/>
          <p:nvPr/>
        </p:nvSpPr>
        <p:spPr>
          <a:xfrm>
            <a:off x="3538728" y="2331720"/>
            <a:ext cx="2313432" cy="182880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Malicious skill installs reverse shell via subprocess.Popen() or os.system() calls. Agent's shell access enables full host compromise including lateral movement.</a:t>
            </a:r>
            <a:endParaRPr lang="en-US" sz="950" dirty="0"/>
          </a:p>
        </p:txBody>
      </p:sp>
      <p:sp>
        <p:nvSpPr>
          <p:cNvPr id="15" name="Shape 12"/>
          <p:cNvSpPr/>
          <p:nvPr/>
        </p:nvSpPr>
        <p:spPr>
          <a:xfrm>
            <a:off x="6254496" y="1828800"/>
            <a:ext cx="2587752" cy="2468880"/>
          </a:xfrm>
          <a:prstGeom prst="rect">
            <a:avLst/>
          </a:prstGeom>
          <a:solidFill>
            <a:srgbClr val="D9D9D9"/>
          </a:solidFill>
          <a:ln w="12700">
            <a:solidFill>
              <a:srgbClr val="D9D9D9"/>
            </a:solidFill>
            <a:prstDash val="solid"/>
          </a:ln>
        </p:spPr>
        <p:txBody>
          <a:bodyPr/>
          <a:lstStyle/>
          <a:p>
            <a:endParaRPr lang="en-US"/>
          </a:p>
        </p:txBody>
      </p:sp>
      <p:sp>
        <p:nvSpPr>
          <p:cNvPr id="16" name="Shape 13"/>
          <p:cNvSpPr/>
          <p:nvPr/>
        </p:nvSpPr>
        <p:spPr>
          <a:xfrm>
            <a:off x="6254496" y="1828800"/>
            <a:ext cx="54864" cy="2468880"/>
          </a:xfrm>
          <a:prstGeom prst="rect">
            <a:avLst/>
          </a:prstGeom>
          <a:solidFill>
            <a:srgbClr val="8B1A1A"/>
          </a:solidFill>
          <a:ln w="12700">
            <a:solidFill>
              <a:srgbClr val="8B1A1A"/>
            </a:solidFill>
            <a:prstDash val="solid"/>
          </a:ln>
        </p:spPr>
        <p:txBody>
          <a:bodyPr/>
          <a:lstStyle/>
          <a:p>
            <a:endParaRPr lang="en-US"/>
          </a:p>
        </p:txBody>
      </p:sp>
      <p:sp>
        <p:nvSpPr>
          <p:cNvPr id="17" name="Text 14"/>
          <p:cNvSpPr/>
          <p:nvPr/>
        </p:nvSpPr>
        <p:spPr>
          <a:xfrm>
            <a:off x="6437376" y="1965960"/>
            <a:ext cx="2313432"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Mitigation Strategy</a:t>
            </a:r>
            <a:endParaRPr lang="en-US" sz="1200" dirty="0"/>
          </a:p>
        </p:txBody>
      </p:sp>
      <p:sp>
        <p:nvSpPr>
          <p:cNvPr id="18" name="Text 15"/>
          <p:cNvSpPr/>
          <p:nvPr/>
        </p:nvSpPr>
        <p:spPr>
          <a:xfrm>
            <a:off x="6437376" y="2331720"/>
            <a:ext cx="2313432" cy="1828800"/>
          </a:xfrm>
          <a:prstGeom prst="rect">
            <a:avLst/>
          </a:prstGeom>
          <a:noFill/>
          <a:ln/>
        </p:spPr>
        <p:txBody>
          <a:bodyPr wrap="square" rtlCol="0" anchor="ctr"/>
          <a:lstStyle/>
          <a:p>
            <a:pPr marL="342900" indent="-342900">
              <a:spcAft>
                <a:spcPts val="400"/>
              </a:spcAft>
              <a:buSzPct val="100000"/>
              <a:buChar char="•"/>
            </a:pPr>
            <a:r>
              <a:rPr lang="en-US" sz="950" dirty="0">
                <a:solidFill>
                  <a:srgbClr val="2D2D2D"/>
                </a:solidFill>
                <a:latin typeface="Calibri" pitchFamily="34" charset="0"/>
                <a:ea typeface="Calibri" pitchFamily="34" charset="-122"/>
                <a:cs typeface="Calibri" pitchFamily="34" charset="-120"/>
              </a:rPr>
              <a:t>Sandboxed execution (containers/VMs)</a:t>
            </a:r>
            <a:endParaRPr lang="en-US" sz="950" dirty="0"/>
          </a:p>
          <a:p>
            <a:pPr marL="342900" indent="-342900">
              <a:spcAft>
                <a:spcPts val="400"/>
              </a:spcAft>
              <a:buSzPct val="100000"/>
              <a:buChar char="•"/>
            </a:pPr>
            <a:r>
              <a:rPr lang="en-US" sz="950" dirty="0">
                <a:solidFill>
                  <a:srgbClr val="2D2D2D"/>
                </a:solidFill>
                <a:latin typeface="Calibri" pitchFamily="34" charset="0"/>
                <a:ea typeface="Calibri" pitchFamily="34" charset="-122"/>
                <a:cs typeface="Calibri" pitchFamily="34" charset="-120"/>
              </a:rPr>
              <a:t>Allowlist-only tool invocation</a:t>
            </a:r>
            <a:endParaRPr lang="en-US" sz="950" dirty="0"/>
          </a:p>
          <a:p>
            <a:pPr marL="342900" indent="-342900">
              <a:spcAft>
                <a:spcPts val="400"/>
              </a:spcAft>
              <a:buSzPct val="100000"/>
              <a:buChar char="•"/>
            </a:pPr>
            <a:r>
              <a:rPr lang="en-US" sz="950" dirty="0">
                <a:solidFill>
                  <a:srgbClr val="2D2D2D"/>
                </a:solidFill>
                <a:latin typeface="Calibri" pitchFamily="34" charset="0"/>
                <a:ea typeface="Calibri" pitchFamily="34" charset="-122"/>
                <a:cs typeface="Calibri" pitchFamily="34" charset="-120"/>
              </a:rPr>
              <a:t>Static analysis of skill code pre-install</a:t>
            </a:r>
            <a:endParaRPr lang="en-US" sz="950" dirty="0"/>
          </a:p>
          <a:p>
            <a:pPr marL="342900" indent="-342900">
              <a:spcAft>
                <a:spcPts val="400"/>
              </a:spcAft>
              <a:buSzPct val="100000"/>
              <a:buChar char="•"/>
            </a:pPr>
            <a:r>
              <a:rPr lang="en-US" sz="950" dirty="0">
                <a:solidFill>
                  <a:srgbClr val="2D2D2D"/>
                </a:solidFill>
                <a:latin typeface="Calibri" pitchFamily="34" charset="0"/>
                <a:ea typeface="Calibri" pitchFamily="34" charset="-122"/>
                <a:cs typeface="Calibri" pitchFamily="34" charset="-120"/>
              </a:rPr>
              <a:t>Runtime syscall filtering (seccomp/AppArmor)</a:t>
            </a:r>
            <a:endParaRPr lang="en-US" sz="950" dirty="0"/>
          </a:p>
        </p:txBody>
      </p:sp>
      <p:sp>
        <p:nvSpPr>
          <p:cNvPr id="19" name="Shape 16"/>
          <p:cNvSpPr/>
          <p:nvPr/>
        </p:nvSpPr>
        <p:spPr>
          <a:xfrm>
            <a:off x="457200" y="4480560"/>
            <a:ext cx="8229600" cy="365760"/>
          </a:xfrm>
          <a:prstGeom prst="rect">
            <a:avLst/>
          </a:prstGeom>
          <a:solidFill>
            <a:srgbClr val="F0E9DC"/>
          </a:solidFill>
          <a:ln w="12700">
            <a:solidFill>
              <a:srgbClr val="C9A961"/>
            </a:solidFill>
            <a:prstDash val="solid"/>
          </a:ln>
        </p:spPr>
        <p:txBody>
          <a:bodyPr/>
          <a:lstStyle/>
          <a:p>
            <a:endParaRPr lang="en-US"/>
          </a:p>
        </p:txBody>
      </p:sp>
      <p:sp>
        <p:nvSpPr>
          <p:cNvPr id="20" name="Text 17"/>
          <p:cNvSpPr/>
          <p:nvPr/>
        </p:nvSpPr>
        <p:spPr>
          <a:xfrm>
            <a:off x="594360" y="4480560"/>
            <a:ext cx="8046720" cy="365760"/>
          </a:xfrm>
          <a:prstGeom prst="rect">
            <a:avLst/>
          </a:prstGeom>
          <a:noFill/>
          <a:ln/>
        </p:spPr>
        <p:txBody>
          <a:bodyPr wrap="square" lIns="0" tIns="0" rIns="0" bIns="0" rtlCol="0" anchor="ctr"/>
          <a:lstStyle/>
          <a:p>
            <a:pPr marL="0" indent="0">
              <a:buNone/>
            </a:pPr>
            <a:r>
              <a:rPr lang="en-US" sz="1000" b="1" dirty="0">
                <a:solidFill>
                  <a:srgbClr val="8B1A1A"/>
                </a:solidFill>
                <a:latin typeface="Calibri" pitchFamily="34" charset="0"/>
                <a:ea typeface="Calibri" pitchFamily="34" charset="-122"/>
                <a:cs typeface="Calibri" pitchFamily="34" charset="-120"/>
              </a:rPr>
              <a:t>⚠  IMPACT:  </a:t>
            </a:r>
            <a:r>
              <a:rPr lang="en-US" sz="1000" dirty="0">
                <a:solidFill>
                  <a:srgbClr val="1A1A1A"/>
                </a:solidFill>
                <a:latin typeface="Calibri" pitchFamily="34" charset="0"/>
                <a:ea typeface="Calibri" pitchFamily="34" charset="-122"/>
                <a:cs typeface="Calibri" pitchFamily="34" charset="-120"/>
              </a:rPr>
              <a:t>Full host takeover  ·  Data exfiltration  ·  Lateral movement  ·  Credential theft  ·  Persistence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3" name="Text 0"/>
          <p:cNvSpPr/>
          <p:nvPr/>
        </p:nvSpPr>
        <p:spPr>
          <a:xfrm>
            <a:off x="457200" y="914400"/>
            <a:ext cx="3657600" cy="256032"/>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CRITICAL INCIDENT</a:t>
            </a:r>
            <a:endParaRPr lang="en-US" sz="1000" dirty="0"/>
          </a:p>
        </p:txBody>
      </p:sp>
      <p:sp>
        <p:nvSpPr>
          <p:cNvPr id="4" name="Text 1"/>
          <p:cNvSpPr/>
          <p:nvPr/>
        </p:nvSpPr>
        <p:spPr>
          <a:xfrm>
            <a:off x="457200" y="1188720"/>
            <a:ext cx="6400800" cy="50292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Production Database Exposure Incident</a:t>
            </a:r>
            <a:endParaRPr lang="en-US" sz="2400" dirty="0"/>
          </a:p>
        </p:txBody>
      </p:sp>
      <p:sp>
        <p:nvSpPr>
          <p:cNvPr id="5" name="Shape 2"/>
          <p:cNvSpPr/>
          <p:nvPr/>
        </p:nvSpPr>
        <p:spPr>
          <a:xfrm>
            <a:off x="6858000" y="1143000"/>
            <a:ext cx="1828800" cy="640080"/>
          </a:xfrm>
          <a:prstGeom prst="rect">
            <a:avLst/>
          </a:prstGeom>
          <a:solidFill>
            <a:srgbClr val="8B1A1A"/>
          </a:solidFill>
          <a:ln w="12700">
            <a:solidFill>
              <a:srgbClr val="8B1A1A"/>
            </a:solidFill>
            <a:prstDash val="solid"/>
          </a:ln>
        </p:spPr>
        <p:txBody>
          <a:bodyPr/>
          <a:lstStyle/>
          <a:p>
            <a:endParaRPr lang="en-US"/>
          </a:p>
        </p:txBody>
      </p:sp>
      <p:sp>
        <p:nvSpPr>
          <p:cNvPr id="6" name="Text 3"/>
          <p:cNvSpPr/>
          <p:nvPr/>
        </p:nvSpPr>
        <p:spPr>
          <a:xfrm>
            <a:off x="6858000" y="1170432"/>
            <a:ext cx="182880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 / 15</a:t>
            </a:r>
            <a:endParaRPr lang="en-US" sz="1600" dirty="0"/>
          </a:p>
        </p:txBody>
      </p:sp>
      <p:sp>
        <p:nvSpPr>
          <p:cNvPr id="7" name="Text 4"/>
          <p:cNvSpPr/>
          <p:nvPr/>
        </p:nvSpPr>
        <p:spPr>
          <a:xfrm>
            <a:off x="6858000" y="1481328"/>
            <a:ext cx="18288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Database Breach</a:t>
            </a:r>
            <a:endParaRPr lang="en-US" sz="900" dirty="0"/>
          </a:p>
        </p:txBody>
      </p:sp>
      <p:sp>
        <p:nvSpPr>
          <p:cNvPr id="8" name="Shape 5"/>
          <p:cNvSpPr/>
          <p:nvPr/>
        </p:nvSpPr>
        <p:spPr>
          <a:xfrm>
            <a:off x="457200" y="1874520"/>
            <a:ext cx="4023360" cy="1691640"/>
          </a:xfrm>
          <a:prstGeom prst="rect">
            <a:avLst/>
          </a:prstGeom>
          <a:solidFill>
            <a:srgbClr val="D9D9D9"/>
          </a:solidFill>
          <a:ln w="12700">
            <a:solidFill>
              <a:srgbClr val="D9D9D9"/>
            </a:solidFill>
            <a:prstDash val="solid"/>
          </a:ln>
        </p:spPr>
        <p:txBody>
          <a:bodyPr/>
          <a:lstStyle/>
          <a:p>
            <a:endParaRPr lang="en-US"/>
          </a:p>
        </p:txBody>
      </p:sp>
      <p:sp>
        <p:nvSpPr>
          <p:cNvPr id="9" name="Shape 6"/>
          <p:cNvSpPr/>
          <p:nvPr/>
        </p:nvSpPr>
        <p:spPr>
          <a:xfrm>
            <a:off x="457200" y="1874520"/>
            <a:ext cx="54864" cy="1691640"/>
          </a:xfrm>
          <a:prstGeom prst="rect">
            <a:avLst/>
          </a:prstGeom>
          <a:solidFill>
            <a:srgbClr val="8B1A1A"/>
          </a:solidFill>
          <a:ln w="12700">
            <a:solidFill>
              <a:srgbClr val="8B1A1A"/>
            </a:solidFill>
            <a:prstDash val="solid"/>
          </a:ln>
        </p:spPr>
        <p:txBody>
          <a:bodyPr/>
          <a:lstStyle/>
          <a:p>
            <a:endParaRPr lang="en-US"/>
          </a:p>
        </p:txBody>
      </p:sp>
      <p:sp>
        <p:nvSpPr>
          <p:cNvPr id="10" name="Text 7"/>
          <p:cNvSpPr/>
          <p:nvPr/>
        </p:nvSpPr>
        <p:spPr>
          <a:xfrm>
            <a:off x="640080" y="1984248"/>
            <a:ext cx="374904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What Was Exposed</a:t>
            </a:r>
            <a:endParaRPr lang="en-US" sz="1200" dirty="0"/>
          </a:p>
        </p:txBody>
      </p:sp>
      <p:sp>
        <p:nvSpPr>
          <p:cNvPr id="11" name="Text 8"/>
          <p:cNvSpPr/>
          <p:nvPr/>
        </p:nvSpPr>
        <p:spPr>
          <a:xfrm>
            <a:off x="640080" y="2258568"/>
            <a:ext cx="3749040" cy="411480"/>
          </a:xfrm>
          <a:prstGeom prst="rect">
            <a:avLst/>
          </a:prstGeom>
          <a:noFill/>
          <a:ln/>
        </p:spPr>
        <p:txBody>
          <a:bodyPr wrap="square" lIns="0" tIns="0" rIns="0" bIns="0" rtlCol="0" anchor="ctr"/>
          <a:lstStyle/>
          <a:p>
            <a:pPr marL="0" indent="0">
              <a:buNone/>
            </a:pPr>
            <a:r>
              <a:rPr lang="en-US" sz="900" dirty="0">
                <a:solidFill>
                  <a:srgbClr val="2D2D2D"/>
                </a:solidFill>
                <a:latin typeface="Calibri" pitchFamily="34" charset="0"/>
                <a:ea typeface="Calibri" pitchFamily="34" charset="-122"/>
                <a:cs typeface="Calibri" pitchFamily="34" charset="-120"/>
              </a:rPr>
              <a:t>Publicly accessible production database containing:</a:t>
            </a:r>
            <a:endParaRPr lang="en-US" sz="900" dirty="0"/>
          </a:p>
        </p:txBody>
      </p:sp>
      <p:sp>
        <p:nvSpPr>
          <p:cNvPr id="12" name="Text 9"/>
          <p:cNvSpPr/>
          <p:nvPr/>
        </p:nvSpPr>
        <p:spPr>
          <a:xfrm>
            <a:off x="640080" y="2679192"/>
            <a:ext cx="3749040" cy="822960"/>
          </a:xfrm>
          <a:prstGeom prst="rect">
            <a:avLst/>
          </a:prstGeom>
          <a:noFill/>
          <a:ln/>
        </p:spPr>
        <p:txBody>
          <a:bodyPr wrap="square" rtlCol="0" anchor="ctr"/>
          <a:lstStyle/>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API keys for connected services</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Authentication tokens for active agents</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Agent configuration &amp; instructions</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User-agent interaction histories</a:t>
            </a:r>
            <a:endParaRPr lang="en-US" sz="900" dirty="0"/>
          </a:p>
        </p:txBody>
      </p:sp>
      <p:sp>
        <p:nvSpPr>
          <p:cNvPr id="13" name="Shape 10"/>
          <p:cNvSpPr/>
          <p:nvPr/>
        </p:nvSpPr>
        <p:spPr>
          <a:xfrm>
            <a:off x="4663440" y="1874520"/>
            <a:ext cx="4023360" cy="1691640"/>
          </a:xfrm>
          <a:prstGeom prst="rect">
            <a:avLst/>
          </a:prstGeom>
          <a:solidFill>
            <a:srgbClr val="F0E9DC"/>
          </a:solidFill>
          <a:ln w="12700">
            <a:solidFill>
              <a:srgbClr val="F0E9DC"/>
            </a:solidFill>
            <a:prstDash val="solid"/>
          </a:ln>
        </p:spPr>
        <p:txBody>
          <a:bodyPr/>
          <a:lstStyle/>
          <a:p>
            <a:endParaRPr lang="en-US"/>
          </a:p>
        </p:txBody>
      </p:sp>
      <p:sp>
        <p:nvSpPr>
          <p:cNvPr id="14" name="Shape 11"/>
          <p:cNvSpPr/>
          <p:nvPr/>
        </p:nvSpPr>
        <p:spPr>
          <a:xfrm>
            <a:off x="4663440" y="1874520"/>
            <a:ext cx="54864" cy="1691640"/>
          </a:xfrm>
          <a:prstGeom prst="rect">
            <a:avLst/>
          </a:prstGeom>
          <a:solidFill>
            <a:srgbClr val="8B1A1A"/>
          </a:solidFill>
          <a:ln w="12700">
            <a:solidFill>
              <a:srgbClr val="8B1A1A"/>
            </a:solidFill>
            <a:prstDash val="solid"/>
          </a:ln>
        </p:spPr>
        <p:txBody>
          <a:bodyPr/>
          <a:lstStyle/>
          <a:p>
            <a:endParaRPr lang="en-US"/>
          </a:p>
        </p:txBody>
      </p:sp>
      <p:sp>
        <p:nvSpPr>
          <p:cNvPr id="15" name="Text 12"/>
          <p:cNvSpPr/>
          <p:nvPr/>
        </p:nvSpPr>
        <p:spPr>
          <a:xfrm>
            <a:off x="4846320" y="1984248"/>
            <a:ext cx="374904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Impact Analysis</a:t>
            </a:r>
            <a:endParaRPr lang="en-US" sz="1200" dirty="0"/>
          </a:p>
        </p:txBody>
      </p:sp>
      <p:sp>
        <p:nvSpPr>
          <p:cNvPr id="16" name="Text 13"/>
          <p:cNvSpPr/>
          <p:nvPr/>
        </p:nvSpPr>
        <p:spPr>
          <a:xfrm>
            <a:off x="4846320" y="2258568"/>
            <a:ext cx="3749040" cy="411480"/>
          </a:xfrm>
          <a:prstGeom prst="rect">
            <a:avLst/>
          </a:prstGeom>
          <a:noFill/>
          <a:ln/>
        </p:spPr>
        <p:txBody>
          <a:bodyPr wrap="square" lIns="0" tIns="0" rIns="0" bIns="0" rtlCol="0" anchor="ctr"/>
          <a:lstStyle/>
          <a:p>
            <a:pPr marL="0" indent="0">
              <a:buNone/>
            </a:pPr>
            <a:r>
              <a:rPr lang="en-US" sz="900" dirty="0">
                <a:solidFill>
                  <a:srgbClr val="2D2D2D"/>
                </a:solidFill>
                <a:latin typeface="Calibri" pitchFamily="34" charset="0"/>
                <a:ea typeface="Calibri" pitchFamily="34" charset="-122"/>
                <a:cs typeface="Calibri" pitchFamily="34" charset="-120"/>
              </a:rPr>
              <a:t>Ability to impersonate any AI agent on the Moltbook network, enabling:</a:t>
            </a:r>
            <a:endParaRPr lang="en-US" sz="900" dirty="0"/>
          </a:p>
        </p:txBody>
      </p:sp>
      <p:sp>
        <p:nvSpPr>
          <p:cNvPr id="17" name="Text 14"/>
          <p:cNvSpPr/>
          <p:nvPr/>
        </p:nvSpPr>
        <p:spPr>
          <a:xfrm>
            <a:off x="4846320" y="2679192"/>
            <a:ext cx="3749040" cy="822960"/>
          </a:xfrm>
          <a:prstGeom prst="rect">
            <a:avLst/>
          </a:prstGeom>
          <a:noFill/>
          <a:ln/>
        </p:spPr>
        <p:txBody>
          <a:bodyPr wrap="square" rtlCol="0" anchor="ctr"/>
          <a:lstStyle/>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Social engineering via trusted agents</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Access to downstream connected systems</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Manipulation of agent decision-making</a:t>
            </a:r>
            <a:endParaRPr lang="en-US" sz="900" dirty="0"/>
          </a:p>
          <a:p>
            <a:pPr marL="342900" indent="-342900">
              <a:spcAft>
                <a:spcPts val="300"/>
              </a:spcAft>
              <a:buSzPct val="100000"/>
              <a:buChar char="•"/>
            </a:pPr>
            <a:r>
              <a:rPr lang="en-US" sz="900" dirty="0">
                <a:solidFill>
                  <a:srgbClr val="2D2D2D"/>
                </a:solidFill>
                <a:latin typeface="Calibri" pitchFamily="34" charset="0"/>
                <a:ea typeface="Calibri" pitchFamily="34" charset="-122"/>
                <a:cs typeface="Calibri" pitchFamily="34" charset="-120"/>
              </a:rPr>
              <a:t>Trust collapse across the ecosystem</a:t>
            </a:r>
            <a:endParaRPr lang="en-US" sz="900" dirty="0"/>
          </a:p>
        </p:txBody>
      </p:sp>
      <p:sp>
        <p:nvSpPr>
          <p:cNvPr id="18" name="Shape 15"/>
          <p:cNvSpPr/>
          <p:nvPr/>
        </p:nvSpPr>
        <p:spPr>
          <a:xfrm>
            <a:off x="457200" y="3703320"/>
            <a:ext cx="8229600" cy="1097280"/>
          </a:xfrm>
          <a:prstGeom prst="rect">
            <a:avLst/>
          </a:prstGeom>
          <a:solidFill>
            <a:srgbClr val="F0E9DC"/>
          </a:solidFill>
          <a:ln w="12700">
            <a:solidFill>
              <a:srgbClr val="C9A961"/>
            </a:solidFill>
            <a:prstDash val="solid"/>
          </a:ln>
        </p:spPr>
        <p:txBody>
          <a:bodyPr/>
          <a:lstStyle/>
          <a:p>
            <a:endParaRPr lang="en-US"/>
          </a:p>
        </p:txBody>
      </p:sp>
      <p:sp>
        <p:nvSpPr>
          <p:cNvPr id="19" name="Text 16"/>
          <p:cNvSpPr/>
          <p:nvPr/>
        </p:nvSpPr>
        <p:spPr>
          <a:xfrm>
            <a:off x="640080" y="3794760"/>
            <a:ext cx="7955280" cy="274320"/>
          </a:xfrm>
          <a:prstGeom prst="rect">
            <a:avLst/>
          </a:prstGeom>
          <a:noFill/>
          <a:ln/>
        </p:spPr>
        <p:txBody>
          <a:bodyPr wrap="square" lIns="0" tIns="0" rIns="0" bIns="0" rtlCol="0" anchor="ctr"/>
          <a:lstStyle/>
          <a:p>
            <a:pPr marL="0" indent="0">
              <a:buNone/>
            </a:pPr>
            <a:r>
              <a:rPr lang="en-US" sz="1100" b="1" dirty="0">
                <a:solidFill>
                  <a:srgbClr val="8B1A1A"/>
                </a:solidFill>
                <a:latin typeface="Calibri" pitchFamily="34" charset="0"/>
                <a:ea typeface="Calibri" pitchFamily="34" charset="-122"/>
                <a:cs typeface="Calibri" pitchFamily="34" charset="-120"/>
              </a:rPr>
              <a:t>Supply Chain Implications</a:t>
            </a:r>
            <a:endParaRPr lang="en-US" sz="1100" dirty="0"/>
          </a:p>
        </p:txBody>
      </p:sp>
      <p:sp>
        <p:nvSpPr>
          <p:cNvPr id="20" name="Text 17"/>
          <p:cNvSpPr/>
          <p:nvPr/>
        </p:nvSpPr>
        <p:spPr>
          <a:xfrm>
            <a:off x="640080" y="4050792"/>
            <a:ext cx="7955280" cy="685800"/>
          </a:xfrm>
          <a:prstGeom prst="rect">
            <a:avLst/>
          </a:prstGeom>
          <a:noFill/>
          <a:ln/>
        </p:spPr>
        <p:txBody>
          <a:bodyPr wrap="square" lIns="0" tIns="0" rIns="0" bIns="0" rtlCol="0" anchor="ctr"/>
          <a:lstStyle/>
          <a:p>
            <a:pPr marL="0" indent="0">
              <a:buNone/>
            </a:pPr>
            <a:r>
              <a:rPr lang="en-US" sz="900" dirty="0">
                <a:solidFill>
                  <a:srgbClr val="2D2D2D"/>
                </a:solidFill>
                <a:latin typeface="Calibri" pitchFamily="34" charset="0"/>
                <a:ea typeface="Calibri" pitchFamily="34" charset="-122"/>
                <a:cs typeface="Calibri" pitchFamily="34" charset="-120"/>
              </a:rPr>
              <a:t>Compromised agent identities undermine the entire trust model of the platform. When any agent can be impersonated, all agent-to-agent communications become unreliable. Downstream systems relying on agent authentication (messaging platforms, file systems, APIs) face cascading trust failures. This represents a single-point-of-failure in the OpenClaw identity infrastructure.</a:t>
            </a:r>
            <a:endParaRPr lang="en-US" sz="900" dirty="0"/>
          </a:p>
        </p:txBody>
      </p:sp>
      <p:sp>
        <p:nvSpPr>
          <p:cNvPr id="21" name="Shape 18"/>
          <p:cNvSpPr/>
          <p:nvPr/>
        </p:nvSpPr>
        <p:spPr>
          <a:xfrm>
            <a:off x="457200" y="4800600"/>
            <a:ext cx="8229600" cy="0"/>
          </a:xfrm>
          <a:prstGeom prst="line">
            <a:avLst/>
          </a:prstGeom>
          <a:noFill/>
          <a:ln w="6350">
            <a:solidFill>
              <a:srgbClr val="C4C4C4"/>
            </a:solidFill>
            <a:prstDash val="solid"/>
          </a:ln>
        </p:spPr>
        <p:txBody>
          <a:bodyPr/>
          <a:lstStyle/>
          <a:p>
            <a:endParaRPr lang="en-US"/>
          </a:p>
        </p:txBody>
      </p:sp>
      <p:sp>
        <p:nvSpPr>
          <p:cNvPr id="22" name="Text 19"/>
          <p:cNvSpPr/>
          <p:nvPr/>
        </p:nvSpPr>
        <p:spPr>
          <a:xfrm>
            <a:off x="457200" y="4873752"/>
            <a:ext cx="2743200" cy="228600"/>
          </a:xfrm>
          <a:prstGeom prst="rect">
            <a:avLst/>
          </a:prstGeom>
          <a:noFill/>
          <a:ln/>
        </p:spPr>
        <p:txBody>
          <a:bodyPr wrap="square" rtlCol="0" anchor="ctr"/>
          <a:lstStyle/>
          <a:p>
            <a:pPr marL="0" indent="0">
              <a:buNone/>
            </a:pPr>
            <a:r>
              <a:rPr lang="en-US" sz="900" dirty="0">
                <a:solidFill>
                  <a:srgbClr val="7A7A7A"/>
                </a:solidFill>
                <a:latin typeface="Calibri" pitchFamily="34" charset="0"/>
                <a:ea typeface="Calibri" pitchFamily="34" charset="-122"/>
                <a:cs typeface="Calibri" pitchFamily="34" charset="-120"/>
              </a:rPr>
              <a:t>AI Safety UAE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3" name="Text 0"/>
          <p:cNvSpPr/>
          <p:nvPr/>
        </p:nvSpPr>
        <p:spPr>
          <a:xfrm>
            <a:off x="457200" y="914400"/>
            <a:ext cx="3657600" cy="256032"/>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CONFIGURATION RISKS</a:t>
            </a:r>
            <a:endParaRPr lang="en-US" sz="1000" dirty="0"/>
          </a:p>
        </p:txBody>
      </p:sp>
      <p:sp>
        <p:nvSpPr>
          <p:cNvPr id="4" name="Text 1"/>
          <p:cNvSpPr/>
          <p:nvPr/>
        </p:nvSpPr>
        <p:spPr>
          <a:xfrm>
            <a:off x="457200" y="1188720"/>
            <a:ext cx="8229600" cy="502920"/>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Weak Defaults &amp; ClawJacked Vulnerability</a:t>
            </a:r>
            <a:endParaRPr lang="en-US" sz="2200" dirty="0"/>
          </a:p>
        </p:txBody>
      </p:sp>
      <p:sp>
        <p:nvSpPr>
          <p:cNvPr id="5" name="Shape 2"/>
          <p:cNvSpPr/>
          <p:nvPr/>
        </p:nvSpPr>
        <p:spPr>
          <a:xfrm>
            <a:off x="457200" y="1783080"/>
            <a:ext cx="4023360" cy="2103120"/>
          </a:xfrm>
          <a:prstGeom prst="rect">
            <a:avLst/>
          </a:prstGeom>
          <a:solidFill>
            <a:srgbClr val="D9D9D9"/>
          </a:solidFill>
          <a:ln w="12700">
            <a:solidFill>
              <a:srgbClr val="D9D9D9"/>
            </a:solidFill>
            <a:prstDash val="solid"/>
          </a:ln>
        </p:spPr>
        <p:txBody>
          <a:bodyPr/>
          <a:lstStyle/>
          <a:p>
            <a:endParaRPr lang="en-US"/>
          </a:p>
        </p:txBody>
      </p:sp>
      <p:sp>
        <p:nvSpPr>
          <p:cNvPr id="6" name="Shape 3"/>
          <p:cNvSpPr/>
          <p:nvPr/>
        </p:nvSpPr>
        <p:spPr>
          <a:xfrm>
            <a:off x="457200" y="1783080"/>
            <a:ext cx="54864" cy="2103120"/>
          </a:xfrm>
          <a:prstGeom prst="rect">
            <a:avLst/>
          </a:prstGeom>
          <a:solidFill>
            <a:srgbClr val="8B1A1A"/>
          </a:solidFill>
          <a:ln w="12700">
            <a:solidFill>
              <a:srgbClr val="8B1A1A"/>
            </a:solidFill>
            <a:prstDash val="solid"/>
          </a:ln>
        </p:spPr>
        <p:txBody>
          <a:bodyPr/>
          <a:lstStyle/>
          <a:p>
            <a:endParaRPr lang="en-US"/>
          </a:p>
        </p:txBody>
      </p:sp>
      <p:sp>
        <p:nvSpPr>
          <p:cNvPr id="7" name="Text 4"/>
          <p:cNvSpPr/>
          <p:nvPr/>
        </p:nvSpPr>
        <p:spPr>
          <a:xfrm>
            <a:off x="640080" y="1892808"/>
            <a:ext cx="374904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Weak Default Configurations</a:t>
            </a:r>
            <a:endParaRPr lang="en-US" sz="1200" dirty="0"/>
          </a:p>
        </p:txBody>
      </p:sp>
      <p:sp>
        <p:nvSpPr>
          <p:cNvPr id="8" name="Text 5"/>
          <p:cNvSpPr/>
          <p:nvPr/>
        </p:nvSpPr>
        <p:spPr>
          <a:xfrm>
            <a:off x="640080" y="2167128"/>
            <a:ext cx="3749040" cy="27432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Discovered 40,000+ exposed instances online:</a:t>
            </a:r>
            <a:endParaRPr lang="en-US" sz="950" dirty="0"/>
          </a:p>
        </p:txBody>
      </p:sp>
      <p:sp>
        <p:nvSpPr>
          <p:cNvPr id="9" name="Text 6"/>
          <p:cNvSpPr/>
          <p:nvPr/>
        </p:nvSpPr>
        <p:spPr>
          <a:xfrm>
            <a:off x="640080" y="2468880"/>
            <a:ext cx="3749040" cy="1325880"/>
          </a:xfrm>
          <a:prstGeom prst="rect">
            <a:avLst/>
          </a:prstGeom>
          <a:noFill/>
          <a:ln/>
        </p:spPr>
        <p:txBody>
          <a:bodyPr wrap="square" rtlCol="0" anchor="ctr"/>
          <a:lstStyle/>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Authentication disabled by default</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Control interfaces publicly accessible</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No rate limiting on API endpoints</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Verbose error messages reveal internals</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Default credentials in documentation</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No encryption on local connections</a:t>
            </a:r>
            <a:endParaRPr lang="en-US" sz="950" dirty="0"/>
          </a:p>
        </p:txBody>
      </p:sp>
      <p:sp>
        <p:nvSpPr>
          <p:cNvPr id="10" name="Shape 7"/>
          <p:cNvSpPr/>
          <p:nvPr/>
        </p:nvSpPr>
        <p:spPr>
          <a:xfrm>
            <a:off x="4663440" y="1783080"/>
            <a:ext cx="4023360" cy="2103120"/>
          </a:xfrm>
          <a:prstGeom prst="rect">
            <a:avLst/>
          </a:prstGeom>
          <a:solidFill>
            <a:srgbClr val="F0E9DC"/>
          </a:solidFill>
          <a:ln w="12700">
            <a:solidFill>
              <a:srgbClr val="F0E9DC"/>
            </a:solidFill>
            <a:prstDash val="solid"/>
          </a:ln>
        </p:spPr>
        <p:txBody>
          <a:bodyPr/>
          <a:lstStyle/>
          <a:p>
            <a:endParaRPr lang="en-US"/>
          </a:p>
        </p:txBody>
      </p:sp>
      <p:sp>
        <p:nvSpPr>
          <p:cNvPr id="11" name="Shape 8"/>
          <p:cNvSpPr/>
          <p:nvPr/>
        </p:nvSpPr>
        <p:spPr>
          <a:xfrm>
            <a:off x="4663440" y="1783080"/>
            <a:ext cx="54864" cy="2103120"/>
          </a:xfrm>
          <a:prstGeom prst="rect">
            <a:avLst/>
          </a:prstGeom>
          <a:solidFill>
            <a:srgbClr val="8B1A1A"/>
          </a:solidFill>
          <a:ln w="12700">
            <a:solidFill>
              <a:srgbClr val="8B1A1A"/>
            </a:solidFill>
            <a:prstDash val="solid"/>
          </a:ln>
        </p:spPr>
        <p:txBody>
          <a:bodyPr/>
          <a:lstStyle/>
          <a:p>
            <a:endParaRPr lang="en-US"/>
          </a:p>
        </p:txBody>
      </p:sp>
      <p:sp>
        <p:nvSpPr>
          <p:cNvPr id="12" name="Text 9"/>
          <p:cNvSpPr/>
          <p:nvPr/>
        </p:nvSpPr>
        <p:spPr>
          <a:xfrm>
            <a:off x="4846320" y="1892808"/>
            <a:ext cx="374904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ClawJacked — Browser Takeover</a:t>
            </a:r>
            <a:endParaRPr lang="en-US" sz="1200" dirty="0"/>
          </a:p>
        </p:txBody>
      </p:sp>
      <p:sp>
        <p:nvSpPr>
          <p:cNvPr id="13" name="Text 10"/>
          <p:cNvSpPr/>
          <p:nvPr/>
        </p:nvSpPr>
        <p:spPr>
          <a:xfrm>
            <a:off x="4846320" y="2167128"/>
            <a:ext cx="3749040" cy="27432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Cross-site WebSocket hijacking attack:</a:t>
            </a:r>
            <a:endParaRPr lang="en-US" sz="950" dirty="0"/>
          </a:p>
        </p:txBody>
      </p:sp>
      <p:sp>
        <p:nvSpPr>
          <p:cNvPr id="14" name="Text 11"/>
          <p:cNvSpPr/>
          <p:nvPr/>
        </p:nvSpPr>
        <p:spPr>
          <a:xfrm>
            <a:off x="4846320" y="2468880"/>
            <a:ext cx="3749040" cy="1325880"/>
          </a:xfrm>
          <a:prstGeom prst="rect">
            <a:avLst/>
          </a:prstGeom>
          <a:noFill/>
          <a:ln/>
        </p:spPr>
        <p:txBody>
          <a:bodyPr wrap="square" rtlCol="0" anchor="ctr"/>
          <a:lstStyle/>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User visits malicious webpage</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Page connects to local WebSocket</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Brute-forces authentication token</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Gains full agent control remotely</a:t>
            </a:r>
            <a:endParaRPr lang="en-US" sz="950" dirty="0"/>
          </a:p>
          <a:p>
            <a:pPr marL="342900" indent="-342900">
              <a:spcAft>
                <a:spcPts val="300"/>
              </a:spcAft>
              <a:buSzPct val="100000"/>
              <a:buChar char="•"/>
            </a:pPr>
            <a:r>
              <a:rPr lang="en-US" sz="950" dirty="0">
                <a:solidFill>
                  <a:srgbClr val="2D2D2D"/>
                </a:solidFill>
                <a:latin typeface="Calibri" pitchFamily="34" charset="0"/>
                <a:ea typeface="Calibri" pitchFamily="34" charset="-122"/>
                <a:cs typeface="Calibri" pitchFamily="34" charset="-120"/>
              </a:rPr>
              <a:t>Enables: RCE, data theft, agent hijacking</a:t>
            </a:r>
            <a:endParaRPr lang="en-US" sz="950" dirty="0"/>
          </a:p>
        </p:txBody>
      </p:sp>
      <p:sp>
        <p:nvSpPr>
          <p:cNvPr id="15" name="Shape 12"/>
          <p:cNvSpPr/>
          <p:nvPr/>
        </p:nvSpPr>
        <p:spPr>
          <a:xfrm>
            <a:off x="457200" y="4023360"/>
            <a:ext cx="8229600" cy="777240"/>
          </a:xfrm>
          <a:prstGeom prst="rect">
            <a:avLst/>
          </a:prstGeom>
          <a:solidFill>
            <a:srgbClr val="8B1A1A"/>
          </a:solidFill>
          <a:ln w="12700">
            <a:solidFill>
              <a:srgbClr val="8B1A1A"/>
            </a:solidFill>
            <a:prstDash val="solid"/>
          </a:ln>
        </p:spPr>
        <p:txBody>
          <a:bodyPr/>
          <a:lstStyle/>
          <a:p>
            <a:endParaRPr lang="en-US"/>
          </a:p>
        </p:txBody>
      </p:sp>
      <p:sp>
        <p:nvSpPr>
          <p:cNvPr id="16" name="Text 13"/>
          <p:cNvSpPr/>
          <p:nvPr/>
        </p:nvSpPr>
        <p:spPr>
          <a:xfrm>
            <a:off x="457200" y="4069080"/>
            <a:ext cx="2286000" cy="457200"/>
          </a:xfrm>
          <a:prstGeom prst="rect">
            <a:avLst/>
          </a:prstGeom>
          <a:noFill/>
          <a:ln/>
        </p:spPr>
        <p:txBody>
          <a:bodyPr wrap="square" lIns="0" tIns="0" rIns="0" bIns="0" rtlCol="0" anchor="ctr"/>
          <a:lstStyle/>
          <a:p>
            <a:pPr marL="0" indent="0" algn="ctr">
              <a:buNone/>
            </a:pPr>
            <a:r>
              <a:rPr lang="en-US" sz="3200" b="1" dirty="0">
                <a:solidFill>
                  <a:srgbClr val="C9A961"/>
                </a:solidFill>
                <a:latin typeface="Calibri" pitchFamily="34" charset="0"/>
                <a:ea typeface="Calibri" pitchFamily="34" charset="-122"/>
                <a:cs typeface="Calibri" pitchFamily="34" charset="-120"/>
              </a:rPr>
              <a:t>40,000+</a:t>
            </a:r>
            <a:endParaRPr lang="en-US" sz="3200" dirty="0"/>
          </a:p>
        </p:txBody>
      </p:sp>
      <p:sp>
        <p:nvSpPr>
          <p:cNvPr id="17" name="Text 14"/>
          <p:cNvSpPr/>
          <p:nvPr/>
        </p:nvSpPr>
        <p:spPr>
          <a:xfrm>
            <a:off x="2743200" y="4114800"/>
            <a:ext cx="5760720" cy="6400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OpenClaw instances discovered publicly accessible on the internet, many with default configurations and no authentication — representing a massive attack surface.</a:t>
            </a:r>
            <a:endParaRPr lang="en-US" sz="1000" dirty="0"/>
          </a:p>
        </p:txBody>
      </p:sp>
      <p:sp>
        <p:nvSpPr>
          <p:cNvPr id="18" name="Shape 15"/>
          <p:cNvSpPr/>
          <p:nvPr/>
        </p:nvSpPr>
        <p:spPr>
          <a:xfrm>
            <a:off x="457200" y="4800600"/>
            <a:ext cx="8229600" cy="0"/>
          </a:xfrm>
          <a:prstGeom prst="line">
            <a:avLst/>
          </a:prstGeom>
          <a:noFill/>
          <a:ln w="6350">
            <a:solidFill>
              <a:srgbClr val="C4C4C4"/>
            </a:solidFill>
            <a:prstDash val="solid"/>
          </a:ln>
        </p:spPr>
        <p:txBody>
          <a:bodyPr/>
          <a:lstStyle/>
          <a:p>
            <a:endParaRPr lang="en-US"/>
          </a:p>
        </p:txBody>
      </p:sp>
      <p:sp>
        <p:nvSpPr>
          <p:cNvPr id="19" name="Text 16"/>
          <p:cNvSpPr/>
          <p:nvPr/>
        </p:nvSpPr>
        <p:spPr>
          <a:xfrm>
            <a:off x="457200" y="4873752"/>
            <a:ext cx="2743200" cy="228600"/>
          </a:xfrm>
          <a:prstGeom prst="rect">
            <a:avLst/>
          </a:prstGeom>
          <a:noFill/>
          <a:ln/>
        </p:spPr>
        <p:txBody>
          <a:bodyPr wrap="square" rtlCol="0" anchor="ctr"/>
          <a:lstStyle/>
          <a:p>
            <a:pPr marL="0" indent="0">
              <a:buNone/>
            </a:pPr>
            <a:r>
              <a:rPr lang="en-US" sz="900" dirty="0">
                <a:solidFill>
                  <a:srgbClr val="7A7A7A"/>
                </a:solidFill>
                <a:latin typeface="Calibri" pitchFamily="34" charset="0"/>
                <a:ea typeface="Calibri" pitchFamily="34" charset="-122"/>
                <a:cs typeface="Calibri" pitchFamily="34" charset="-120"/>
              </a:rPr>
              <a:t>AI Safety UAE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4" name="Text 1"/>
          <p:cNvSpPr/>
          <p:nvPr/>
        </p:nvSpPr>
        <p:spPr>
          <a:xfrm>
            <a:off x="457200" y="1188720"/>
            <a:ext cx="8229600" cy="502920"/>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Root Causes &amp; Defense Effectiveness</a:t>
            </a:r>
            <a:endParaRPr lang="en-US" sz="2200" dirty="0"/>
          </a:p>
        </p:txBody>
      </p:sp>
      <p:sp>
        <p:nvSpPr>
          <p:cNvPr id="5" name="Text 2"/>
          <p:cNvSpPr/>
          <p:nvPr/>
        </p:nvSpPr>
        <p:spPr>
          <a:xfrm>
            <a:off x="457200" y="1783080"/>
            <a:ext cx="320040" cy="320040"/>
          </a:xfrm>
          <a:prstGeom prst="rect">
            <a:avLst/>
          </a:prstGeom>
          <a:noFill/>
          <a:ln/>
        </p:spPr>
        <p:txBody>
          <a:bodyPr wrap="square" lIns="0" tIns="0" rIns="0" bIns="0" rtlCol="0" anchor="ctr"/>
          <a:lstStyle/>
          <a:p>
            <a:pPr marL="0" indent="0">
              <a:buNone/>
            </a:pPr>
            <a:r>
              <a:rPr lang="en-US" sz="1400" b="1" dirty="0">
                <a:solidFill>
                  <a:srgbClr val="8B1A1A"/>
                </a:solidFill>
                <a:latin typeface="Calibri" pitchFamily="34" charset="0"/>
                <a:ea typeface="Calibri" pitchFamily="34" charset="-122"/>
                <a:cs typeface="Calibri" pitchFamily="34" charset="-120"/>
              </a:rPr>
              <a:t>1.</a:t>
            </a:r>
            <a:endParaRPr lang="en-US" sz="1400" dirty="0"/>
          </a:p>
        </p:txBody>
      </p:sp>
      <p:sp>
        <p:nvSpPr>
          <p:cNvPr id="6" name="Text 3"/>
          <p:cNvSpPr/>
          <p:nvPr/>
        </p:nvSpPr>
        <p:spPr>
          <a:xfrm>
            <a:off x="777240" y="1783080"/>
            <a:ext cx="4160520" cy="201168"/>
          </a:xfrm>
          <a:prstGeom prst="rect">
            <a:avLst/>
          </a:prstGeom>
          <a:noFill/>
          <a:ln/>
        </p:spPr>
        <p:txBody>
          <a:bodyPr wrap="square" lIns="0" tIns="0" rIns="0" bIns="0"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Excessive Tool Permissions</a:t>
            </a:r>
            <a:endParaRPr lang="en-US" sz="1050" dirty="0"/>
          </a:p>
        </p:txBody>
      </p:sp>
      <p:sp>
        <p:nvSpPr>
          <p:cNvPr id="7" name="Text 4"/>
          <p:cNvSpPr/>
          <p:nvPr/>
        </p:nvSpPr>
        <p:spPr>
          <a:xfrm>
            <a:off x="777240" y="1965960"/>
            <a:ext cx="4160520" cy="219456"/>
          </a:xfrm>
          <a:prstGeom prst="rect">
            <a:avLst/>
          </a:prstGeom>
          <a:noFill/>
          <a:ln/>
        </p:spPr>
        <p:txBody>
          <a:bodyPr wrap="square" lIns="0" tIns="0" rIns="0" bIns="0" rtlCol="0" anchor="ctr"/>
          <a:lstStyle/>
          <a:p>
            <a:pPr marL="0" indent="0">
              <a:buNone/>
            </a:pPr>
            <a:r>
              <a:rPr lang="en-US" sz="850" dirty="0">
                <a:solidFill>
                  <a:srgbClr val="4A4A4A"/>
                </a:solidFill>
                <a:latin typeface="Calibri" pitchFamily="34" charset="0"/>
                <a:ea typeface="Calibri" pitchFamily="34" charset="-122"/>
                <a:cs typeface="Calibri" pitchFamily="34" charset="-120"/>
              </a:rPr>
              <a:t>Agents granted shell, file, and network access by default with no tiering.</a:t>
            </a:r>
            <a:endParaRPr lang="en-US" sz="850" dirty="0"/>
          </a:p>
        </p:txBody>
      </p:sp>
      <p:sp>
        <p:nvSpPr>
          <p:cNvPr id="8" name="Text 5"/>
          <p:cNvSpPr/>
          <p:nvPr/>
        </p:nvSpPr>
        <p:spPr>
          <a:xfrm>
            <a:off x="457200" y="2221992"/>
            <a:ext cx="320040" cy="320040"/>
          </a:xfrm>
          <a:prstGeom prst="rect">
            <a:avLst/>
          </a:prstGeom>
          <a:noFill/>
          <a:ln/>
        </p:spPr>
        <p:txBody>
          <a:bodyPr wrap="square" lIns="0" tIns="0" rIns="0" bIns="0" rtlCol="0" anchor="ctr"/>
          <a:lstStyle/>
          <a:p>
            <a:pPr marL="0" indent="0">
              <a:buNone/>
            </a:pPr>
            <a:r>
              <a:rPr lang="en-US" sz="1400" b="1" dirty="0">
                <a:solidFill>
                  <a:srgbClr val="8B1A1A"/>
                </a:solidFill>
                <a:latin typeface="Calibri" pitchFamily="34" charset="0"/>
                <a:ea typeface="Calibri" pitchFamily="34" charset="-122"/>
                <a:cs typeface="Calibri" pitchFamily="34" charset="-120"/>
              </a:rPr>
              <a:t>2.</a:t>
            </a:r>
            <a:endParaRPr lang="en-US" sz="1400" dirty="0"/>
          </a:p>
        </p:txBody>
      </p:sp>
      <p:sp>
        <p:nvSpPr>
          <p:cNvPr id="9" name="Text 6"/>
          <p:cNvSpPr/>
          <p:nvPr/>
        </p:nvSpPr>
        <p:spPr>
          <a:xfrm>
            <a:off x="777240" y="2221992"/>
            <a:ext cx="4160520" cy="201168"/>
          </a:xfrm>
          <a:prstGeom prst="rect">
            <a:avLst/>
          </a:prstGeom>
          <a:noFill/>
          <a:ln/>
        </p:spPr>
        <p:txBody>
          <a:bodyPr wrap="square" lIns="0" tIns="0" rIns="0" bIns="0"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Lack of Sandboxing</a:t>
            </a:r>
            <a:endParaRPr lang="en-US" sz="1050" dirty="0"/>
          </a:p>
        </p:txBody>
      </p:sp>
      <p:sp>
        <p:nvSpPr>
          <p:cNvPr id="10" name="Text 7"/>
          <p:cNvSpPr/>
          <p:nvPr/>
        </p:nvSpPr>
        <p:spPr>
          <a:xfrm>
            <a:off x="777240" y="2404872"/>
            <a:ext cx="4160520" cy="219456"/>
          </a:xfrm>
          <a:prstGeom prst="rect">
            <a:avLst/>
          </a:prstGeom>
          <a:noFill/>
          <a:ln/>
        </p:spPr>
        <p:txBody>
          <a:bodyPr wrap="square" lIns="0" tIns="0" rIns="0" bIns="0" rtlCol="0" anchor="ctr"/>
          <a:lstStyle/>
          <a:p>
            <a:pPr marL="0" indent="0">
              <a:buNone/>
            </a:pPr>
            <a:r>
              <a:rPr lang="en-US" sz="850" dirty="0">
                <a:solidFill>
                  <a:srgbClr val="4A4A4A"/>
                </a:solidFill>
                <a:latin typeface="Calibri" pitchFamily="34" charset="0"/>
                <a:ea typeface="Calibri" pitchFamily="34" charset="-122"/>
                <a:cs typeface="Calibri" pitchFamily="34" charset="-120"/>
              </a:rPr>
              <a:t>Agent code executes directly on host systems without isolation boundaries.</a:t>
            </a:r>
            <a:endParaRPr lang="en-US" sz="850" dirty="0"/>
          </a:p>
        </p:txBody>
      </p:sp>
      <p:sp>
        <p:nvSpPr>
          <p:cNvPr id="11" name="Text 8"/>
          <p:cNvSpPr/>
          <p:nvPr/>
        </p:nvSpPr>
        <p:spPr>
          <a:xfrm>
            <a:off x="457200" y="2660904"/>
            <a:ext cx="320040" cy="320040"/>
          </a:xfrm>
          <a:prstGeom prst="rect">
            <a:avLst/>
          </a:prstGeom>
          <a:noFill/>
          <a:ln/>
        </p:spPr>
        <p:txBody>
          <a:bodyPr wrap="square" lIns="0" tIns="0" rIns="0" bIns="0" rtlCol="0" anchor="ctr"/>
          <a:lstStyle/>
          <a:p>
            <a:pPr marL="0" indent="0">
              <a:buNone/>
            </a:pPr>
            <a:r>
              <a:rPr lang="en-US" sz="1400" b="1" dirty="0">
                <a:solidFill>
                  <a:srgbClr val="8B1A1A"/>
                </a:solidFill>
                <a:latin typeface="Calibri" pitchFamily="34" charset="0"/>
                <a:ea typeface="Calibri" pitchFamily="34" charset="-122"/>
                <a:cs typeface="Calibri" pitchFamily="34" charset="-120"/>
              </a:rPr>
              <a:t>3.</a:t>
            </a:r>
            <a:endParaRPr lang="en-US" sz="1400" dirty="0"/>
          </a:p>
        </p:txBody>
      </p:sp>
      <p:sp>
        <p:nvSpPr>
          <p:cNvPr id="12" name="Text 9"/>
          <p:cNvSpPr/>
          <p:nvPr/>
        </p:nvSpPr>
        <p:spPr>
          <a:xfrm>
            <a:off x="777240" y="2660904"/>
            <a:ext cx="4160520" cy="201168"/>
          </a:xfrm>
          <a:prstGeom prst="rect">
            <a:avLst/>
          </a:prstGeom>
          <a:noFill/>
          <a:ln/>
        </p:spPr>
        <p:txBody>
          <a:bodyPr wrap="square" lIns="0" tIns="0" rIns="0" bIns="0"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Insufficient Identity Verification</a:t>
            </a:r>
            <a:endParaRPr lang="en-US" sz="1050" dirty="0"/>
          </a:p>
        </p:txBody>
      </p:sp>
      <p:sp>
        <p:nvSpPr>
          <p:cNvPr id="13" name="Text 10"/>
          <p:cNvSpPr/>
          <p:nvPr/>
        </p:nvSpPr>
        <p:spPr>
          <a:xfrm>
            <a:off x="777240" y="2843784"/>
            <a:ext cx="4160520" cy="219456"/>
          </a:xfrm>
          <a:prstGeom prst="rect">
            <a:avLst/>
          </a:prstGeom>
          <a:noFill/>
          <a:ln/>
        </p:spPr>
        <p:txBody>
          <a:bodyPr wrap="square" lIns="0" tIns="0" rIns="0" bIns="0" rtlCol="0" anchor="ctr"/>
          <a:lstStyle/>
          <a:p>
            <a:pPr marL="0" indent="0">
              <a:buNone/>
            </a:pPr>
            <a:r>
              <a:rPr lang="en-US" sz="850" dirty="0">
                <a:solidFill>
                  <a:srgbClr val="4A4A4A"/>
                </a:solidFill>
                <a:latin typeface="Calibri" pitchFamily="34" charset="0"/>
                <a:ea typeface="Calibri" pitchFamily="34" charset="-122"/>
                <a:cs typeface="Calibri" pitchFamily="34" charset="-120"/>
              </a:rPr>
              <a:t>No cryptographic agent identity — tokens stored in plaintext.</a:t>
            </a:r>
            <a:endParaRPr lang="en-US" sz="850" dirty="0"/>
          </a:p>
        </p:txBody>
      </p:sp>
      <p:sp>
        <p:nvSpPr>
          <p:cNvPr id="14" name="Text 11"/>
          <p:cNvSpPr/>
          <p:nvPr/>
        </p:nvSpPr>
        <p:spPr>
          <a:xfrm>
            <a:off x="457200" y="3099816"/>
            <a:ext cx="320040" cy="320040"/>
          </a:xfrm>
          <a:prstGeom prst="rect">
            <a:avLst/>
          </a:prstGeom>
          <a:noFill/>
          <a:ln/>
        </p:spPr>
        <p:txBody>
          <a:bodyPr wrap="square" lIns="0" tIns="0" rIns="0" bIns="0" rtlCol="0" anchor="ctr"/>
          <a:lstStyle/>
          <a:p>
            <a:pPr marL="0" indent="0">
              <a:buNone/>
            </a:pPr>
            <a:r>
              <a:rPr lang="en-US" sz="1400" b="1" dirty="0">
                <a:solidFill>
                  <a:srgbClr val="8B1A1A"/>
                </a:solidFill>
                <a:latin typeface="Calibri" pitchFamily="34" charset="0"/>
                <a:ea typeface="Calibri" pitchFamily="34" charset="-122"/>
                <a:cs typeface="Calibri" pitchFamily="34" charset="-120"/>
              </a:rPr>
              <a:t>4.</a:t>
            </a:r>
            <a:endParaRPr lang="en-US" sz="1400" dirty="0"/>
          </a:p>
        </p:txBody>
      </p:sp>
      <p:sp>
        <p:nvSpPr>
          <p:cNvPr id="15" name="Text 12"/>
          <p:cNvSpPr/>
          <p:nvPr/>
        </p:nvSpPr>
        <p:spPr>
          <a:xfrm>
            <a:off x="777240" y="3099816"/>
            <a:ext cx="4160520" cy="201168"/>
          </a:xfrm>
          <a:prstGeom prst="rect">
            <a:avLst/>
          </a:prstGeom>
          <a:noFill/>
          <a:ln/>
        </p:spPr>
        <p:txBody>
          <a:bodyPr wrap="square" lIns="0" tIns="0" rIns="0" bIns="0"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Insecure Plugin Ecosystem</a:t>
            </a:r>
            <a:endParaRPr lang="en-US" sz="1050" dirty="0"/>
          </a:p>
        </p:txBody>
      </p:sp>
      <p:sp>
        <p:nvSpPr>
          <p:cNvPr id="16" name="Text 13"/>
          <p:cNvSpPr/>
          <p:nvPr/>
        </p:nvSpPr>
        <p:spPr>
          <a:xfrm>
            <a:off x="777240" y="3282696"/>
            <a:ext cx="4160520" cy="219456"/>
          </a:xfrm>
          <a:prstGeom prst="rect">
            <a:avLst/>
          </a:prstGeom>
          <a:noFill/>
          <a:ln/>
        </p:spPr>
        <p:txBody>
          <a:bodyPr wrap="square" lIns="0" tIns="0" rIns="0" bIns="0" rtlCol="0" anchor="ctr"/>
          <a:lstStyle/>
          <a:p>
            <a:pPr marL="0" indent="0">
              <a:buNone/>
            </a:pPr>
            <a:r>
              <a:rPr lang="en-US" sz="850" dirty="0">
                <a:solidFill>
                  <a:srgbClr val="4A4A4A"/>
                </a:solidFill>
                <a:latin typeface="Calibri" pitchFamily="34" charset="0"/>
                <a:ea typeface="Calibri" pitchFamily="34" charset="-122"/>
                <a:cs typeface="Calibri" pitchFamily="34" charset="-120"/>
              </a:rPr>
              <a:t>No code signing, review process, or provenance verification for skills.</a:t>
            </a:r>
            <a:endParaRPr lang="en-US" sz="850" dirty="0"/>
          </a:p>
        </p:txBody>
      </p:sp>
      <p:sp>
        <p:nvSpPr>
          <p:cNvPr id="17" name="Text 14"/>
          <p:cNvSpPr/>
          <p:nvPr/>
        </p:nvSpPr>
        <p:spPr>
          <a:xfrm>
            <a:off x="457200" y="3538728"/>
            <a:ext cx="320040" cy="320040"/>
          </a:xfrm>
          <a:prstGeom prst="rect">
            <a:avLst/>
          </a:prstGeom>
          <a:noFill/>
          <a:ln/>
        </p:spPr>
        <p:txBody>
          <a:bodyPr wrap="square" lIns="0" tIns="0" rIns="0" bIns="0" rtlCol="0" anchor="ctr"/>
          <a:lstStyle/>
          <a:p>
            <a:pPr marL="0" indent="0">
              <a:buNone/>
            </a:pPr>
            <a:r>
              <a:rPr lang="en-US" sz="1400" b="1" dirty="0">
                <a:solidFill>
                  <a:srgbClr val="8B1A1A"/>
                </a:solidFill>
                <a:latin typeface="Calibri" pitchFamily="34" charset="0"/>
                <a:ea typeface="Calibri" pitchFamily="34" charset="-122"/>
                <a:cs typeface="Calibri" pitchFamily="34" charset="-120"/>
              </a:rPr>
              <a:t>5.</a:t>
            </a:r>
            <a:endParaRPr lang="en-US" sz="1400" dirty="0"/>
          </a:p>
        </p:txBody>
      </p:sp>
      <p:sp>
        <p:nvSpPr>
          <p:cNvPr id="18" name="Text 15"/>
          <p:cNvSpPr/>
          <p:nvPr/>
        </p:nvSpPr>
        <p:spPr>
          <a:xfrm>
            <a:off x="777240" y="3538728"/>
            <a:ext cx="4160520" cy="201168"/>
          </a:xfrm>
          <a:prstGeom prst="rect">
            <a:avLst/>
          </a:prstGeom>
          <a:noFill/>
          <a:ln/>
        </p:spPr>
        <p:txBody>
          <a:bodyPr wrap="square" lIns="0" tIns="0" rIns="0" bIns="0"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Unverified Integrations</a:t>
            </a:r>
            <a:endParaRPr lang="en-US" sz="1050" dirty="0"/>
          </a:p>
        </p:txBody>
      </p:sp>
      <p:sp>
        <p:nvSpPr>
          <p:cNvPr id="19" name="Text 16"/>
          <p:cNvSpPr/>
          <p:nvPr/>
        </p:nvSpPr>
        <p:spPr>
          <a:xfrm>
            <a:off x="777240" y="3721608"/>
            <a:ext cx="4160520" cy="219456"/>
          </a:xfrm>
          <a:prstGeom prst="rect">
            <a:avLst/>
          </a:prstGeom>
          <a:noFill/>
          <a:ln/>
        </p:spPr>
        <p:txBody>
          <a:bodyPr wrap="square" lIns="0" tIns="0" rIns="0" bIns="0" rtlCol="0" anchor="ctr"/>
          <a:lstStyle/>
          <a:p>
            <a:pPr marL="0" indent="0">
              <a:buNone/>
            </a:pPr>
            <a:r>
              <a:rPr lang="en-US" sz="850" dirty="0">
                <a:solidFill>
                  <a:srgbClr val="4A4A4A"/>
                </a:solidFill>
                <a:latin typeface="Calibri" pitchFamily="34" charset="0"/>
                <a:ea typeface="Calibri" pitchFamily="34" charset="-122"/>
                <a:cs typeface="Calibri" pitchFamily="34" charset="-120"/>
              </a:rPr>
              <a:t>Third-party messaging and API integrations lack security audits.</a:t>
            </a:r>
            <a:endParaRPr lang="en-US" sz="850" dirty="0"/>
          </a:p>
        </p:txBody>
      </p:sp>
      <p:sp>
        <p:nvSpPr>
          <p:cNvPr id="20" name="Text 17"/>
          <p:cNvSpPr/>
          <p:nvPr/>
        </p:nvSpPr>
        <p:spPr>
          <a:xfrm>
            <a:off x="457200" y="3977640"/>
            <a:ext cx="320040" cy="320040"/>
          </a:xfrm>
          <a:prstGeom prst="rect">
            <a:avLst/>
          </a:prstGeom>
          <a:noFill/>
          <a:ln/>
        </p:spPr>
        <p:txBody>
          <a:bodyPr wrap="square" lIns="0" tIns="0" rIns="0" bIns="0" rtlCol="0" anchor="ctr"/>
          <a:lstStyle/>
          <a:p>
            <a:pPr marL="0" indent="0">
              <a:buNone/>
            </a:pPr>
            <a:r>
              <a:rPr lang="en-US" sz="1400" b="1" dirty="0">
                <a:solidFill>
                  <a:srgbClr val="8B1A1A"/>
                </a:solidFill>
                <a:latin typeface="Calibri" pitchFamily="34" charset="0"/>
                <a:ea typeface="Calibri" pitchFamily="34" charset="-122"/>
                <a:cs typeface="Calibri" pitchFamily="34" charset="-120"/>
              </a:rPr>
              <a:t>6.</a:t>
            </a:r>
            <a:endParaRPr lang="en-US" sz="1400" dirty="0"/>
          </a:p>
        </p:txBody>
      </p:sp>
      <p:sp>
        <p:nvSpPr>
          <p:cNvPr id="21" name="Text 18"/>
          <p:cNvSpPr/>
          <p:nvPr/>
        </p:nvSpPr>
        <p:spPr>
          <a:xfrm>
            <a:off x="777240" y="3977640"/>
            <a:ext cx="4160520" cy="201168"/>
          </a:xfrm>
          <a:prstGeom prst="rect">
            <a:avLst/>
          </a:prstGeom>
          <a:noFill/>
          <a:ln/>
        </p:spPr>
        <p:txBody>
          <a:bodyPr wrap="square" lIns="0" tIns="0" rIns="0" bIns="0"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No Human-in-the-Loop</a:t>
            </a:r>
            <a:endParaRPr lang="en-US" sz="1050" dirty="0"/>
          </a:p>
        </p:txBody>
      </p:sp>
      <p:sp>
        <p:nvSpPr>
          <p:cNvPr id="22" name="Text 19"/>
          <p:cNvSpPr/>
          <p:nvPr/>
        </p:nvSpPr>
        <p:spPr>
          <a:xfrm>
            <a:off x="777240" y="4160520"/>
            <a:ext cx="4160520" cy="219456"/>
          </a:xfrm>
          <a:prstGeom prst="rect">
            <a:avLst/>
          </a:prstGeom>
          <a:noFill/>
          <a:ln/>
        </p:spPr>
        <p:txBody>
          <a:bodyPr wrap="square" lIns="0" tIns="0" rIns="0" bIns="0" rtlCol="0" anchor="ctr"/>
          <a:lstStyle/>
          <a:p>
            <a:pPr marL="0" indent="0">
              <a:buNone/>
            </a:pPr>
            <a:r>
              <a:rPr lang="en-US" sz="850" dirty="0">
                <a:solidFill>
                  <a:srgbClr val="4A4A4A"/>
                </a:solidFill>
                <a:latin typeface="Calibri" pitchFamily="34" charset="0"/>
                <a:ea typeface="Calibri" pitchFamily="34" charset="-122"/>
                <a:cs typeface="Calibri" pitchFamily="34" charset="-120"/>
              </a:rPr>
              <a:t>Autonomous execution with no approval gates for sensitive operations.</a:t>
            </a:r>
            <a:endParaRPr lang="en-US" sz="850" dirty="0"/>
          </a:p>
        </p:txBody>
      </p:sp>
      <p:sp>
        <p:nvSpPr>
          <p:cNvPr id="23" name="Shape 20"/>
          <p:cNvSpPr/>
          <p:nvPr/>
        </p:nvSpPr>
        <p:spPr>
          <a:xfrm>
            <a:off x="5120640" y="1783080"/>
            <a:ext cx="3566160" cy="1280160"/>
          </a:xfrm>
          <a:prstGeom prst="rect">
            <a:avLst/>
          </a:prstGeom>
          <a:solidFill>
            <a:srgbClr val="F0E9DC"/>
          </a:solidFill>
          <a:ln w="12700">
            <a:solidFill>
              <a:srgbClr val="F0E9DC"/>
            </a:solidFill>
            <a:prstDash val="solid"/>
          </a:ln>
        </p:spPr>
        <p:txBody>
          <a:bodyPr/>
          <a:lstStyle/>
          <a:p>
            <a:endParaRPr lang="en-US"/>
          </a:p>
        </p:txBody>
      </p:sp>
      <p:sp>
        <p:nvSpPr>
          <p:cNvPr id="24" name="Text 21"/>
          <p:cNvSpPr/>
          <p:nvPr/>
        </p:nvSpPr>
        <p:spPr>
          <a:xfrm>
            <a:off x="5212080" y="1874520"/>
            <a:ext cx="3383280" cy="228600"/>
          </a:xfrm>
          <a:prstGeom prst="rect">
            <a:avLst/>
          </a:prstGeom>
          <a:noFill/>
          <a:ln/>
        </p:spPr>
        <p:txBody>
          <a:bodyPr wrap="square" lIns="0" tIns="0" rIns="0" bIns="0" rtlCol="0" anchor="ctr"/>
          <a:lstStyle/>
          <a:p>
            <a:pPr marL="0" indent="0">
              <a:buNone/>
            </a:pPr>
            <a:r>
              <a:rPr lang="en-US" sz="900" b="1" kern="0" spc="200" dirty="0">
                <a:solidFill>
                  <a:srgbClr val="8B1A1A"/>
                </a:solidFill>
                <a:latin typeface="Calibri" pitchFamily="34" charset="0"/>
                <a:ea typeface="Calibri" pitchFamily="34" charset="-122"/>
                <a:cs typeface="Calibri" pitchFamily="34" charset="-120"/>
              </a:rPr>
              <a:t>NATIVE DEFENSE EFFECTIVENESS</a:t>
            </a:r>
            <a:endParaRPr lang="en-US" sz="900" dirty="0"/>
          </a:p>
        </p:txBody>
      </p:sp>
      <p:sp>
        <p:nvSpPr>
          <p:cNvPr id="25" name="Text 22"/>
          <p:cNvSpPr/>
          <p:nvPr/>
        </p:nvSpPr>
        <p:spPr>
          <a:xfrm>
            <a:off x="5120640" y="2103120"/>
            <a:ext cx="3566160" cy="640080"/>
          </a:xfrm>
          <a:prstGeom prst="rect">
            <a:avLst/>
          </a:prstGeom>
          <a:noFill/>
          <a:ln/>
        </p:spPr>
        <p:txBody>
          <a:bodyPr wrap="square" lIns="0" tIns="0" rIns="0" bIns="0" rtlCol="0" anchor="ctr"/>
          <a:lstStyle/>
          <a:p>
            <a:pPr marL="0" indent="0" algn="ctr">
              <a:buNone/>
            </a:pPr>
            <a:r>
              <a:rPr lang="en-US" sz="5600" b="1" dirty="0">
                <a:solidFill>
                  <a:srgbClr val="8B1A1A"/>
                </a:solidFill>
                <a:latin typeface="Calibri" pitchFamily="34" charset="0"/>
                <a:ea typeface="Calibri" pitchFamily="34" charset="-122"/>
                <a:cs typeface="Calibri" pitchFamily="34" charset="-120"/>
              </a:rPr>
              <a:t>17%</a:t>
            </a:r>
            <a:endParaRPr lang="en-US" sz="5600" dirty="0"/>
          </a:p>
        </p:txBody>
      </p:sp>
      <p:sp>
        <p:nvSpPr>
          <p:cNvPr id="26" name="Text 23"/>
          <p:cNvSpPr/>
          <p:nvPr/>
        </p:nvSpPr>
        <p:spPr>
          <a:xfrm>
            <a:off x="5303520" y="2743200"/>
            <a:ext cx="3200400" cy="274320"/>
          </a:xfrm>
          <a:prstGeom prst="rect">
            <a:avLst/>
          </a:prstGeom>
          <a:noFill/>
          <a:ln/>
        </p:spPr>
        <p:txBody>
          <a:bodyPr wrap="square" lIns="0" tIns="0" rIns="0" bIns="0" rtlCol="0" anchor="ctr"/>
          <a:lstStyle/>
          <a:p>
            <a:pPr marL="0" indent="0" algn="ctr">
              <a:buNone/>
            </a:pPr>
            <a:r>
              <a:rPr lang="en-US" sz="900" dirty="0">
                <a:solidFill>
                  <a:srgbClr val="2D2D2D"/>
                </a:solidFill>
                <a:latin typeface="Calibri" pitchFamily="34" charset="0"/>
                <a:ea typeface="Calibri" pitchFamily="34" charset="-122"/>
                <a:cs typeface="Calibri" pitchFamily="34" charset="-120"/>
              </a:rPr>
              <a:t>of adversarial attacks blocked by OpenClaw's built-in safety mechanisms</a:t>
            </a:r>
            <a:endParaRPr lang="en-US" sz="900" dirty="0"/>
          </a:p>
        </p:txBody>
      </p:sp>
      <p:sp>
        <p:nvSpPr>
          <p:cNvPr id="27" name="Shape 24"/>
          <p:cNvSpPr/>
          <p:nvPr/>
        </p:nvSpPr>
        <p:spPr>
          <a:xfrm>
            <a:off x="5120640" y="3200400"/>
            <a:ext cx="3566160" cy="1280160"/>
          </a:xfrm>
          <a:prstGeom prst="rect">
            <a:avLst/>
          </a:prstGeom>
          <a:solidFill>
            <a:srgbClr val="D9D9D9"/>
          </a:solidFill>
          <a:ln w="12700">
            <a:solidFill>
              <a:srgbClr val="D9D9D9"/>
            </a:solidFill>
            <a:prstDash val="solid"/>
          </a:ln>
        </p:spPr>
        <p:txBody>
          <a:bodyPr/>
          <a:lstStyle/>
          <a:p>
            <a:endParaRPr lang="en-US"/>
          </a:p>
        </p:txBody>
      </p:sp>
      <p:sp>
        <p:nvSpPr>
          <p:cNvPr id="28" name="Shape 25"/>
          <p:cNvSpPr/>
          <p:nvPr/>
        </p:nvSpPr>
        <p:spPr>
          <a:xfrm>
            <a:off x="5120640" y="3200400"/>
            <a:ext cx="54864" cy="1280160"/>
          </a:xfrm>
          <a:prstGeom prst="rect">
            <a:avLst/>
          </a:prstGeom>
          <a:solidFill>
            <a:srgbClr val="8B1A1A"/>
          </a:solidFill>
          <a:ln w="12700">
            <a:solidFill>
              <a:srgbClr val="8B1A1A"/>
            </a:solidFill>
            <a:prstDash val="solid"/>
          </a:ln>
        </p:spPr>
        <p:txBody>
          <a:bodyPr/>
          <a:lstStyle/>
          <a:p>
            <a:endParaRPr lang="en-US"/>
          </a:p>
        </p:txBody>
      </p:sp>
      <p:sp>
        <p:nvSpPr>
          <p:cNvPr id="29" name="Text 26"/>
          <p:cNvSpPr/>
          <p:nvPr/>
        </p:nvSpPr>
        <p:spPr>
          <a:xfrm>
            <a:off x="5303520" y="3291840"/>
            <a:ext cx="338328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With Human-in-the-Loop</a:t>
            </a:r>
            <a:endParaRPr lang="en-US" sz="1100" dirty="0"/>
          </a:p>
        </p:txBody>
      </p:sp>
      <p:sp>
        <p:nvSpPr>
          <p:cNvPr id="30" name="Text 27"/>
          <p:cNvSpPr/>
          <p:nvPr/>
        </p:nvSpPr>
        <p:spPr>
          <a:xfrm>
            <a:off x="5303520" y="3566160"/>
            <a:ext cx="3383280" cy="868680"/>
          </a:xfrm>
          <a:prstGeom prst="rect">
            <a:avLst/>
          </a:prstGeom>
          <a:noFill/>
          <a:ln/>
        </p:spPr>
        <p:txBody>
          <a:bodyPr wrap="square" lIns="0" tIns="0" rIns="0" bIns="0" rtlCol="0" anchor="ctr"/>
          <a:lstStyle/>
          <a:p>
            <a:pPr marL="0" indent="0">
              <a:buNone/>
            </a:pPr>
            <a:r>
              <a:rPr lang="en-US" sz="900" dirty="0">
                <a:solidFill>
                  <a:srgbClr val="2D2D2D"/>
                </a:solidFill>
                <a:latin typeface="Calibri" pitchFamily="34" charset="0"/>
                <a:ea typeface="Calibri" pitchFamily="34" charset="-122"/>
                <a:cs typeface="Calibri" pitchFamily="34" charset="-120"/>
              </a:rPr>
              <a:t>Adding human approval gates for sensitive operations significantly improves resilience. HITL layers are the single most effective defense against agentic AI attacks.</a:t>
            </a:r>
            <a:endParaRPr lang="en-US" sz="900" dirty="0"/>
          </a:p>
        </p:txBody>
      </p:sp>
      <p:sp>
        <p:nvSpPr>
          <p:cNvPr id="31" name="Shape 28"/>
          <p:cNvSpPr/>
          <p:nvPr/>
        </p:nvSpPr>
        <p:spPr>
          <a:xfrm>
            <a:off x="457200" y="4800600"/>
            <a:ext cx="8229600" cy="0"/>
          </a:xfrm>
          <a:prstGeom prst="line">
            <a:avLst/>
          </a:prstGeom>
          <a:noFill/>
          <a:ln w="6350">
            <a:solidFill>
              <a:srgbClr val="C4C4C4"/>
            </a:solidFill>
            <a:prstDash val="solid"/>
          </a:ln>
        </p:spPr>
        <p:txBody>
          <a:bodyPr/>
          <a:lstStyle/>
          <a:p>
            <a:endParaRPr lang="en-US"/>
          </a:p>
        </p:txBody>
      </p:sp>
      <p:sp>
        <p:nvSpPr>
          <p:cNvPr id="32" name="Text 29"/>
          <p:cNvSpPr/>
          <p:nvPr/>
        </p:nvSpPr>
        <p:spPr>
          <a:xfrm>
            <a:off x="457200" y="4873752"/>
            <a:ext cx="2743200" cy="228600"/>
          </a:xfrm>
          <a:prstGeom prst="rect">
            <a:avLst/>
          </a:prstGeom>
          <a:noFill/>
          <a:ln/>
        </p:spPr>
        <p:txBody>
          <a:bodyPr wrap="square" rtlCol="0" anchor="ctr"/>
          <a:lstStyle/>
          <a:p>
            <a:pPr marL="0" indent="0">
              <a:buNone/>
            </a:pPr>
            <a:r>
              <a:rPr lang="en-US" sz="900" dirty="0">
                <a:solidFill>
                  <a:srgbClr val="7A7A7A"/>
                </a:solidFill>
                <a:latin typeface="Calibri" pitchFamily="34" charset="0"/>
                <a:ea typeface="Calibri" pitchFamily="34" charset="-122"/>
                <a:cs typeface="Calibri" pitchFamily="34" charset="-120"/>
              </a:rPr>
              <a:t>AI Safety UAE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3" name="Text 0"/>
          <p:cNvSpPr/>
          <p:nvPr/>
        </p:nvSpPr>
        <p:spPr>
          <a:xfrm>
            <a:off x="457200" y="914400"/>
            <a:ext cx="3657600" cy="256032"/>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RISK SEVERITY</a:t>
            </a:r>
            <a:endParaRPr lang="en-US" sz="1000" dirty="0"/>
          </a:p>
        </p:txBody>
      </p:sp>
      <p:sp>
        <p:nvSpPr>
          <p:cNvPr id="4" name="Text 1"/>
          <p:cNvSpPr/>
          <p:nvPr/>
        </p:nvSpPr>
        <p:spPr>
          <a:xfrm>
            <a:off x="457200" y="1188720"/>
            <a:ext cx="8229600" cy="457200"/>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Risk Severity Matrix &amp; Framework Comparison</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029200" cy="1792224"/>
        </p:xfrm>
        <a:graphic>
          <a:graphicData uri="http://schemas.openxmlformats.org/drawingml/2006/table">
            <a:tbl>
              <a:tblPr/>
              <a:tblGrid>
                <a:gridCol w="2194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5603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Vulnerability</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Likelihood</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Severity</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B1A1A"/>
                    </a:solidFill>
                  </a:tcPr>
                </a:tc>
                <a:extLst>
                  <a:ext uri="{0D108BD9-81ED-4DB2-BD59-A6C34878D82A}">
                    <a16:rowId xmlns:a16="http://schemas.microsoft.com/office/drawing/2014/main" val="10000"/>
                  </a:ext>
                </a:extLst>
              </a:tr>
              <a:tr h="256032">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Remote Code Execution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91C1C"/>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91C1C"/>
                          </a:solidFill>
                          <a:latin typeface="Calibri" pitchFamily="34" charset="0"/>
                          <a:ea typeface="Calibri" pitchFamily="34" charset="-122"/>
                          <a:cs typeface="Calibri" pitchFamily="34" charset="-120"/>
                        </a:rPr>
                        <a:t>SEVERE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Prompt Injection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91C1C"/>
                          </a:solidFill>
                          <a:latin typeface="Calibri" pitchFamily="34" charset="0"/>
                          <a:ea typeface="Calibri" pitchFamily="34" charset="-122"/>
                          <a:cs typeface="Calibri" pitchFamily="34" charset="-120"/>
                        </a:rPr>
                        <a:t>SEVERE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Malicious Skills (Supply Chain)</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91C1C"/>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91C1C"/>
                          </a:solidFill>
                          <a:latin typeface="Calibri" pitchFamily="34" charset="0"/>
                          <a:ea typeface="Calibri" pitchFamily="34" charset="-122"/>
                          <a:cs typeface="Calibri" pitchFamily="34" charset="-120"/>
                        </a:rPr>
                        <a:t>SEVERE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Token Leakage</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91C1C"/>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97706"/>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ClawJacked (WebSocket)</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97706"/>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l">
                        <a:buNone/>
                      </a:pPr>
                      <a:r>
                        <a:rPr lang="en-US" sz="900" b="1" dirty="0">
                          <a:solidFill>
                            <a:srgbClr val="1A1A1A"/>
                          </a:solidFill>
                          <a:latin typeface="Calibri" pitchFamily="34" charset="0"/>
                          <a:ea typeface="Calibri" pitchFamily="34" charset="-122"/>
                          <a:cs typeface="Calibri" pitchFamily="34" charset="-120"/>
                        </a:rPr>
                        <a:t>Weak Default Configs</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2D2D"/>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97706"/>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2"/>
          <p:cNvSpPr/>
          <p:nvPr/>
        </p:nvSpPr>
        <p:spPr>
          <a:xfrm>
            <a:off x="5760720" y="1737360"/>
            <a:ext cx="2926080" cy="2084832"/>
          </a:xfrm>
          <a:prstGeom prst="rect">
            <a:avLst/>
          </a:prstGeom>
          <a:solidFill>
            <a:srgbClr val="F0E9DC"/>
          </a:solidFill>
          <a:ln w="12700">
            <a:solidFill>
              <a:srgbClr val="F0E9DC"/>
            </a:solidFill>
            <a:prstDash val="solid"/>
          </a:ln>
        </p:spPr>
        <p:txBody>
          <a:bodyPr/>
          <a:lstStyle/>
          <a:p>
            <a:endParaRPr lang="en-US"/>
          </a:p>
        </p:txBody>
      </p:sp>
      <p:sp>
        <p:nvSpPr>
          <p:cNvPr id="7" name="Text 3"/>
          <p:cNvSpPr/>
          <p:nvPr/>
        </p:nvSpPr>
        <p:spPr>
          <a:xfrm>
            <a:off x="5897880" y="1828800"/>
            <a:ext cx="27432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Framework Comparison</a:t>
            </a:r>
            <a:endParaRPr lang="en-US" sz="1100" dirty="0"/>
          </a:p>
        </p:txBody>
      </p:sp>
      <p:sp>
        <p:nvSpPr>
          <p:cNvPr id="8" name="Text 4"/>
          <p:cNvSpPr/>
          <p:nvPr/>
        </p:nvSpPr>
        <p:spPr>
          <a:xfrm>
            <a:off x="5897880" y="2148840"/>
            <a:ext cx="1645920" cy="22860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OpenClaw</a:t>
            </a:r>
            <a:endParaRPr lang="en-US" sz="1000" dirty="0"/>
          </a:p>
        </p:txBody>
      </p:sp>
      <p:sp>
        <p:nvSpPr>
          <p:cNvPr id="9" name="Text 5"/>
          <p:cNvSpPr/>
          <p:nvPr/>
        </p:nvSpPr>
        <p:spPr>
          <a:xfrm>
            <a:off x="7589520" y="2148840"/>
            <a:ext cx="1005840" cy="228600"/>
          </a:xfrm>
          <a:prstGeom prst="rect">
            <a:avLst/>
          </a:prstGeom>
          <a:noFill/>
          <a:ln/>
        </p:spPr>
        <p:txBody>
          <a:bodyPr wrap="square" lIns="0" tIns="0" rIns="0" bIns="0" rtlCol="0" anchor="ctr"/>
          <a:lstStyle/>
          <a:p>
            <a:pPr marL="0" indent="0" algn="r">
              <a:buNone/>
            </a:pPr>
            <a:r>
              <a:rPr lang="en-US" sz="1000" b="1" dirty="0">
                <a:solidFill>
                  <a:srgbClr val="B91C1C"/>
                </a:solidFill>
                <a:latin typeface="Calibri" pitchFamily="34" charset="0"/>
                <a:ea typeface="Calibri" pitchFamily="34" charset="-122"/>
                <a:cs typeface="Calibri" pitchFamily="34" charset="-120"/>
              </a:rPr>
              <a:t>Experimental</a:t>
            </a:r>
            <a:endParaRPr lang="en-US" sz="1000" dirty="0"/>
          </a:p>
        </p:txBody>
      </p:sp>
      <p:sp>
        <p:nvSpPr>
          <p:cNvPr id="10" name="Text 6"/>
          <p:cNvSpPr/>
          <p:nvPr/>
        </p:nvSpPr>
        <p:spPr>
          <a:xfrm>
            <a:off x="5897880" y="2514600"/>
            <a:ext cx="1645920" cy="22860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AutoGPT</a:t>
            </a:r>
            <a:endParaRPr lang="en-US" sz="1000" dirty="0"/>
          </a:p>
        </p:txBody>
      </p:sp>
      <p:sp>
        <p:nvSpPr>
          <p:cNvPr id="11" name="Text 7"/>
          <p:cNvSpPr/>
          <p:nvPr/>
        </p:nvSpPr>
        <p:spPr>
          <a:xfrm>
            <a:off x="7589520" y="2514600"/>
            <a:ext cx="1005840" cy="228600"/>
          </a:xfrm>
          <a:prstGeom prst="rect">
            <a:avLst/>
          </a:prstGeom>
          <a:noFill/>
          <a:ln/>
        </p:spPr>
        <p:txBody>
          <a:bodyPr wrap="square" lIns="0" tIns="0" rIns="0" bIns="0" rtlCol="0" anchor="ctr"/>
          <a:lstStyle/>
          <a:p>
            <a:pPr marL="0" indent="0" algn="r">
              <a:buNone/>
            </a:pPr>
            <a:r>
              <a:rPr lang="en-US" sz="1000" b="1" dirty="0">
                <a:solidFill>
                  <a:srgbClr val="D97706"/>
                </a:solidFill>
                <a:latin typeface="Calibri" pitchFamily="34" charset="0"/>
                <a:ea typeface="Calibri" pitchFamily="34" charset="-122"/>
                <a:cs typeface="Calibri" pitchFamily="34" charset="-120"/>
              </a:rPr>
              <a:t>Moderate</a:t>
            </a:r>
            <a:endParaRPr lang="en-US" sz="1000" dirty="0"/>
          </a:p>
        </p:txBody>
      </p:sp>
      <p:sp>
        <p:nvSpPr>
          <p:cNvPr id="12" name="Text 8"/>
          <p:cNvSpPr/>
          <p:nvPr/>
        </p:nvSpPr>
        <p:spPr>
          <a:xfrm>
            <a:off x="5897880" y="2880360"/>
            <a:ext cx="1645920" cy="22860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LangChain Agents</a:t>
            </a:r>
            <a:endParaRPr lang="en-US" sz="1000" dirty="0"/>
          </a:p>
        </p:txBody>
      </p:sp>
      <p:sp>
        <p:nvSpPr>
          <p:cNvPr id="13" name="Text 9"/>
          <p:cNvSpPr/>
          <p:nvPr/>
        </p:nvSpPr>
        <p:spPr>
          <a:xfrm>
            <a:off x="7589520" y="2880360"/>
            <a:ext cx="1005840" cy="228600"/>
          </a:xfrm>
          <a:prstGeom prst="rect">
            <a:avLst/>
          </a:prstGeom>
          <a:noFill/>
          <a:ln/>
        </p:spPr>
        <p:txBody>
          <a:bodyPr wrap="square" lIns="0" tIns="0" rIns="0" bIns="0" rtlCol="0" anchor="ctr"/>
          <a:lstStyle/>
          <a:p>
            <a:pPr marL="0" indent="0" algn="r">
              <a:buNone/>
            </a:pPr>
            <a:r>
              <a:rPr lang="en-US" sz="1000" b="1" dirty="0">
                <a:solidFill>
                  <a:srgbClr val="D97706"/>
                </a:solidFill>
                <a:latin typeface="Calibri" pitchFamily="34" charset="0"/>
                <a:ea typeface="Calibri" pitchFamily="34" charset="-122"/>
                <a:cs typeface="Calibri" pitchFamily="34" charset="-120"/>
              </a:rPr>
              <a:t>Moderate</a:t>
            </a:r>
            <a:endParaRPr lang="en-US" sz="1000" dirty="0"/>
          </a:p>
        </p:txBody>
      </p:sp>
      <p:sp>
        <p:nvSpPr>
          <p:cNvPr id="14" name="Text 10"/>
          <p:cNvSpPr/>
          <p:nvPr/>
        </p:nvSpPr>
        <p:spPr>
          <a:xfrm>
            <a:off x="5897880" y="3246120"/>
            <a:ext cx="1645920" cy="228600"/>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CrewAI</a:t>
            </a:r>
            <a:endParaRPr lang="en-US" sz="1000" dirty="0"/>
          </a:p>
        </p:txBody>
      </p:sp>
      <p:sp>
        <p:nvSpPr>
          <p:cNvPr id="15" name="Text 11"/>
          <p:cNvSpPr/>
          <p:nvPr/>
        </p:nvSpPr>
        <p:spPr>
          <a:xfrm>
            <a:off x="7589520" y="3246120"/>
            <a:ext cx="1005840" cy="228600"/>
          </a:xfrm>
          <a:prstGeom prst="rect">
            <a:avLst/>
          </a:prstGeom>
          <a:noFill/>
          <a:ln/>
        </p:spPr>
        <p:txBody>
          <a:bodyPr wrap="square" lIns="0" tIns="0" rIns="0" bIns="0" rtlCol="0" anchor="ctr"/>
          <a:lstStyle/>
          <a:p>
            <a:pPr marL="0" indent="0" algn="r">
              <a:buNone/>
            </a:pPr>
            <a:r>
              <a:rPr lang="en-US" sz="1000" b="1" dirty="0">
                <a:solidFill>
                  <a:srgbClr val="CA8A04"/>
                </a:solidFill>
                <a:latin typeface="Calibri" pitchFamily="34" charset="0"/>
                <a:ea typeface="Calibri" pitchFamily="34" charset="-122"/>
                <a:cs typeface="Calibri" pitchFamily="34" charset="-120"/>
              </a:rPr>
              <a:t>Emerging</a:t>
            </a:r>
            <a:endParaRPr lang="en-US" sz="1000" dirty="0"/>
          </a:p>
        </p:txBody>
      </p:sp>
      <p:sp>
        <p:nvSpPr>
          <p:cNvPr id="16" name="Text 12"/>
          <p:cNvSpPr/>
          <p:nvPr/>
        </p:nvSpPr>
        <p:spPr>
          <a:xfrm>
            <a:off x="457200" y="4069080"/>
            <a:ext cx="8229600" cy="685800"/>
          </a:xfrm>
          <a:prstGeom prst="rect">
            <a:avLst/>
          </a:prstGeom>
          <a:noFill/>
          <a:ln/>
        </p:spPr>
        <p:txBody>
          <a:bodyPr wrap="square" lIns="0" tIns="0" rIns="0" bIns="0" rtlCol="0" anchor="ctr"/>
          <a:lstStyle/>
          <a:p>
            <a:pPr marL="0" indent="0">
              <a:buNone/>
            </a:pPr>
            <a:r>
              <a:rPr lang="en-US" sz="950" i="1" dirty="0">
                <a:solidFill>
                  <a:srgbClr val="2D2D2D"/>
                </a:solidFill>
                <a:latin typeface="Calibri" pitchFamily="34" charset="0"/>
                <a:ea typeface="Calibri" pitchFamily="34" charset="-122"/>
                <a:cs typeface="Calibri" pitchFamily="34" charset="-120"/>
              </a:rPr>
              <a:t>OpenClaw's experimental security maturity rating reflects its rapid feature development outpacing security hardening. Compared to other agent frameworks, it has the widest attack surface due to its combination of direct system access, plugin ecosystem, and agent social networking features.</a:t>
            </a:r>
            <a:endParaRPr lang="en-US" sz="950" dirty="0"/>
          </a:p>
        </p:txBody>
      </p:sp>
      <p:sp>
        <p:nvSpPr>
          <p:cNvPr id="17" name="Shape 13"/>
          <p:cNvSpPr/>
          <p:nvPr/>
        </p:nvSpPr>
        <p:spPr>
          <a:xfrm>
            <a:off x="457200" y="4800600"/>
            <a:ext cx="8229600" cy="0"/>
          </a:xfrm>
          <a:prstGeom prst="line">
            <a:avLst/>
          </a:prstGeom>
          <a:noFill/>
          <a:ln w="6350">
            <a:solidFill>
              <a:srgbClr val="C4C4C4"/>
            </a:solidFill>
            <a:prstDash val="solid"/>
          </a:ln>
        </p:spPr>
        <p:txBody>
          <a:bodyPr/>
          <a:lstStyle/>
          <a:p>
            <a:endParaRPr lang="en-US"/>
          </a:p>
        </p:txBody>
      </p:sp>
      <p:sp>
        <p:nvSpPr>
          <p:cNvPr id="18" name="Text 14"/>
          <p:cNvSpPr/>
          <p:nvPr/>
        </p:nvSpPr>
        <p:spPr>
          <a:xfrm>
            <a:off x="457200" y="4873752"/>
            <a:ext cx="2743200" cy="228600"/>
          </a:xfrm>
          <a:prstGeom prst="rect">
            <a:avLst/>
          </a:prstGeom>
          <a:noFill/>
          <a:ln/>
        </p:spPr>
        <p:txBody>
          <a:bodyPr wrap="square" rtlCol="0" anchor="ctr"/>
          <a:lstStyle/>
          <a:p>
            <a:pPr marL="0" indent="0">
              <a:buNone/>
            </a:pPr>
            <a:r>
              <a:rPr lang="en-US" sz="900" dirty="0">
                <a:solidFill>
                  <a:srgbClr val="7A7A7A"/>
                </a:solidFill>
                <a:latin typeface="Calibri" pitchFamily="34" charset="0"/>
                <a:ea typeface="Calibri" pitchFamily="34" charset="-122"/>
                <a:cs typeface="Calibri" pitchFamily="34" charset="-120"/>
              </a:rPr>
              <a:t>AI Safety UAE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unpacked/ppt/media/image1.jpeg"/>
          <p:cNvPicPr>
            <a:picLocks noChangeAspect="1"/>
          </p:cNvPicPr>
          <p:nvPr/>
        </p:nvPicPr>
        <p:blipFill>
          <a:blip r:embed="rId3"/>
          <a:stretch>
            <a:fillRect/>
          </a:stretch>
        </p:blipFill>
        <p:spPr>
          <a:xfrm>
            <a:off x="320040" y="228600"/>
            <a:ext cx="1463040" cy="374904"/>
          </a:xfrm>
          <a:prstGeom prst="rect">
            <a:avLst/>
          </a:prstGeom>
        </p:spPr>
      </p:pic>
      <p:sp>
        <p:nvSpPr>
          <p:cNvPr id="4" name="Text 1"/>
          <p:cNvSpPr/>
          <p:nvPr/>
        </p:nvSpPr>
        <p:spPr>
          <a:xfrm>
            <a:off x="457200" y="694944"/>
            <a:ext cx="8229600" cy="502920"/>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Defensive Architecture Recommendations</a:t>
            </a:r>
            <a:endParaRPr lang="en-US" sz="2200" dirty="0"/>
          </a:p>
        </p:txBody>
      </p:sp>
      <p:sp>
        <p:nvSpPr>
          <p:cNvPr id="5" name="Shape 2"/>
          <p:cNvSpPr/>
          <p:nvPr/>
        </p:nvSpPr>
        <p:spPr>
          <a:xfrm>
            <a:off x="434340" y="1344772"/>
            <a:ext cx="2697480" cy="1170432"/>
          </a:xfrm>
          <a:prstGeom prst="rect">
            <a:avLst/>
          </a:prstGeom>
          <a:solidFill>
            <a:srgbClr val="D9D9D9"/>
          </a:solidFill>
          <a:ln w="12700">
            <a:solidFill>
              <a:srgbClr val="D9D9D9"/>
            </a:solidFill>
            <a:prstDash val="solid"/>
          </a:ln>
        </p:spPr>
        <p:txBody>
          <a:bodyPr/>
          <a:lstStyle/>
          <a:p>
            <a:endParaRPr lang="en-US"/>
          </a:p>
        </p:txBody>
      </p:sp>
      <p:sp>
        <p:nvSpPr>
          <p:cNvPr id="6" name="Shape 3"/>
          <p:cNvSpPr/>
          <p:nvPr/>
        </p:nvSpPr>
        <p:spPr>
          <a:xfrm>
            <a:off x="434340" y="1344772"/>
            <a:ext cx="54864" cy="1170432"/>
          </a:xfrm>
          <a:prstGeom prst="rect">
            <a:avLst/>
          </a:prstGeom>
          <a:solidFill>
            <a:srgbClr val="8B1A1A"/>
          </a:solidFill>
          <a:ln w="12700">
            <a:solidFill>
              <a:srgbClr val="8B1A1A"/>
            </a:solidFill>
            <a:prstDash val="solid"/>
          </a:ln>
        </p:spPr>
        <p:txBody>
          <a:bodyPr/>
          <a:lstStyle/>
          <a:p>
            <a:endParaRPr lang="en-US"/>
          </a:p>
        </p:txBody>
      </p:sp>
      <p:sp>
        <p:nvSpPr>
          <p:cNvPr id="7" name="Text 4"/>
          <p:cNvSpPr/>
          <p:nvPr/>
        </p:nvSpPr>
        <p:spPr>
          <a:xfrm>
            <a:off x="571500" y="1436212"/>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Permission Tiering</a:t>
            </a:r>
            <a:endParaRPr lang="en-US" sz="1100" dirty="0"/>
          </a:p>
        </p:txBody>
      </p:sp>
      <p:sp>
        <p:nvSpPr>
          <p:cNvPr id="8" name="Text 5"/>
          <p:cNvSpPr/>
          <p:nvPr/>
        </p:nvSpPr>
        <p:spPr>
          <a:xfrm>
            <a:off x="571500" y="1728820"/>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Implement least-privilege access with granular tool permissions. Separate read/write/execute capabilities per skill.</a:t>
            </a:r>
            <a:endParaRPr lang="en-US" sz="850" dirty="0"/>
          </a:p>
        </p:txBody>
      </p:sp>
      <p:sp>
        <p:nvSpPr>
          <p:cNvPr id="9" name="Shape 6"/>
          <p:cNvSpPr/>
          <p:nvPr/>
        </p:nvSpPr>
        <p:spPr>
          <a:xfrm>
            <a:off x="3223260" y="1344772"/>
            <a:ext cx="2697480" cy="1170432"/>
          </a:xfrm>
          <a:prstGeom prst="rect">
            <a:avLst/>
          </a:prstGeom>
          <a:solidFill>
            <a:srgbClr val="D9D9D9"/>
          </a:solidFill>
          <a:ln w="12700">
            <a:solidFill>
              <a:srgbClr val="D9D9D9"/>
            </a:solidFill>
            <a:prstDash val="solid"/>
          </a:ln>
        </p:spPr>
        <p:txBody>
          <a:bodyPr/>
          <a:lstStyle/>
          <a:p>
            <a:endParaRPr lang="en-US"/>
          </a:p>
        </p:txBody>
      </p:sp>
      <p:sp>
        <p:nvSpPr>
          <p:cNvPr id="10" name="Shape 7"/>
          <p:cNvSpPr/>
          <p:nvPr/>
        </p:nvSpPr>
        <p:spPr>
          <a:xfrm>
            <a:off x="3223260" y="1344772"/>
            <a:ext cx="54864" cy="1170432"/>
          </a:xfrm>
          <a:prstGeom prst="rect">
            <a:avLst/>
          </a:prstGeom>
          <a:solidFill>
            <a:srgbClr val="8B1A1A"/>
          </a:solidFill>
          <a:ln w="12700">
            <a:solidFill>
              <a:srgbClr val="8B1A1A"/>
            </a:solidFill>
            <a:prstDash val="solid"/>
          </a:ln>
        </p:spPr>
        <p:txBody>
          <a:bodyPr/>
          <a:lstStyle/>
          <a:p>
            <a:endParaRPr lang="en-US"/>
          </a:p>
        </p:txBody>
      </p:sp>
      <p:sp>
        <p:nvSpPr>
          <p:cNvPr id="11" name="Text 8"/>
          <p:cNvSpPr/>
          <p:nvPr/>
        </p:nvSpPr>
        <p:spPr>
          <a:xfrm>
            <a:off x="3360420" y="1436212"/>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Sandboxed Execution</a:t>
            </a:r>
            <a:endParaRPr lang="en-US" sz="1100" dirty="0"/>
          </a:p>
        </p:txBody>
      </p:sp>
      <p:sp>
        <p:nvSpPr>
          <p:cNvPr id="12" name="Text 9"/>
          <p:cNvSpPr/>
          <p:nvPr/>
        </p:nvSpPr>
        <p:spPr>
          <a:xfrm>
            <a:off x="3360420" y="1728820"/>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Run agent code in isolated containers or VMs. Use seccomp profiles and AppArmor policies for syscall filtering.</a:t>
            </a:r>
            <a:endParaRPr lang="en-US" sz="850" dirty="0"/>
          </a:p>
        </p:txBody>
      </p:sp>
      <p:sp>
        <p:nvSpPr>
          <p:cNvPr id="13" name="Shape 10"/>
          <p:cNvSpPr/>
          <p:nvPr/>
        </p:nvSpPr>
        <p:spPr>
          <a:xfrm>
            <a:off x="6012180" y="1344772"/>
            <a:ext cx="2697480" cy="1170432"/>
          </a:xfrm>
          <a:prstGeom prst="rect">
            <a:avLst/>
          </a:prstGeom>
          <a:solidFill>
            <a:srgbClr val="D9D9D9"/>
          </a:solidFill>
          <a:ln w="12700">
            <a:solidFill>
              <a:srgbClr val="D9D9D9"/>
            </a:solidFill>
            <a:prstDash val="solid"/>
          </a:ln>
        </p:spPr>
        <p:txBody>
          <a:bodyPr/>
          <a:lstStyle/>
          <a:p>
            <a:endParaRPr lang="en-US"/>
          </a:p>
        </p:txBody>
      </p:sp>
      <p:sp>
        <p:nvSpPr>
          <p:cNvPr id="14" name="Shape 11"/>
          <p:cNvSpPr/>
          <p:nvPr/>
        </p:nvSpPr>
        <p:spPr>
          <a:xfrm>
            <a:off x="6012180" y="1344772"/>
            <a:ext cx="54864" cy="1170432"/>
          </a:xfrm>
          <a:prstGeom prst="rect">
            <a:avLst/>
          </a:prstGeom>
          <a:solidFill>
            <a:srgbClr val="8B1A1A"/>
          </a:solidFill>
          <a:ln w="12700">
            <a:solidFill>
              <a:srgbClr val="8B1A1A"/>
            </a:solidFill>
            <a:prstDash val="solid"/>
          </a:ln>
        </p:spPr>
        <p:txBody>
          <a:bodyPr/>
          <a:lstStyle/>
          <a:p>
            <a:endParaRPr lang="en-US"/>
          </a:p>
        </p:txBody>
      </p:sp>
      <p:sp>
        <p:nvSpPr>
          <p:cNvPr id="15" name="Text 12"/>
          <p:cNvSpPr/>
          <p:nvPr/>
        </p:nvSpPr>
        <p:spPr>
          <a:xfrm>
            <a:off x="6149340" y="1436212"/>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Secure Plugin Signing</a:t>
            </a:r>
            <a:endParaRPr lang="en-US" sz="1100" dirty="0"/>
          </a:p>
        </p:txBody>
      </p:sp>
      <p:sp>
        <p:nvSpPr>
          <p:cNvPr id="16" name="Text 13"/>
          <p:cNvSpPr/>
          <p:nvPr/>
        </p:nvSpPr>
        <p:spPr>
          <a:xfrm>
            <a:off x="6149340" y="1728820"/>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Require cryptographic signatures for all ClawHub skills. Verify provenance and integrity before installation.</a:t>
            </a:r>
            <a:endParaRPr lang="en-US" sz="850" dirty="0"/>
          </a:p>
        </p:txBody>
      </p:sp>
      <p:sp>
        <p:nvSpPr>
          <p:cNvPr id="17" name="Shape 14"/>
          <p:cNvSpPr/>
          <p:nvPr/>
        </p:nvSpPr>
        <p:spPr>
          <a:xfrm>
            <a:off x="434340" y="2606644"/>
            <a:ext cx="2697480" cy="1170432"/>
          </a:xfrm>
          <a:prstGeom prst="rect">
            <a:avLst/>
          </a:prstGeom>
          <a:solidFill>
            <a:srgbClr val="F0E9DC"/>
          </a:solidFill>
          <a:ln w="12700">
            <a:solidFill>
              <a:srgbClr val="F0E9DC"/>
            </a:solidFill>
            <a:prstDash val="solid"/>
          </a:ln>
        </p:spPr>
        <p:txBody>
          <a:bodyPr/>
          <a:lstStyle/>
          <a:p>
            <a:endParaRPr lang="en-US"/>
          </a:p>
        </p:txBody>
      </p:sp>
      <p:sp>
        <p:nvSpPr>
          <p:cNvPr id="18" name="Shape 15"/>
          <p:cNvSpPr/>
          <p:nvPr/>
        </p:nvSpPr>
        <p:spPr>
          <a:xfrm>
            <a:off x="434340" y="2606644"/>
            <a:ext cx="54864" cy="1170432"/>
          </a:xfrm>
          <a:prstGeom prst="rect">
            <a:avLst/>
          </a:prstGeom>
          <a:solidFill>
            <a:srgbClr val="8B1A1A"/>
          </a:solidFill>
          <a:ln w="12700">
            <a:solidFill>
              <a:srgbClr val="8B1A1A"/>
            </a:solidFill>
            <a:prstDash val="solid"/>
          </a:ln>
        </p:spPr>
        <p:txBody>
          <a:bodyPr/>
          <a:lstStyle/>
          <a:p>
            <a:endParaRPr lang="en-US"/>
          </a:p>
        </p:txBody>
      </p:sp>
      <p:sp>
        <p:nvSpPr>
          <p:cNvPr id="19" name="Text 16"/>
          <p:cNvSpPr/>
          <p:nvPr/>
        </p:nvSpPr>
        <p:spPr>
          <a:xfrm>
            <a:off x="571500" y="2698084"/>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Human-in-the-Loop</a:t>
            </a:r>
            <a:endParaRPr lang="en-US" sz="1100" dirty="0"/>
          </a:p>
        </p:txBody>
      </p:sp>
      <p:sp>
        <p:nvSpPr>
          <p:cNvPr id="20" name="Text 17"/>
          <p:cNvSpPr/>
          <p:nvPr/>
        </p:nvSpPr>
        <p:spPr>
          <a:xfrm>
            <a:off x="571500" y="2990692"/>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Require human approval for sensitive operations: shell commands, file deletion, API calls, and message sending.</a:t>
            </a:r>
            <a:endParaRPr lang="en-US" sz="850" dirty="0"/>
          </a:p>
        </p:txBody>
      </p:sp>
      <p:sp>
        <p:nvSpPr>
          <p:cNvPr id="21" name="Shape 18"/>
          <p:cNvSpPr/>
          <p:nvPr/>
        </p:nvSpPr>
        <p:spPr>
          <a:xfrm>
            <a:off x="3223260" y="2606644"/>
            <a:ext cx="2697480" cy="1170432"/>
          </a:xfrm>
          <a:prstGeom prst="rect">
            <a:avLst/>
          </a:prstGeom>
          <a:solidFill>
            <a:srgbClr val="F0E9DC"/>
          </a:solidFill>
          <a:ln w="12700">
            <a:solidFill>
              <a:srgbClr val="F0E9DC"/>
            </a:solidFill>
            <a:prstDash val="solid"/>
          </a:ln>
        </p:spPr>
        <p:txBody>
          <a:bodyPr/>
          <a:lstStyle/>
          <a:p>
            <a:endParaRPr lang="en-US"/>
          </a:p>
        </p:txBody>
      </p:sp>
      <p:sp>
        <p:nvSpPr>
          <p:cNvPr id="22" name="Shape 19"/>
          <p:cNvSpPr/>
          <p:nvPr/>
        </p:nvSpPr>
        <p:spPr>
          <a:xfrm>
            <a:off x="3223260" y="2606644"/>
            <a:ext cx="54864" cy="1170432"/>
          </a:xfrm>
          <a:prstGeom prst="rect">
            <a:avLst/>
          </a:prstGeom>
          <a:solidFill>
            <a:srgbClr val="8B1A1A"/>
          </a:solidFill>
          <a:ln w="12700">
            <a:solidFill>
              <a:srgbClr val="8B1A1A"/>
            </a:solidFill>
            <a:prstDash val="solid"/>
          </a:ln>
        </p:spPr>
        <p:txBody>
          <a:bodyPr/>
          <a:lstStyle/>
          <a:p>
            <a:endParaRPr lang="en-US"/>
          </a:p>
        </p:txBody>
      </p:sp>
      <p:sp>
        <p:nvSpPr>
          <p:cNvPr id="23" name="Text 20"/>
          <p:cNvSpPr/>
          <p:nvPr/>
        </p:nvSpPr>
        <p:spPr>
          <a:xfrm>
            <a:off x="3360420" y="2698084"/>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Behavioral Monitoring</a:t>
            </a:r>
            <a:endParaRPr lang="en-US" sz="1100" dirty="0"/>
          </a:p>
        </p:txBody>
      </p:sp>
      <p:sp>
        <p:nvSpPr>
          <p:cNvPr id="24" name="Text 21"/>
          <p:cNvSpPr/>
          <p:nvPr/>
        </p:nvSpPr>
        <p:spPr>
          <a:xfrm>
            <a:off x="3360420" y="2990692"/>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Deploy anomaly detection on agent tool usage patterns. Alert on unusual command sequences or data access.</a:t>
            </a:r>
            <a:endParaRPr lang="en-US" sz="850" dirty="0"/>
          </a:p>
        </p:txBody>
      </p:sp>
      <p:sp>
        <p:nvSpPr>
          <p:cNvPr id="25" name="Shape 22"/>
          <p:cNvSpPr/>
          <p:nvPr/>
        </p:nvSpPr>
        <p:spPr>
          <a:xfrm>
            <a:off x="6012180" y="2606644"/>
            <a:ext cx="2697480" cy="1170432"/>
          </a:xfrm>
          <a:prstGeom prst="rect">
            <a:avLst/>
          </a:prstGeom>
          <a:solidFill>
            <a:srgbClr val="F0E9DC"/>
          </a:solidFill>
          <a:ln w="12700">
            <a:solidFill>
              <a:srgbClr val="F0E9DC"/>
            </a:solidFill>
            <a:prstDash val="solid"/>
          </a:ln>
        </p:spPr>
        <p:txBody>
          <a:bodyPr/>
          <a:lstStyle/>
          <a:p>
            <a:endParaRPr lang="en-US"/>
          </a:p>
        </p:txBody>
      </p:sp>
      <p:sp>
        <p:nvSpPr>
          <p:cNvPr id="26" name="Shape 23"/>
          <p:cNvSpPr/>
          <p:nvPr/>
        </p:nvSpPr>
        <p:spPr>
          <a:xfrm>
            <a:off x="6012180" y="2606644"/>
            <a:ext cx="54864" cy="1170432"/>
          </a:xfrm>
          <a:prstGeom prst="rect">
            <a:avLst/>
          </a:prstGeom>
          <a:solidFill>
            <a:srgbClr val="8B1A1A"/>
          </a:solidFill>
          <a:ln w="12700">
            <a:solidFill>
              <a:srgbClr val="8B1A1A"/>
            </a:solidFill>
            <a:prstDash val="solid"/>
          </a:ln>
        </p:spPr>
        <p:txBody>
          <a:bodyPr/>
          <a:lstStyle/>
          <a:p>
            <a:endParaRPr lang="en-US"/>
          </a:p>
        </p:txBody>
      </p:sp>
      <p:sp>
        <p:nvSpPr>
          <p:cNvPr id="27" name="Text 24"/>
          <p:cNvSpPr/>
          <p:nvPr/>
        </p:nvSpPr>
        <p:spPr>
          <a:xfrm>
            <a:off x="6149340" y="2698084"/>
            <a:ext cx="2514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LLM Firewall Layers</a:t>
            </a:r>
            <a:endParaRPr lang="en-US" sz="1100" dirty="0"/>
          </a:p>
        </p:txBody>
      </p:sp>
      <p:sp>
        <p:nvSpPr>
          <p:cNvPr id="28" name="Text 25"/>
          <p:cNvSpPr/>
          <p:nvPr/>
        </p:nvSpPr>
        <p:spPr>
          <a:xfrm>
            <a:off x="6149340" y="2990692"/>
            <a:ext cx="2514600" cy="713232"/>
          </a:xfrm>
          <a:prstGeom prst="rect">
            <a:avLst/>
          </a:prstGeom>
          <a:noFill/>
          <a:ln/>
        </p:spPr>
        <p:txBody>
          <a:bodyPr wrap="square" lIns="0" tIns="0" rIns="0" bIns="0" rtlCol="0" anchor="ctr"/>
          <a:lstStyle/>
          <a:p>
            <a:pPr marL="0" indent="0">
              <a:buNone/>
            </a:pPr>
            <a:r>
              <a:rPr lang="en-US" sz="850" dirty="0">
                <a:solidFill>
                  <a:srgbClr val="2D2D2D"/>
                </a:solidFill>
                <a:latin typeface="Calibri" pitchFamily="34" charset="0"/>
                <a:ea typeface="Calibri" pitchFamily="34" charset="-122"/>
                <a:cs typeface="Calibri" pitchFamily="34" charset="-120"/>
              </a:rPr>
              <a:t>Input/output filtering for prompt injection detection. Tool-use policy enforcement with allowlists and rate limits.</a:t>
            </a:r>
            <a:endParaRPr lang="en-US" sz="850" dirty="0"/>
          </a:p>
        </p:txBody>
      </p:sp>
      <p:sp>
        <p:nvSpPr>
          <p:cNvPr id="29" name="Shape 26"/>
          <p:cNvSpPr/>
          <p:nvPr/>
        </p:nvSpPr>
        <p:spPr>
          <a:xfrm>
            <a:off x="434340" y="3905092"/>
            <a:ext cx="8229600" cy="365760"/>
          </a:xfrm>
          <a:prstGeom prst="rect">
            <a:avLst/>
          </a:prstGeom>
          <a:solidFill>
            <a:srgbClr val="F0E9DC"/>
          </a:solidFill>
          <a:ln w="12700">
            <a:solidFill>
              <a:srgbClr val="C9A961"/>
            </a:solidFill>
            <a:prstDash val="solid"/>
          </a:ln>
        </p:spPr>
        <p:txBody>
          <a:bodyPr/>
          <a:lstStyle/>
          <a:p>
            <a:endParaRPr lang="en-US"/>
          </a:p>
        </p:txBody>
      </p:sp>
      <p:sp>
        <p:nvSpPr>
          <p:cNvPr id="30" name="Text 27"/>
          <p:cNvSpPr/>
          <p:nvPr/>
        </p:nvSpPr>
        <p:spPr>
          <a:xfrm>
            <a:off x="571500" y="3905092"/>
            <a:ext cx="8046720" cy="365760"/>
          </a:xfrm>
          <a:prstGeom prst="rect">
            <a:avLst/>
          </a:prstGeom>
          <a:noFill/>
          <a:ln/>
        </p:spPr>
        <p:txBody>
          <a:bodyPr wrap="square" lIns="0" tIns="0" rIns="0" bIns="0" rtlCol="0" anchor="ctr"/>
          <a:lstStyle/>
          <a:p>
            <a:pPr marL="0" indent="0">
              <a:buNone/>
            </a:pPr>
            <a:r>
              <a:rPr lang="en-US" sz="1000" b="1" dirty="0">
                <a:solidFill>
                  <a:srgbClr val="8B1A1A"/>
                </a:solidFill>
                <a:latin typeface="Calibri" pitchFamily="34" charset="0"/>
                <a:ea typeface="Calibri" pitchFamily="34" charset="-122"/>
                <a:cs typeface="Calibri" pitchFamily="34" charset="-120"/>
              </a:rPr>
              <a:t>→  </a:t>
            </a:r>
            <a:r>
              <a:rPr lang="en-US" sz="1000" b="1" dirty="0">
                <a:solidFill>
                  <a:srgbClr val="1A1A1A"/>
                </a:solidFill>
                <a:latin typeface="Calibri" pitchFamily="34" charset="0"/>
                <a:ea typeface="Calibri" pitchFamily="34" charset="-122"/>
                <a:cs typeface="Calibri" pitchFamily="34" charset="-120"/>
              </a:rPr>
              <a:t>Defense-in-depth is essential. </a:t>
            </a:r>
            <a:r>
              <a:rPr lang="en-US" sz="1000" dirty="0">
                <a:solidFill>
                  <a:srgbClr val="1A1A1A"/>
                </a:solidFill>
                <a:latin typeface="Calibri" pitchFamily="34" charset="0"/>
                <a:ea typeface="Calibri" pitchFamily="34" charset="-122"/>
                <a:cs typeface="Calibri" pitchFamily="34" charset="-120"/>
              </a:rPr>
              <a:t>No single mitigation is sufficient. Combine permission tiering, sandboxing, HITL gates, and behavioral monitoring for effective agentic AI security.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88a8e79-f960-4885-9548-44c027780baf}" enabled="1" method="Standard" siteId="{73561903-7c11-4927-809d-b9a31fda7d61}" contentBits="0" removed="0"/>
</clbl:labelList>
</file>

<file path=docProps/app.xml><?xml version="1.0" encoding="utf-8"?>
<Properties xmlns="http://schemas.openxmlformats.org/officeDocument/2006/extended-properties" xmlns:vt="http://schemas.openxmlformats.org/officeDocument/2006/docPropsVTypes">
  <TotalTime>936</TotalTime>
  <Words>1459</Words>
  <Application>Microsoft Macintosh PowerPoint</Application>
  <PresentationFormat>On-screen Show (16:9)</PresentationFormat>
  <Paragraphs>283</Paragraphs>
  <Slides>16</Slides>
  <Notes>12</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Tahoma</vt:lpstr>
      <vt:lpstr>Trebuchet MS</vt:lpstr>
      <vt:lpstr>Verdana</vt:lpstr>
      <vt:lpstr>Office Theme</vt:lpstr>
      <vt:lpstr>PowerPoint Presentation</vt:lpstr>
      <vt:lpstr>OpenClaw:The Fastest Growing GitHub Project Ever</vt:lpstr>
      <vt:lpstr>PowerPoint Presentation</vt:lpstr>
      <vt:lpstr>PowerPoint Presentation</vt:lpstr>
      <vt:lpstr>Social Networks</vt:lpstr>
      <vt:lpstr>Search Engines</vt:lpstr>
      <vt:lpstr>Markdown is Now Executable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OpenClaw Security Session</dc:title>
  <dc:subject>PptxGenJS Presentation</dc:subject>
  <dc:creator>AI Safety UAE</dc:creator>
  <cp:lastModifiedBy>Swaleha Parveen</cp:lastModifiedBy>
  <cp:revision>3</cp:revision>
  <dcterms:created xsi:type="dcterms:W3CDTF">2026-04-18T16:21:55Z</dcterms:created>
  <dcterms:modified xsi:type="dcterms:W3CDTF">2026-04-19T08:04:23Z</dcterms:modified>
</cp:coreProperties>
</file>