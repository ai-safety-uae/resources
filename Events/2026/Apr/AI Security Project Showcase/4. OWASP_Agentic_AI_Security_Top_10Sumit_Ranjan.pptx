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CVEs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OpenClaw</c:v>
                </c:pt>
                <c:pt idx="1">
                  <c:v>LangChain</c:v>
                </c:pt>
                <c:pt idx="2">
                  <c:v>n8n</c:v>
                </c:pt>
                <c:pt idx="3">
                  <c:v>PraisonAI</c:v>
                </c:pt>
                <c:pt idx="4">
                  <c:v>LlamaIndex</c:v>
                </c:pt>
                <c:pt idx="5">
                  <c:v>LangGraph</c:v>
                </c:pt>
                <c:pt idx="6">
                  <c:v>smolagents</c:v>
                </c:pt>
                <c:pt idx="7">
                  <c:v>CrewAI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238</c:v>
                </c:pt>
                <c:pt idx="1">
                  <c:v>51</c:v>
                </c:pt>
                <c:pt idx="2">
                  <c:v>53</c:v>
                </c:pt>
                <c:pt idx="3">
                  <c:v>10</c:v>
                </c:pt>
                <c:pt idx="4">
                  <c:v>7</c:v>
                </c:pt>
                <c:pt idx="5">
                  <c:v>7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DE-4367-BF61-C2E1C57DEA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OpenClaw</c:v>
                </c:pt>
                <c:pt idx="1">
                  <c:v>LangChain</c:v>
                </c:pt>
                <c:pt idx="2">
                  <c:v>n8n</c:v>
                </c:pt>
                <c:pt idx="3">
                  <c:v>PraisonAI</c:v>
                </c:pt>
                <c:pt idx="4">
                  <c:v>LlamaIndex</c:v>
                </c:pt>
                <c:pt idx="5">
                  <c:v>LangGraph</c:v>
                </c:pt>
                <c:pt idx="6">
                  <c:v>smolagents</c:v>
                </c:pt>
                <c:pt idx="7">
                  <c:v>CrewAI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</c:v>
                </c:pt>
                <c:pt idx="1">
                  <c:v>23</c:v>
                </c:pt>
                <c:pt idx="2">
                  <c:v>20</c:v>
                </c:pt>
                <c:pt idx="3">
                  <c:v>5</c:v>
                </c:pt>
                <c:pt idx="4">
                  <c:v>2</c:v>
                </c:pt>
                <c:pt idx="5">
                  <c:v>0</c:v>
                </c:pt>
                <c:pt idx="6">
                  <c:v>1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DE-4367-BF61-C2E1C57DEA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53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315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"/>
            <a:ext cx="201168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2064" y="26517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سلامة الذكاء الاصطناعي في الإمارات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PRESENTATION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 Security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Hype to Threat Surface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114800" cy="36576"/>
          </a:xfrm>
          <a:prstGeom prst="rect">
            <a:avLst/>
          </a:prstGeom>
          <a:solidFill>
            <a:srgbClr val="EDE8DC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225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CVEs · OWASP Top 10 · Real Incidents · Secure 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Sumit Ranjan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35478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Technologist  |  Author: Enterprise Agentic AI  |  Author: OWASP Agentic AI Top 10 Threats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3716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DE8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7200" dirty="0"/>
          </a:p>
          <a:p>
            <a:pPr marL="0" indent="0" algn="ctr">
              <a:buNone/>
            </a:pPr>
            <a:r>
              <a:rPr lang="en-US" sz="7200" b="1" dirty="0">
                <a:solidFill>
                  <a:srgbClr val="EDE8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</a:t>
            </a:r>
            <a:endParaRPr lang="en-US" sz="7200" dirty="0"/>
          </a:p>
        </p:txBody>
      </p:sp>
      <p:sp>
        <p:nvSpPr>
          <p:cNvPr id="19" name="Shape 17"/>
          <p:cNvSpPr/>
          <p:nvPr/>
        </p:nvSpPr>
        <p:spPr>
          <a:xfrm>
            <a:off x="7680960" y="420624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346988-6EEB-0633-CABB-E0BE039C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89" b="37422"/>
          <a:stretch>
            <a:fillRect/>
          </a:stretch>
        </p:blipFill>
        <p:spPr>
          <a:xfrm>
            <a:off x="240030" y="86868"/>
            <a:ext cx="1308975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09728"/>
            <a:ext cx="201168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2064" y="26517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سلامة الذكاء الاصطناعي في الإمارات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Tool Explosion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PEOPLE USE AI TODAY — AND WHY SECURITY CAN'T WAIT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1965960" cy="301752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91640"/>
            <a:ext cx="1965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221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Agents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328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· GitHub Copilot · Cursor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807208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grant agents read/write access to full codebases, CI/CD pipelines, and cloud credentials. A single prompt can commit, push and deploy.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" y="4233672"/>
            <a:ext cx="1819656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8853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150M+ MCP downloads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04872" y="1691640"/>
            <a:ext cx="1965960" cy="301752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04872" y="1691640"/>
            <a:ext cx="1965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496312" y="2221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Developers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96312" y="25328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· Zapier · Power Automate + 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6312" y="2807208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staff build automated workflows connecting HR systems, email, databases — with zero security review and no formal SDLC.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78024" y="4233672"/>
            <a:ext cx="1819656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428853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n8n: 53 CVEs, KEV listed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9704" y="1691640"/>
            <a:ext cx="1965960" cy="301752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9704" y="1691640"/>
            <a:ext cx="1965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81144" y="2221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Crisis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81144" y="25328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as new data sinks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81144" y="2807208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paste PII, IP, and financial records into ChatGPT, Claude, Copilot. Prompts become training data. GDPR &amp; UAE PDPL compliance at risk.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62856" y="4233672"/>
            <a:ext cx="1819656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1144" y="428853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leak: source code to ChatGPT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74536" y="1691640"/>
            <a:ext cx="1965960" cy="301752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74536" y="1691640"/>
            <a:ext cx="1965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65976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🌑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665976" y="2221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AI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65976" y="25328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Unmanaged, invisible, privileged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65976" y="2807208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AI tools run inside corporate networks. No logging, no oversight, no incident response playbook when they go wrong.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47688" y="4233672"/>
            <a:ext cx="1819656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65976" y="428853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53K exposed agent instances (no SOC)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Landscape</a:t>
            </a:r>
            <a:endParaRPr lang="en-US" sz="7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5D55BC1-6500-A9BD-4443-F89009BE12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89" b="37422"/>
          <a:stretch>
            <a:fillRect/>
          </a:stretch>
        </p:blipFill>
        <p:spPr>
          <a:xfrm>
            <a:off x="240030" y="86868"/>
            <a:ext cx="1308975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Incidents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 CVEs ACROSS 17 AGENT PLATFORMS · APRIL 2026 DATA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92024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CVEs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17 platforms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0" y="1691640"/>
            <a:ext cx="192024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7190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vulnerabilities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192024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190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00600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CVEs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(&lt;4 months)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949440" y="1691640"/>
            <a:ext cx="192024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7190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1st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95160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in CISA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 catalog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2615184"/>
            <a:ext cx="8503920" cy="502920"/>
          </a:xfrm>
          <a:prstGeom prst="rect">
            <a:avLst/>
          </a:prstGeom>
          <a:solidFill>
            <a:srgbClr val="23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700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/ Anthropic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71216"/>
            <a:ext cx="1645920" cy="1828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88036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CVE-2025-59536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94560" y="2706624"/>
            <a:ext cx="100584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2724912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91840" y="267919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RCE via Model Context Protocol affecting 150M+ downloads across Python, TypeScript, Go. Disclosed as 'a feature, not a bug.'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182112"/>
            <a:ext cx="8503920" cy="502920"/>
          </a:xfrm>
          <a:prstGeom prst="rect">
            <a:avLst/>
          </a:prstGeom>
          <a:solidFill>
            <a:srgbClr val="23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369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Workflow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438144"/>
            <a:ext cx="1645920" cy="1828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44728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CVE-2025-68613 · KEV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194560" y="3273552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12848" y="32918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9.9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91840" y="32461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evaluation RCE — user input reaches dynamic code evaluator. First agent platform in CISA Known Exploited Vulnerabilities catalog.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solidFill>
            <a:srgbClr val="23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8039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PraisonAI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005072"/>
            <a:ext cx="1645920" cy="1828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01421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CVE-2026-34938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194560" y="3840480"/>
            <a:ext cx="10058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12848" y="385876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10.0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91840" y="381304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bypass via str subclass override: startswith() check returns False for attacker payload, full code execution achieved.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315968"/>
            <a:ext cx="8503920" cy="502920"/>
          </a:xfrm>
          <a:prstGeom prst="rect">
            <a:avLst/>
          </a:prstGeom>
          <a:solidFill>
            <a:srgbClr val="232B3E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3708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572000"/>
            <a:ext cx="1645920" cy="18288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458114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CVE-2026-2275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194560" y="440740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12848" y="44256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9.6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91840" y="437997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CodeInterpreter silently falls back to weak in-process Python sandbox when Docker unavailable. Fail-open by design (CWE-749).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&amp; CVEs</a:t>
            </a:r>
            <a:endParaRPr lang="en-US" sz="7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4174882-A49B-41D7-4E29-D0A9F27CA4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555" b="42400"/>
          <a:stretch>
            <a:fillRect/>
          </a:stretch>
        </p:blipFill>
        <p:spPr>
          <a:xfrm>
            <a:off x="-74662" y="28992"/>
            <a:ext cx="1920240" cy="423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09728"/>
            <a:ext cx="201168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2064" y="26517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سلامة الذكاء الاصطناعي في الإمارات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Agentic AI Top 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GENAI SECURITY PROJECT · AGENTIC SECURITY INITIATIVE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70992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09928"/>
            <a:ext cx="73152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755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8056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Goal Hijack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865376"/>
            <a:ext cx="804672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88366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35000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50008"/>
            <a:ext cx="73152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2395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" y="2596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Misuse &amp; Exploitation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2505456"/>
            <a:ext cx="804672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4448" y="252374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99008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90088"/>
            <a:ext cx="73152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30358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" y="3236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Privilege Abuse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145536"/>
            <a:ext cx="804672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316382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63016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30168"/>
            <a:ext cx="73152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36758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8056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Supply Chain Vulns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3785616"/>
            <a:ext cx="804672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380390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27024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270248"/>
            <a:ext cx="73152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" y="4315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8056" y="4517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Code Execution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66160" y="4425696"/>
            <a:ext cx="804672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444398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170992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1709928"/>
            <a:ext cx="73152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1755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82896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Context Injection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01000" y="1865376"/>
            <a:ext cx="804672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9288" y="188366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235000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350008"/>
            <a:ext cx="73152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2395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82896" y="2596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Insecure Inter-Agent Comms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01000" y="2505456"/>
            <a:ext cx="804672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19288" y="252374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299008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2990088"/>
            <a:ext cx="73152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82896" y="30358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82896" y="3236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Failures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01000" y="3145536"/>
            <a:ext cx="804672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19288" y="316382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363016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3630168"/>
            <a:ext cx="73152" cy="5486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82896" y="36758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82896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Human-Agent Trust Exploit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001000" y="3785616"/>
            <a:ext cx="804672" cy="23774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19288" y="380390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54880" y="4270248"/>
            <a:ext cx="4160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4270248"/>
            <a:ext cx="73152" cy="5486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82896" y="4315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ASI-10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882896" y="4517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Agents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001000" y="4425696"/>
            <a:ext cx="804672" cy="23774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19288" y="444398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Agentic AI Top 10</a:t>
            </a:r>
            <a:endParaRPr lang="en-US" sz="700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83BF11E-8E3B-F923-6E10-ED7E97B796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89" b="37422"/>
          <a:stretch>
            <a:fillRect/>
          </a:stretch>
        </p:blipFill>
        <p:spPr>
          <a:xfrm>
            <a:off x="240030" y="86868"/>
            <a:ext cx="1308975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Agentic Top 10 — Threats 1–5 (Critical &amp; High)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7315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418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8992" y="932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Goal Hijack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152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Attacker manipulates natural-language input to redirect agent's goals — data exfiltration, workflow takeover.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26280" y="9509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Prompt injection in a customer support agent causes it to email confidential records to attacker.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26280" y="1298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Real: ClawHavoc — 1,184 malicious skills injected via public registry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71907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19072"/>
            <a:ext cx="7315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764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" y="17556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Misuse &amp; Exploitation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197510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Agents invoke legitimate tools (web fetch, code exec, email) in dangerous or unintended ways via prompt manipulation.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26280" y="177393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Agent uses approved 'send email' tool to exfiltrate all calendar data to external attacker-controlled address.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26280" y="21214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LangChain: 4 SSRF CVEs (2025), PALChain exec bypass (CVE-2023-36258 → CVE-2024-27444)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54203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542032"/>
            <a:ext cx="7315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587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" y="25786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Privilege Abuse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27980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Weak scoping allows privilege escalation and cross-agent impersonation via inherited roles or cached credentials.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26280" y="25968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Sub-agent inherits admin OAuth token from parent; attacker triggers sub-agent to act as admin without re-auth.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26280" y="29443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OpenClaw: 40 CVEs from CWE-863 (incorrect authorization) across all plugin layers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36499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364992"/>
            <a:ext cx="7315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4107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" y="3401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Supply Chain Vulnerabilities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36210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Poisoned tools, malicious MCPs, unverified models or external agents propagate malicious logic at runtime.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26280" y="341985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Developer installs MCP server from community hub; server silently exfiltrates all prompts and responses.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26280" y="37673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CVE-2025-59536 (Claude Code / MCP) — RCE across 150M+ downloads; ClawHub collapse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418795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187952"/>
            <a:ext cx="7315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2336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" y="4224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Code Execution (RCE)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" y="44439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Unsafe code generation, agent deserialization, or shell execution triggered by crafted prompts or poisoned inputs.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26280" y="424281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Agent generates Python script, executes it in-process; attacker crafted prompt yields reverse shell.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26280" y="45902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PraisonAI CVSS 10.0 (CVE-2026-34938); smolagents CVSS 10.0 deserialization (CVE-2025-14931)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ASI-01 to ASI-05</a:t>
            </a:r>
            <a:endParaRPr lang="en-US" sz="7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5C65976-440F-7F65-5D64-9E4203CE3F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555" b="42400"/>
          <a:stretch>
            <a:fillRect/>
          </a:stretch>
        </p:blipFill>
        <p:spPr>
          <a:xfrm>
            <a:off x="-74662" y="28992"/>
            <a:ext cx="1920240" cy="423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Agentic Top 10 — Threats 6–10 (High &amp; Medium)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73152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418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8992" y="932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Context Injection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152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Adversaries poison RAG stores, memory, or context windows to plant false knowledge, bias agent logic, or trigger hidden behaviors.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26280" y="9509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Attacker embeds malicious instruction in a document; when agent reads it, the hidden prompt takes over conversation context.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26280" y="1298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OWASP AST-05: YAML-based payload delivery via SKILL.md files (Unsafe Deserialization)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71907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19072"/>
            <a:ext cx="73152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764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" y="17556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Insecure Inter-Agent Communication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197510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No encryption, authentication, or semantic validation between agents allows message tampering, replay, and goal manipulation.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26280" y="177393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Orchestrator sends task to sub-agent over unencrypted channel; MITM attacker replaces task payload to cause data deletion.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26280" y="21214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n8n: Expression evaluation chains (CVE-2025-68613 + CVE-2026-1470) — both CVSS 9.9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54203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542032"/>
            <a:ext cx="73152" cy="7498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587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" y="25786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Failures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27980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A single fault or malicious event propagates across interlinked agents, amplifying harm through chained autonomous actions.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26280" y="25968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One misconfigured agent triggers 47 downstream API calls, exhausting rate limits, corrupting database state across 3 services.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26280" y="29443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LangGraph: 6 CVEs in checkpointer layer (SQLite/Redis) — deserialization + SQL injection enabling state corruption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36499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364992"/>
            <a:ext cx="73152" cy="7498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4107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ASI-09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" y="3401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Human-Agent Trust Exploitation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36210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Attackers exploit user over-trust in agent outputs through deception, emotional manipulation, or fake explainability.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26280" y="341985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Agent presents fabricated compliance report with realistic formatting; human approves deployment of vulnerable software.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26280" y="37673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OWASP AST-09: 53K exposed agent instances operating without any SOC visibility or human-in-the-loop controls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4187952"/>
            <a:ext cx="8503920" cy="749808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187952"/>
            <a:ext cx="73152" cy="7498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2336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ASI-10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" y="4224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 Agents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" y="44439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DEF: Compromised or malicious agents deviate from intended goals, self-replicate, collide, or hijack workflows autonomously.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26280" y="424281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Multi-agent system's orchestrator is compromised; it spawns unauthorized sub-agents that exfiltrate data and persist via cron.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26280" y="45902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OpenClaw AST-06: 135K exposed instances with host-mode execution; weak isolation enables container escape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ASI-06 to ASI-10</a:t>
            </a:r>
            <a:endParaRPr lang="en-US" sz="7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7A10B57-813E-FCC4-7871-1BE459294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555" b="42400"/>
          <a:stretch>
            <a:fillRect/>
          </a:stretch>
        </p:blipFill>
        <p:spPr>
          <a:xfrm>
            <a:off x="-74662" y="28992"/>
            <a:ext cx="1920240" cy="423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09728"/>
            <a:ext cx="201168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2064" y="26517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سلامة الذكاء الاصطناعي في الإمارات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Platform CVE Landscape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 · SOURCE: NVD, CISA KEV, CERT/CC, VULNCHECK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664208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760720" y="1664208"/>
            <a:ext cx="3063240" cy="73152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33872" y="1773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72200" y="17190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Anthropic, Google, OpenAI &amp; Microsoft SDKs have 0 CVEs — but GitHub issues expose auth bypasses, path traversal, SQL injection.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60720" y="2468880"/>
            <a:ext cx="3063240" cy="73152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72200" y="252374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is the ONLY agent platform listed in CISA's Known Exploited Vulnerabilities catalog. BOD 22-01 deadline already passed.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60720" y="3273552"/>
            <a:ext cx="3063240" cy="73152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33872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🟠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72200" y="332841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patches fast — but every fix is a point fix. CWE-863 repeats across gateway, sandbox, and 10 chat plugins.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60720" y="4078224"/>
            <a:ext cx="3063240" cy="731520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33872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72200" y="413308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failure classes dominate: Injection (LangChain, n8n), Access Control (OpenClaw), Sandbox Escape (CrewAI, PraisonAI, smolagents).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 Analysis</a:t>
            </a:r>
            <a:endParaRPr lang="en-US" sz="7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114CB4E-78CE-1C05-24CB-C3498900B9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889" b="37422"/>
          <a:stretch>
            <a:fillRect/>
          </a:stretch>
        </p:blipFill>
        <p:spPr>
          <a:xfrm>
            <a:off x="240030" y="86868"/>
            <a:ext cx="1308975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09728"/>
            <a:ext cx="201168" cy="246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2064" y="26517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سلامة الذكاء الاصطناعي في الإمارات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Source Security Tools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AGENTIC AI PIPELINES WITH COMMUNITY-DRIVEN TOOLING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20116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171907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Prompt &amp; Input Security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5740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112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vulnerability scanner — tests prompt injection, jailbreak, hallucination. NIST-aligned.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1752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072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9768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input/output scanner for PII, toxicity, prompt injection before agent execution.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97764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4032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Rebuff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Self-hardening prompt injection detector using vector similarity + canary tokens.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32888" y="1691640"/>
            <a:ext cx="20116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171907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Agent Access Control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32888" y="205740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32888" y="205740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42616" y="2112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42616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authorization (Google Zanzibar-inspired). Control which agents can call which tools.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32888" y="301752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32888" y="301752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42616" y="3072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Permit.io OSS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642616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Policy-as-code RBAC/ABAC for agentic workflows. Enforces least privilege per skill.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32888" y="397764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32888" y="397764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42616" y="4032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Casbin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642616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auth policy engine supporting RBAC, ABAC, ACL for multi-agent orchestration.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45736" y="1691640"/>
            <a:ext cx="20116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71907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Supply Chain &amp; Integrity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45736" y="205740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45736" y="205740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2112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Sigstore / cosign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55464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and verify MCP servers, skills, and model artifacts. Prevents supply chain poisoning.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45736" y="301752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45736" y="301752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5464" y="3072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(Syft)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55464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Software Bill of Materials for all agent dependencies. Track vulnerable packages.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45736" y="397764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45736" y="397764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032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55464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Container/IaC scanner — scan agent Docker images for CVEs before deployment.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58584" y="1691640"/>
            <a:ext cx="201168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13448" y="171907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Observability &amp; Response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58584" y="205740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58584" y="205740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8312" y="2112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Lunary / Langfuse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068312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LLM observability — trace all agent calls, detect anomalous behavior patterns.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958584" y="301752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58584" y="301752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68312" y="3072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Traceloop OpenLL.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068312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OpenTelemetry-native agent tracing. Correlate security events across multi-agent pipelines.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58584" y="3977640"/>
            <a:ext cx="2011680" cy="877824"/>
          </a:xfrm>
          <a:prstGeom prst="rect">
            <a:avLst/>
          </a:prstGeom>
          <a:solidFill>
            <a:srgbClr val="F5F0E8"/>
          </a:solidFill>
          <a:ln w="12700">
            <a:solidFill>
              <a:srgbClr val="EDE8D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58584" y="397764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68312" y="4032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068312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+ EDR for detecting agent container escapes, anomalous API calls, lateral movement.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Tooling</a:t>
            </a:r>
            <a:endParaRPr lang="en-US" sz="7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4035CB8E-94F6-13CA-99D2-DB59037281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89" b="37422"/>
          <a:stretch>
            <a:fillRect/>
          </a:stretch>
        </p:blipFill>
        <p:spPr>
          <a:xfrm>
            <a:off x="240030" y="86868"/>
            <a:ext cx="1308975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Securing Agentic AI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FRAMEWORK — DESIGN · BUILD · OPERATE · RESPOND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057400" cy="324612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20574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7007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" y="2139696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10312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 every agent before build — identify trust boundaries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8056" y="2843784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80720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of least privilege: limit tool scopes to minimum required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8056" y="3547872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511296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human-in-the-loop approval gates for irreversible actions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8056" y="425196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215384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security review for all MCP/skill integrations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32888" y="1664208"/>
            <a:ext cx="2057400" cy="324612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32888" y="1664208"/>
            <a:ext cx="20574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17007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60904" y="213969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25496" y="210312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+ output filtering on every LLM boundary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60904" y="2843784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25496" y="280720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all code execution (Docker, gVisor) — never fail open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60904" y="3547872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25496" y="3511296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and verify all agent skills/MCPs (Sigstore/cosign)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60904" y="425196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25496" y="4215384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Garak &amp; LLM Guard in your CI/CD pipeline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45736" y="1664208"/>
            <a:ext cx="2057400" cy="324612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1664208"/>
            <a:ext cx="2057400" cy="34747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17007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73752" y="2139696"/>
            <a:ext cx="109728" cy="10972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38344" y="210312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every agent call: tool name, args, response, user, timestamp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73752" y="2843784"/>
            <a:ext cx="109728" cy="10972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38344" y="280720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on anomalous tool usage patterns (Wazuh + Langfuse)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73752" y="3547872"/>
            <a:ext cx="109728" cy="10972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38344" y="3511296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rate limits and scope tokens per agent identity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73752" y="4251960"/>
            <a:ext cx="109728" cy="10972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38344" y="4215384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SBOM for all dependencies; track CVEs continuously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58584" y="1664208"/>
            <a:ext cx="2057400" cy="324612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58584" y="1664208"/>
            <a:ext cx="205740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31736" y="17007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RESPOND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086600" y="2139696"/>
            <a:ext cx="109728" cy="10972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51192" y="210312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switches: ability to halt any agent mid-execution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086600" y="2843784"/>
            <a:ext cx="109728" cy="10972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51192" y="280720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playbook for rogue agent scenarios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86600" y="3547872"/>
            <a:ext cx="109728" cy="10972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51192" y="3511296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Rollback: immutable agent snapshots for forensic replay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86600" y="4251960"/>
            <a:ext cx="109728" cy="10972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51192" y="4215384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 via responsible disclosure — don't call RCE 'a feature'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791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design" is not a defense against insecurity.  — OX Security Research Team, 2026</a:t>
            </a:r>
            <a:endParaRPr lang="en-US" sz="9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BE93F12-0BDF-1A99-0A97-55F8218B93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555" b="42400"/>
          <a:stretch>
            <a:fillRect/>
          </a:stretch>
        </p:blipFill>
        <p:spPr>
          <a:xfrm>
            <a:off x="-74662" y="28992"/>
            <a:ext cx="1920240" cy="423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640080"/>
            <a:ext cx="4114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UAE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0" y="1508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سلامة الذكاء الاصطناعي في الإمارات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Sumit Ranjan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552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Technologist  ·  Author: Enterprise Agentic AI  ·  Author: OWASP Agentic AI Top 10 Threats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3749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questions or collaboration opportunities: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71600" y="4005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Dubai, UAE  ·  OWASP Contributor  ·  PhD Scholar, BITS Pilani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4754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AI Safety UAE · All rights reserved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1752</Words>
  <Application>Microsoft Office PowerPoint</Application>
  <PresentationFormat>On-screen Show (16:9)</PresentationFormat>
  <Paragraphs>259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Security</dc:title>
  <dc:subject>PptxGenJS Presentation</dc:subject>
  <dc:creator>Sumit Ranjan</dc:creator>
  <cp:lastModifiedBy>Naiyarah Hussain</cp:lastModifiedBy>
  <cp:revision>2</cp:revision>
  <dcterms:created xsi:type="dcterms:W3CDTF">2026-04-18T17:37:23Z</dcterms:created>
  <dcterms:modified xsi:type="dcterms:W3CDTF">2026-04-19T11:48:40Z</dcterms:modified>
</cp:coreProperties>
</file>